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15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28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2DE0B0D-D848-DE6B-BFE2-8344388ABA82}"/>
              </a:ext>
            </a:extLst>
          </p:cNvPr>
          <p:cNvSpPr/>
          <p:nvPr userDrawn="1"/>
        </p:nvSpPr>
        <p:spPr>
          <a:xfrm>
            <a:off x="457200" y="320040"/>
            <a:ext cx="109728" cy="109728"/>
          </a:xfrm>
          <a:prstGeom prst="rect">
            <a:avLst/>
          </a:prstGeom>
          <a:solidFill>
            <a:srgbClr val="33CFFF"/>
          </a:solidFill>
          <a:ln w="12700">
            <a:solidFill>
              <a:srgbClr val="33CFFF"/>
            </a:solidFill>
            <a:prstDash val="solid"/>
          </a:ln>
        </p:spPr>
        <p:txBody>
          <a:bodyPr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1D56B9A-FC29-3136-799C-D47BCF2600E0}"/>
              </a:ext>
            </a:extLst>
          </p:cNvPr>
          <p:cNvSpPr/>
          <p:nvPr userDrawn="1"/>
        </p:nvSpPr>
        <p:spPr>
          <a:xfrm>
            <a:off x="603504" y="320040"/>
            <a:ext cx="109728" cy="109728"/>
          </a:xfrm>
          <a:prstGeom prst="rect">
            <a:avLst/>
          </a:prstGeom>
          <a:solidFill>
            <a:srgbClr val="4FE5C9"/>
          </a:solidFill>
          <a:ln w="12700">
            <a:solidFill>
              <a:srgbClr val="4FE5C9"/>
            </a:solidFill>
            <a:prstDash val="solid"/>
          </a:ln>
        </p:spPr>
        <p:txBody>
          <a:bodyPr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foundry-toolkit-turns-vs-code-into-an-end-to-end-ai-app-work-d0d1e04e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286125"/>
            <a:ext cx="3337560" cy="1877377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1784634"/>
            <a:ext cx="7708392" cy="8788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Verdana"/>
              </a:rPr>
              <a:t>Foundry Toolkit Turns VS Code into an End-to-End AI App Workspace</a:t>
            </a:r>
          </a:p>
        </p:txBody>
      </p:sp>
      <p:sp>
        <p:nvSpPr>
          <p:cNvPr id="4" name="key_message"/>
          <p:cNvSpPr txBox="1"/>
          <p:nvPr/>
        </p:nvSpPr>
        <p:spPr>
          <a:xfrm>
            <a:off x="457200" y="3405591"/>
            <a:ext cx="7708392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80" b="0">
                <a:solidFill>
                  <a:srgbClr val="FFFFFF"/>
                </a:solidFill>
                <a:latin typeface="Verdana"/>
              </a:rPr>
              <a:t>The product story is that developers can discover models, build agents, test prompts, and manage AI resources from one familiar environment.</a:t>
            </a:r>
          </a:p>
        </p:txBody>
      </p:sp>
      <p:sp>
        <p:nvSpPr>
          <p:cNvPr id="5" name="chip_0"/>
          <p:cNvSpPr/>
          <p:nvPr/>
        </p:nvSpPr>
        <p:spPr>
          <a:xfrm>
            <a:off x="457200" y="4925049"/>
            <a:ext cx="2459736" cy="652790"/>
          </a:xfrm>
          <a:prstGeom prst="rect">
            <a:avLst/>
          </a:prstGeom>
          <a:noFill/>
          <a:ln w="12700">
            <a:solidFill>
              <a:srgbClr val="0F9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 fontScale="85000" lnSpcReduction="10000"/>
          </a:bodyPr>
          <a:lstStyle/>
          <a:p>
            <a:pPr algn="ctr">
              <a:lnSpc>
                <a:spcPct val="116000"/>
              </a:lnSpc>
            </a:pPr>
            <a:r>
              <a:rPr sz="1100" b="0">
                <a:solidFill>
                  <a:srgbClr val="FFFFFF"/>
                </a:solidFill>
                <a:latin typeface="Verdana"/>
              </a:rPr>
              <a:t>Microsoft positions Foundry Toolkit as a single VS Code workflow for building, testing, and deploying AI apps.</a:t>
            </a:r>
          </a:p>
        </p:txBody>
      </p:sp>
      <p:sp>
        <p:nvSpPr>
          <p:cNvPr id="6" name="chip_1"/>
          <p:cNvSpPr/>
          <p:nvPr/>
        </p:nvSpPr>
        <p:spPr>
          <a:xfrm>
            <a:off x="3081528" y="4925049"/>
            <a:ext cx="2459736" cy="652790"/>
          </a:xfrm>
          <a:prstGeom prst="rect">
            <a:avLst/>
          </a:prstGeom>
          <a:noFill/>
          <a:ln w="12700">
            <a:solidFill>
              <a:srgbClr val="A02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 fontScale="85000" lnSpcReduction="10000"/>
          </a:bodyPr>
          <a:lstStyle/>
          <a:p>
            <a:pPr algn="ctr">
              <a:lnSpc>
                <a:spcPct val="116000"/>
              </a:lnSpc>
            </a:pPr>
            <a:r>
              <a:rPr sz="1100" b="0">
                <a:solidFill>
                  <a:srgbClr val="FFFFFF"/>
                </a:solidFill>
                <a:latin typeface="Verdana"/>
              </a:rPr>
              <a:t>The overview highlights local and cloud operation in one toolchain, reducing context switching for developers.</a:t>
            </a:r>
          </a:p>
        </p:txBody>
      </p:sp>
      <p:sp>
        <p:nvSpPr>
          <p:cNvPr id="7" name="chip_2"/>
          <p:cNvSpPr/>
          <p:nvPr/>
        </p:nvSpPr>
        <p:spPr>
          <a:xfrm>
            <a:off x="5705856" y="4925049"/>
            <a:ext cx="2459736" cy="652790"/>
          </a:xfrm>
          <a:prstGeom prst="rect">
            <a:avLst/>
          </a:prstGeom>
          <a:noFill/>
          <a:ln w="1270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lnSpc>
                <a:spcPct val="116000"/>
              </a:lnSpc>
            </a:pPr>
            <a:r>
              <a:rPr sz="1100" b="0">
                <a:solidFill>
                  <a:srgbClr val="FFFFFF"/>
                </a:solidFill>
                <a:latin typeface="Verdana"/>
              </a:rPr>
              <a:t>The deck focuses on strategic value for adoption, not low-level implementation detail.</a:t>
            </a:r>
          </a:p>
        </p:txBody>
      </p:sp>
      <p:pic>
        <p:nvPicPr>
          <p:cNvPr id="8" name="icon_Picture 7" descr="microsoft-visual-studio-code_t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532" y="8001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40664" y="457200"/>
            <a:ext cx="10707624" cy="129789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Verdana"/>
              </a:rPr>
              <a:t>Foundry Toolkit Is Compelling Because It Unifies Workflow, Expands Model Choice, and Accelerates Agent Delivery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919691"/>
            <a:ext cx="10707624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FFFFFF"/>
                </a:solidFill>
                <a:latin typeface="Verdana"/>
              </a:rPr>
              <a:t>Executives can read the whole answer here: the extension matters because it centralizes AI development, broadens model access across 8 source families, and packages agent tooling into one operating surface.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3113532"/>
            <a:ext cx="7882127" cy="755721"/>
          </a:xfrm>
          <a:prstGeom prst="rect">
            <a:avLst/>
          </a:prstGeom>
          <a:noFill/>
          <a:ln w="1270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fontScale="92500"/>
          </a:bodyPr>
          <a:lstStyle/>
          <a:p>
            <a:pPr algn="l">
              <a:lnSpc>
                <a:spcPct val="116000"/>
              </a:lnSpc>
            </a:pPr>
            <a:r>
              <a:rPr sz="1240" b="1">
                <a:solidFill>
                  <a:srgbClr val="FFFFFF"/>
                </a:solidFill>
                <a:latin typeface="Verdana"/>
              </a:rPr>
              <a:t>Workflow consolidation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Verdana"/>
              </a:rPr>
              <a:t>one extension covers resource management, model testing, prompt iteration, and agent development inside VS Code.</a:t>
            </a:r>
          </a:p>
        </p:txBody>
      </p:sp>
      <p:sp>
        <p:nvSpPr>
          <p:cNvPr id="5" name="body_1"/>
          <p:cNvSpPr/>
          <p:nvPr/>
        </p:nvSpPr>
        <p:spPr>
          <a:xfrm>
            <a:off x="457200" y="3967825"/>
            <a:ext cx="7882127" cy="755721"/>
          </a:xfrm>
          <a:prstGeom prst="rect">
            <a:avLst/>
          </a:prstGeom>
          <a:noFill/>
          <a:ln w="12700">
            <a:solidFill>
              <a:srgbClr val="0F9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fontScale="92500" lnSpcReduction="10000"/>
          </a:bodyPr>
          <a:lstStyle/>
          <a:p>
            <a:pPr algn="l">
              <a:lnSpc>
                <a:spcPct val="116000"/>
              </a:lnSpc>
            </a:pPr>
            <a:r>
              <a:rPr sz="1240" b="1">
                <a:solidFill>
                  <a:srgbClr val="FFFFFF"/>
                </a:solidFill>
                <a:latin typeface="Verdana"/>
              </a:rPr>
              <a:t>Model flexibility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Verdana"/>
              </a:rPr>
              <a:t>the Model Catalog spans 8 source families, including Microsoft Foundry, Foundry Local, GitHub, ONNX, Ollama, OpenAI, Anthropic, and Google.</a:t>
            </a:r>
          </a:p>
        </p:txBody>
      </p:sp>
      <p:sp>
        <p:nvSpPr>
          <p:cNvPr id="6" name="body_2"/>
          <p:cNvSpPr/>
          <p:nvPr/>
        </p:nvSpPr>
        <p:spPr>
          <a:xfrm>
            <a:off x="457200" y="4822118"/>
            <a:ext cx="7882127" cy="755721"/>
          </a:xfrm>
          <a:prstGeom prst="rect">
            <a:avLst/>
          </a:prstGeom>
          <a:noFill/>
          <a:ln w="12700">
            <a:solidFill>
              <a:srgbClr val="A02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fontScale="92500" lnSpcReduction="10000"/>
          </a:bodyPr>
          <a:lstStyle/>
          <a:p>
            <a:pPr algn="l">
              <a:lnSpc>
                <a:spcPct val="116000"/>
              </a:lnSpc>
            </a:pPr>
            <a:r>
              <a:rPr sz="1240" b="1">
                <a:solidFill>
                  <a:srgbClr val="FFFFFF"/>
                </a:solidFill>
                <a:latin typeface="Verdana"/>
              </a:rPr>
              <a:t>Execution speed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Verdana"/>
              </a:rPr>
              <a:t>4 highlighted capabilities—Create Agents, Model Catalog, Playground, and Agent Builder—cover the main build-test-iterate loop.</a:t>
            </a:r>
          </a:p>
        </p:txBody>
      </p:sp>
      <p:pic>
        <p:nvPicPr>
          <p:cNvPr id="7" name="icon_Picture 6" descr="briefcase-24-regular_t_196B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424281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026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FFFFFF"/>
                </a:solidFill>
                <a:latin typeface="Verdana"/>
              </a:rPr>
              <a:t>A Three-Zone Interface Makes the Workflow Easier to Govern and Scale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343619"/>
            <a:ext cx="8449056" cy="5740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FFFFFF"/>
                </a:solidFill>
                <a:latin typeface="Verdana"/>
              </a:rPr>
              <a:t>The product is easier to adopt because its operating model is organized into 3 visible zones that map cleanly to daily developer tasks.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563624"/>
          </a:xfrm>
          <a:prstGeom prst="rect">
            <a:avLst/>
          </a:prstGeom>
          <a:noFill/>
          <a:ln w="12700">
            <a:solidFill>
              <a:srgbClr val="0B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6877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My Resources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</a:rPr>
              <a:t>the primary work area for local resources plus the connected Foundry project and its deployed assets.</a:t>
            </a:r>
          </a:p>
        </p:txBody>
      </p:sp>
      <p:pic>
        <p:nvPicPr>
          <p:cNvPr id="5" name="design_icon_Picture 4" descr="view-dashboard-outline_t_0B2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43997" cy="343997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563624"/>
          </a:xfrm>
          <a:prstGeom prst="rect">
            <a:avLst/>
          </a:prstGeom>
          <a:noFill/>
          <a:ln w="12700">
            <a:solidFill>
              <a:srgbClr val="1C1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6877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Developer Tools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</a:rPr>
              <a:t>the build-and-test surface where model experimentation and agent creation happen.</a:t>
            </a:r>
          </a:p>
        </p:txBody>
      </p:sp>
      <p:pic>
        <p:nvPicPr>
          <p:cNvPr id="7" name="design_icon_Picture 6" descr="view-dashboard-outline_t_1C19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43997" cy="343997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61104"/>
            <a:ext cx="5486400" cy="1563624"/>
          </a:xfrm>
          <a:prstGeom prst="rect">
            <a:avLst/>
          </a:prstGeom>
          <a:noFill/>
          <a:ln w="12700">
            <a:solidFill>
              <a:srgbClr val="0B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6877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Help and Feedback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</a:rPr>
              <a:t>a dedicated support area that reduces friction during rollout and onboarding.</a:t>
            </a:r>
          </a:p>
        </p:txBody>
      </p:sp>
      <p:pic>
        <p:nvPicPr>
          <p:cNvPr id="9" name="design_icon_Picture 8" descr="view-dashboard-outline_t_0B2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52544"/>
            <a:ext cx="343997" cy="343997"/>
          </a:xfrm>
          <a:prstGeom prst="rect">
            <a:avLst/>
          </a:prstGeom>
        </p:spPr>
      </p:pic>
      <p:pic>
        <p:nvPicPr>
          <p:cNvPr id="10" name="icon_Picture 9" descr="view-dashboard-outline_t_0F9E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9789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Verdana"/>
              </a:rPr>
              <a:t>Broad Model Access Reduces Vendor Lock-In and Improves Experimentation Speed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28251"/>
            <a:ext cx="8449056" cy="5740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FFFFFF"/>
                </a:solidFill>
                <a:latin typeface="Verdana"/>
              </a:rPr>
              <a:t>The strongest platform hedge is breadth: teams can compare and use models across 8 sources without leaving the core workspace.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76631"/>
            <a:ext cx="5486400" cy="1563624"/>
          </a:xfrm>
          <a:prstGeom prst="rect">
            <a:avLst/>
          </a:prstGeom>
          <a:noFill/>
          <a:ln w="12700">
            <a:solidFill>
              <a:srgbClr val="201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6877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Verdana"/>
              </a:rPr>
              <a:t>The Model Catalog explicitly includes Microsoft Foundry, Foundry Local, GitHub, ONNX, Ollama, OpenAI, Anthropic, and Google.</a:t>
            </a:r>
          </a:p>
        </p:txBody>
      </p:sp>
      <p:sp>
        <p:nvSpPr>
          <p:cNvPr id="5" name="card_1"/>
          <p:cNvSpPr/>
          <p:nvPr/>
        </p:nvSpPr>
        <p:spPr>
          <a:xfrm>
            <a:off x="6236208" y="2676631"/>
            <a:ext cx="5486400" cy="1563624"/>
          </a:xfrm>
          <a:prstGeom prst="rect">
            <a:avLst/>
          </a:prstGeom>
          <a:noFill/>
          <a:ln w="12700">
            <a:solidFill>
              <a:srgbClr val="1227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6877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Verdana"/>
              </a:rPr>
              <a:t>Side-by-side model comparison is positioned as a way to find the best fit for each use case rather than defaulting to one provider.</a:t>
            </a:r>
          </a:p>
        </p:txBody>
      </p:sp>
      <p:sp>
        <p:nvSpPr>
          <p:cNvPr id="6" name="card_2"/>
          <p:cNvSpPr/>
          <p:nvPr/>
        </p:nvSpPr>
        <p:spPr>
          <a:xfrm>
            <a:off x="457200" y="4496287"/>
            <a:ext cx="5486400" cy="1563624"/>
          </a:xfrm>
          <a:prstGeom prst="rect">
            <a:avLst/>
          </a:prstGeom>
          <a:noFill/>
          <a:ln w="12700">
            <a:solidFill>
              <a:srgbClr val="201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6877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Verdana"/>
              </a:rPr>
              <a:t>Local options such as ONNX and Ollama support privacy-sensitive or cost-conscious experimentation before full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129789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Verdana"/>
              </a:rPr>
              <a:t>Integrated Agent Tooling Shortens the Path from Prompt Idea to Production-Ready Workflow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19691"/>
            <a:ext cx="8887968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FFFFFF"/>
                </a:solidFill>
                <a:latin typeface="Verdana"/>
              </a:rPr>
              <a:t>Foundry Toolkit matters operationally because it packages the core agent lifecycle—creation, testing, prompt refinement, and debugging—into one environment.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3062691"/>
            <a:ext cx="2606040" cy="2231136"/>
          </a:xfrm>
          <a:prstGeom prst="rect">
            <a:avLst/>
          </a:prstGeom>
          <a:noFill/>
          <a:ln w="12700">
            <a:solidFill>
              <a:srgbClr val="14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Create Agents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</a:rPr>
              <a:t>teams can start with Prompt Agents using tools and vectors or Hosted Agents with custom code.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3062691"/>
            <a:ext cx="2606040" cy="274320"/>
          </a:xfrm>
          <a:prstGeom prst="rect">
            <a:avLst/>
          </a:prstGeom>
          <a:solidFill>
            <a:srgbClr val="142C29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bot_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67" y="3120298"/>
            <a:ext cx="159105" cy="159105"/>
          </a:xfrm>
          <a:prstGeom prst="rect">
            <a:avLst/>
          </a:prstGeom>
        </p:spPr>
      </p:pic>
      <p:sp>
        <p:nvSpPr>
          <p:cNvPr id="7" name="card_1"/>
          <p:cNvSpPr/>
          <p:nvPr/>
        </p:nvSpPr>
        <p:spPr>
          <a:xfrm>
            <a:off x="3337560" y="3062691"/>
            <a:ext cx="2606040" cy="2231136"/>
          </a:xfrm>
          <a:prstGeom prst="rect">
            <a:avLst/>
          </a:prstGeom>
          <a:noFill/>
          <a:ln w="12700">
            <a:solidFill>
              <a:srgbClr val="252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Playground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</a:rPr>
              <a:t>an interactive test surface supports real-time prompt and parameter iteration with multimodal inputs.</a:t>
            </a:r>
          </a:p>
        </p:txBody>
      </p:sp>
      <p:sp>
        <p:nvSpPr>
          <p:cNvPr id="8" name="design_card_header_1"/>
          <p:cNvSpPr/>
          <p:nvPr/>
        </p:nvSpPr>
        <p:spPr>
          <a:xfrm>
            <a:off x="3337560" y="3062691"/>
            <a:ext cx="2606040" cy="274320"/>
          </a:xfrm>
          <a:prstGeom prst="rect">
            <a:avLst/>
          </a:prstGeom>
          <a:solidFill>
            <a:srgbClr val="252129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bot_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3120298"/>
            <a:ext cx="159105" cy="159105"/>
          </a:xfrm>
          <a:prstGeom prst="rect">
            <a:avLst/>
          </a:prstGeom>
        </p:spPr>
      </p:pic>
      <p:sp>
        <p:nvSpPr>
          <p:cNvPr id="10" name="card_2"/>
          <p:cNvSpPr/>
          <p:nvPr/>
        </p:nvSpPr>
        <p:spPr>
          <a:xfrm>
            <a:off x="6217920" y="3062691"/>
            <a:ext cx="2606040" cy="2231136"/>
          </a:xfrm>
          <a:prstGeom prst="rect">
            <a:avLst/>
          </a:prstGeom>
          <a:noFill/>
          <a:ln w="12700">
            <a:solidFill>
              <a:srgbClr val="14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Agent Builder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</a:rPr>
              <a:t>prompt engineering, MCP tool integration, and structured outputs are presented as part of one streamlined workflow.</a:t>
            </a:r>
          </a:p>
        </p:txBody>
      </p:sp>
      <p:sp>
        <p:nvSpPr>
          <p:cNvPr id="11" name="design_card_header_2"/>
          <p:cNvSpPr/>
          <p:nvPr/>
        </p:nvSpPr>
        <p:spPr>
          <a:xfrm>
            <a:off x="6217920" y="3062691"/>
            <a:ext cx="2606040" cy="274320"/>
          </a:xfrm>
          <a:prstGeom prst="rect">
            <a:avLst/>
          </a:prstGeom>
          <a:solidFill>
            <a:srgbClr val="142C29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bot_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87" y="3120298"/>
            <a:ext cx="159105" cy="159105"/>
          </a:xfrm>
          <a:prstGeom prst="rect">
            <a:avLst/>
          </a:prstGeom>
        </p:spPr>
      </p:pic>
      <p:sp>
        <p:nvSpPr>
          <p:cNvPr id="13" name="card_3"/>
          <p:cNvSpPr/>
          <p:nvPr/>
        </p:nvSpPr>
        <p:spPr>
          <a:xfrm>
            <a:off x="9098280" y="3062691"/>
            <a:ext cx="2606040" cy="2231136"/>
          </a:xfrm>
          <a:prstGeom prst="rect">
            <a:avLst/>
          </a:prstGeom>
          <a:noFill/>
          <a:ln w="12700">
            <a:solidFill>
              <a:srgbClr val="252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Verdana"/>
              </a:rPr>
              <a:t>Agent Inspector and related debugging tools help teams validate behavior before production rollout.</a:t>
            </a:r>
          </a:p>
        </p:txBody>
      </p:sp>
      <p:sp>
        <p:nvSpPr>
          <p:cNvPr id="14" name="design_card_header_3"/>
          <p:cNvSpPr/>
          <p:nvPr/>
        </p:nvSpPr>
        <p:spPr>
          <a:xfrm>
            <a:off x="9098280" y="3062691"/>
            <a:ext cx="2606040" cy="274320"/>
          </a:xfrm>
          <a:prstGeom prst="rect">
            <a:avLst/>
          </a:prstGeom>
          <a:solidFill>
            <a:srgbClr val="252129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design_icon_Picture 14" descr="bot_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47" y="3120298"/>
            <a:ext cx="159105" cy="159105"/>
          </a:xfrm>
          <a:prstGeom prst="rect">
            <a:avLst/>
          </a:prstGeom>
        </p:spPr>
      </p:pic>
      <p:pic>
        <p:nvPicPr>
          <p:cNvPr id="16" name="icon_Picture 15" descr="bot_t_4EA7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217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Verdana"/>
              </a:rPr>
              <a:t>The Platform Has Clear Demand Across Three Audience Segments and Four Immediate Use Cases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11243"/>
            <a:ext cx="8449056" cy="5740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FFFFFF"/>
                </a:solidFill>
                <a:latin typeface="Verdana"/>
              </a:rPr>
              <a:t>The source material signals broad applicability: 3 named user groups map to 4 concrete use cases, making the adoption case easier to justify.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718876"/>
            <a:ext cx="5522976" cy="2858963"/>
          </a:xfrm>
          <a:prstGeom prst="rect">
            <a:avLst/>
          </a:prstGeom>
          <a:noFill/>
          <a:ln w="127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FFFFFF"/>
                </a:solidFill>
                <a:latin typeface="Verdana"/>
              </a:rPr>
              <a:t>• </a:t>
            </a:r>
            <a:r>
              <a:rPr sz="1300" b="0">
                <a:solidFill>
                  <a:srgbClr val="FFFFFF"/>
                </a:solidFill>
                <a:latin typeface="Verdana"/>
              </a:rPr>
              <a:t>Primary user groups: app developers, full-stack developers, and mobile developers building intelligent features.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FFFFFF"/>
                </a:solidFill>
                <a:latin typeface="Verdana"/>
              </a:rPr>
              <a:t>• </a:t>
            </a:r>
            <a:r>
              <a:rPr sz="1300" b="0">
                <a:solidFill>
                  <a:srgbClr val="FFFFFF"/>
                </a:solidFill>
                <a:latin typeface="Verdana"/>
              </a:rPr>
              <a:t>Secondary learning audiences: researchers, educators, and students are also called out, expanding training and ecosystem relevance.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718876"/>
            <a:ext cx="5522976" cy="2858963"/>
          </a:xfrm>
          <a:prstGeom prst="rect">
            <a:avLst/>
          </a:prstGeom>
          <a:noFill/>
          <a:ln w="127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FFFFFF"/>
                </a:solidFill>
                <a:latin typeface="Verdana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FFFFFF"/>
                </a:solidFill>
                <a:latin typeface="Verdana"/>
              </a:rPr>
              <a:t>• </a:t>
            </a:r>
            <a:r>
              <a:rPr sz="1300" b="0">
                <a:solidFill>
                  <a:srgbClr val="FFFFFF"/>
                </a:solidFill>
                <a:latin typeface="Verdana"/>
              </a:rPr>
              <a:t>Top use cases: model evaluation, local inference for privacy/cost control, agent building with MCP tools, and model conversion/optimization for deployment.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FFFFFF"/>
                </a:solidFill>
                <a:latin typeface="Verdana"/>
              </a:rPr>
              <a:t>• </a:t>
            </a:r>
            <a:r>
              <a:rPr sz="1300" b="0">
                <a:solidFill>
                  <a:srgbClr val="FFFFFF"/>
                </a:solidFill>
                <a:latin typeface="Verdana"/>
              </a:rPr>
              <a:t>Implication: the platform can support both production delivery teams and experimentation-oriented users in the same environment.</a:t>
            </a:r>
          </a:p>
        </p:txBody>
      </p:sp>
      <p:pic>
        <p:nvPicPr>
          <p:cNvPr id="6" name="design_icon_Picture 5" descr="warning-24-regular_t_E971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810316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810316"/>
            <a:ext cx="237744" cy="237744"/>
          </a:xfrm>
          <a:prstGeom prst="rect">
            <a:avLst/>
          </a:prstGeom>
        </p:spPr>
      </p:pic>
      <p:pic>
        <p:nvPicPr>
          <p:cNvPr id="8" name="icon_Picture 7" descr="account-group-outline_t_E971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217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Verdana"/>
              </a:rPr>
              <a:t>Adoption Looks Lightweight, but Teams Should Plan Around the June 1, 2026 Sidebar Retirement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43521"/>
            <a:ext cx="8449056" cy="5740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FFFFFF"/>
                </a:solidFill>
                <a:latin typeface="Verdana"/>
              </a:rPr>
              <a:t>Implementation appears straightforward, yet the one notable transition signal is the retirement of the legacy Foundry sidebar on June 1, 2026.</a:t>
            </a:r>
          </a:p>
        </p:txBody>
      </p:sp>
      <p:sp>
        <p:nvSpPr>
          <p:cNvPr id="4" name="design_timeline_spine"/>
          <p:cNvSpPr/>
          <p:nvPr/>
        </p:nvSpPr>
        <p:spPr>
          <a:xfrm>
            <a:off x="1005840" y="2783342"/>
            <a:ext cx="36576" cy="279806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sign_dot_0"/>
          <p:cNvSpPr/>
          <p:nvPr/>
        </p:nvSpPr>
        <p:spPr>
          <a:xfrm>
            <a:off x="896112" y="2924909"/>
            <a:ext cx="219456" cy="219456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meline_0"/>
          <p:cNvSpPr/>
          <p:nvPr/>
        </p:nvSpPr>
        <p:spPr>
          <a:xfrm>
            <a:off x="1325880" y="2746766"/>
            <a:ext cx="10405872" cy="593811"/>
          </a:xfrm>
          <a:prstGeom prst="rect">
            <a:avLst/>
          </a:prstGeom>
          <a:noFill/>
          <a:ln w="127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fontScale="92500" lnSpcReduction="10000"/>
          </a:bodyPr>
          <a:lstStyle/>
          <a:p>
            <a:pPr algn="l">
              <a:lnSpc>
                <a:spcPct val="116000"/>
              </a:lnSpc>
            </a:pPr>
            <a:r>
              <a:rPr sz="1240" b="1">
                <a:solidFill>
                  <a:srgbClr val="FFFFFF"/>
                </a:solidFill>
                <a:latin typeface="Verdana"/>
              </a:rPr>
              <a:t>Step 1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Verdana"/>
              </a:rPr>
              <a:t>install the extension from the Visual Studio Marketplace and surface it in the VS Code Activity Bar.</a:t>
            </a:r>
          </a:p>
        </p:txBody>
      </p:sp>
      <p:sp>
        <p:nvSpPr>
          <p:cNvPr id="7" name="design_dot_1"/>
          <p:cNvSpPr/>
          <p:nvPr/>
        </p:nvSpPr>
        <p:spPr>
          <a:xfrm>
            <a:off x="896112" y="3623511"/>
            <a:ext cx="219456" cy="219456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meline_1"/>
          <p:cNvSpPr/>
          <p:nvPr/>
        </p:nvSpPr>
        <p:spPr>
          <a:xfrm>
            <a:off x="1325880" y="3445367"/>
            <a:ext cx="10405872" cy="593811"/>
          </a:xfrm>
          <a:prstGeom prst="rect">
            <a:avLst/>
          </a:prstGeom>
          <a:noFill/>
          <a:ln w="1270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fontScale="92500" lnSpcReduction="10000"/>
          </a:bodyPr>
          <a:lstStyle/>
          <a:p>
            <a:pPr algn="l">
              <a:lnSpc>
                <a:spcPct val="116000"/>
              </a:lnSpc>
            </a:pPr>
            <a:r>
              <a:rPr sz="1240" b="1">
                <a:solidFill>
                  <a:srgbClr val="FFFFFF"/>
                </a:solidFill>
                <a:latin typeface="Verdana"/>
              </a:rPr>
              <a:t>Step 2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Verdana"/>
              </a:rPr>
              <a:t>connect the Foundry project and confirm access to models, agents, tools, and related resources.</a:t>
            </a:r>
          </a:p>
        </p:txBody>
      </p:sp>
      <p:sp>
        <p:nvSpPr>
          <p:cNvPr id="9" name="design_dot_2"/>
          <p:cNvSpPr/>
          <p:nvPr/>
        </p:nvSpPr>
        <p:spPr>
          <a:xfrm>
            <a:off x="896112" y="4322112"/>
            <a:ext cx="219456" cy="219456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imeline_2"/>
          <p:cNvSpPr/>
          <p:nvPr/>
        </p:nvSpPr>
        <p:spPr>
          <a:xfrm>
            <a:off x="1325880" y="4143969"/>
            <a:ext cx="10405872" cy="593811"/>
          </a:xfrm>
          <a:prstGeom prst="rect">
            <a:avLst/>
          </a:prstGeom>
          <a:noFill/>
          <a:ln w="12700">
            <a:solidFill>
              <a:srgbClr val="0F9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fontScale="92500" lnSpcReduction="10000"/>
          </a:bodyPr>
          <a:lstStyle/>
          <a:p>
            <a:pPr algn="l">
              <a:lnSpc>
                <a:spcPct val="116000"/>
              </a:lnSpc>
            </a:pPr>
            <a:r>
              <a:rPr sz="1240" b="1">
                <a:solidFill>
                  <a:srgbClr val="FFFFFF"/>
                </a:solidFill>
                <a:latin typeface="Verdana"/>
              </a:rPr>
              <a:t>Step 3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Verdana"/>
              </a:rPr>
              <a:t>use Playground and Agent Builder to validate one pilot use case before wider rollout.</a:t>
            </a:r>
          </a:p>
        </p:txBody>
      </p:sp>
      <p:sp>
        <p:nvSpPr>
          <p:cNvPr id="11" name="design_dot_3"/>
          <p:cNvSpPr/>
          <p:nvPr/>
        </p:nvSpPr>
        <p:spPr>
          <a:xfrm>
            <a:off x="896112" y="5020714"/>
            <a:ext cx="219456" cy="219456"/>
          </a:xfrm>
          <a:prstGeom prst="ellipse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imeline_3"/>
          <p:cNvSpPr/>
          <p:nvPr/>
        </p:nvSpPr>
        <p:spPr>
          <a:xfrm>
            <a:off x="1325880" y="4842570"/>
            <a:ext cx="10405872" cy="593811"/>
          </a:xfrm>
          <a:prstGeom prst="rect">
            <a:avLst/>
          </a:prstGeom>
          <a:noFill/>
          <a:ln w="12700">
            <a:solidFill>
              <a:srgbClr val="A02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fontScale="92500" lnSpcReduction="10000"/>
          </a:bodyPr>
          <a:lstStyle/>
          <a:p>
            <a:pPr algn="l">
              <a:lnSpc>
                <a:spcPct val="116000"/>
              </a:lnSpc>
            </a:pPr>
            <a:r>
              <a:rPr sz="1240" b="1">
                <a:solidFill>
                  <a:srgbClr val="FFFFFF"/>
                </a:solidFill>
                <a:latin typeface="Verdana"/>
              </a:rPr>
              <a:t>Step 4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Verdana"/>
              </a:rPr>
              <a:t>align onboarding and documentation to the Foundry Toolkit sidebar because the older Foundry sidebar retires on June 1, 2026.</a:t>
            </a:r>
          </a:p>
        </p:txBody>
      </p:sp>
      <p:pic>
        <p:nvPicPr>
          <p:cNvPr id="13" name="icon_Picture 12" descr="timeline-check-outline_t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307305"/>
            <a:ext cx="8193024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FFFFFF"/>
                </a:solidFill>
                <a:latin typeface="Verdana"/>
              </a:rPr>
              <a:t>Appendix Holds Product Detail for Readers Who Want Deeper Technical Context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95830"/>
            <a:ext cx="8193024" cy="108200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FFFFFF"/>
                </a:solidFill>
                <a:latin typeface="Verdana"/>
              </a:rPr>
              <a:t>The main decision story is complete, and any additional screenshots, architecture notes, or rollout details can sit in backup slides.</a:t>
            </a:r>
          </a:p>
        </p:txBody>
      </p:sp>
      <p:pic>
        <p:nvPicPr>
          <p:cNvPr id="4" name="icon_Picture 3" descr="file-document-outline_t_196B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[1776400986110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85DB19-AC27-48A7-A557-7F92BF0D926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0bc0ba2-03f7-4e78-a725-b63a28570bc3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784</Words>
  <Application>Microsoft Office PowerPoint</Application>
  <PresentationFormat>Widescreen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Segoe UI</vt:lpstr>
      <vt:lpstr>Verdana</vt:lpstr>
      <vt:lpstr>Office Theme [1776400986110]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Foundry Toolkit Makes VS Code a Practical AI App Workbench</dc:title>
  <dc:subject>PptxGenJS Presentation</dc:subject>
  <dc:creator>Microsoft Japan</dc:creator>
  <cp:lastModifiedBy>Taeho Kim</cp:lastModifiedBy>
  <cp:revision>5</cp:revision>
  <dcterms:created xsi:type="dcterms:W3CDTF">2026-04-17T07:46:03Z</dcterms:created>
  <dcterms:modified xsi:type="dcterms:W3CDTF">2026-04-17T07:51:32Z</dcterms:modified>
</cp:coreProperties>
</file>