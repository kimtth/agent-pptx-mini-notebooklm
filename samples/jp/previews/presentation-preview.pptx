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6" d="100"/>
          <a:sy n="106" d="100"/>
        </p:scale>
        <p:origin x="96" y="1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597691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タイトルスライド。Typographic Bold スタイルで「Copilot Studio」を大型表示し、サブタイトルで導入ガイドの位置づけを示す。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McKinseyフレームワークの冒頭。エグゼクティブサマリーとして3つの価値を提示。意思決定者が全体像を即座に把握できるようにする。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McKinsey「状況」セクション。組織が直面するAI導入の典型的課題を提示し、Copilot Studioの必要性を文脈づける。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McKinsey「分析」セクション開始。Copilot Studioの核心機能を4つのカードで説明。ソース1の概要ページから主要概念を抽出。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ソース2のツール選択ガイドに基づく比較スライド。デシジョンツリーの要点を2カラム比較で表現。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ソース3の新機能リリースノートから主要マイルストーンを抽出。半年間の進化速度を可視化し、プラットフォームの成熟度を示す。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ソース4のライセンス情報を3つの導入パスに整理。意思決定者がコスト構造を即座に理解できるようにする。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ソース5のセキュリティ・ガバナンス情報を4カードで構成。IT管理者の懸念に直接応える構成。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McKinsey「提言」セクション。90日間の段階的導入プランを提示。各フェーズに具体的なアクションを割り当て、意思決定者が即座に動ける構成にする。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クロージングスライド。意思決定者に具体的な次のステップを3つに絞って提示。行動喚起で締める。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wiss_left_bar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A8FA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01-microsoft-copilot-studio-d80c5481fa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4192" y="1837902"/>
            <a:ext cx="3337560" cy="2564976"/>
          </a:xfrm>
          <a:prstGeom prst="rect">
            <a:avLst/>
          </a:prstGeom>
        </p:spPr>
      </p:pic>
      <p:sp>
        <p:nvSpPr>
          <p:cNvPr id="4" name="swiss_hrule"/>
          <p:cNvSpPr/>
          <p:nvPr/>
        </p:nvSpPr>
        <p:spPr>
          <a:xfrm>
            <a:off x="457200" y="987552"/>
            <a:ext cx="1371600" cy="54864"/>
          </a:xfrm>
          <a:prstGeom prst="rect">
            <a:avLst/>
          </a:prstGeom>
          <a:solidFill>
            <a:srgbClr val="A8FA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itle"/>
          <p:cNvSpPr txBox="1"/>
          <p:nvPr/>
        </p:nvSpPr>
        <p:spPr>
          <a:xfrm>
            <a:off x="676656" y="1680210"/>
            <a:ext cx="8238744" cy="554034"/>
          </a:xfrm>
          <a:prstGeom prst="rect">
            <a:avLst/>
          </a:prstGeom>
          <a:noFill/>
        </p:spPr>
        <p:txBody>
          <a:bodyPr wrap="square" lIns="73152" tIns="36576" rIns="73152" bIns="36576">
            <a:noAutofit/>
          </a:bodyPr>
          <a:lstStyle/>
          <a:p>
            <a:pPr algn="l"/>
            <a:r>
              <a:rPr sz="3600" b="1">
                <a:solidFill>
                  <a:srgbClr val="181F25"/>
                </a:solidFill>
                <a:latin typeface="Calibri"/>
              </a:rPr>
              <a:t>Microsoft Copilot Studio</a:t>
            </a:r>
          </a:p>
        </p:txBody>
      </p:sp>
      <p:sp>
        <p:nvSpPr>
          <p:cNvPr id="6" name="key_message"/>
          <p:cNvSpPr txBox="1"/>
          <p:nvPr/>
        </p:nvSpPr>
        <p:spPr>
          <a:xfrm>
            <a:off x="676656" y="2872130"/>
            <a:ext cx="8238744" cy="369326"/>
          </a:xfrm>
          <a:prstGeom prst="rect">
            <a:avLst/>
          </a:prstGeom>
          <a:noFill/>
        </p:spPr>
        <p:txBody>
          <a:bodyPr wrap="square" lIns="73152" tIns="36576" rIns="73152" bIns="36576">
            <a:noAutofit/>
          </a:bodyPr>
          <a:lstStyle/>
          <a:p>
            <a:pPr algn="l">
              <a:lnSpc>
                <a:spcPct val="140000"/>
              </a:lnSpc>
            </a:pPr>
            <a:r>
              <a:rPr sz="2000" b="0">
                <a:solidFill>
                  <a:srgbClr val="2B333B"/>
                </a:solidFill>
                <a:latin typeface="Noto Sans JP"/>
              </a:rPr>
              <a:t>AIエージェントで業務を変革する時代が来た</a:t>
            </a:r>
          </a:p>
        </p:txBody>
      </p:sp>
      <p:sp>
        <p:nvSpPr>
          <p:cNvPr id="7" name="chip_0"/>
          <p:cNvSpPr/>
          <p:nvPr/>
        </p:nvSpPr>
        <p:spPr>
          <a:xfrm>
            <a:off x="457200" y="3879250"/>
            <a:ext cx="2798064" cy="420624"/>
          </a:xfrm>
          <a:prstGeom prst="roundRect">
            <a:avLst>
              <a:gd name="adj" fmla="val 4000"/>
            </a:avLst>
          </a:prstGeom>
          <a:solidFill>
            <a:srgbClr val="DEF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2B333B"/>
                </a:solidFill>
                <a:latin typeface="Noto Sans JP"/>
              </a:rPr>
              <a:t>ローコードで構築するインテリジェントAIエージェント</a:t>
            </a:r>
          </a:p>
        </p:txBody>
      </p:sp>
      <p:sp>
        <p:nvSpPr>
          <p:cNvPr id="8" name="chip_1"/>
          <p:cNvSpPr/>
          <p:nvPr/>
        </p:nvSpPr>
        <p:spPr>
          <a:xfrm>
            <a:off x="3392424" y="3879250"/>
            <a:ext cx="2798064" cy="420624"/>
          </a:xfrm>
          <a:prstGeom prst="roundRect">
            <a:avLst>
              <a:gd name="adj" fmla="val 4000"/>
            </a:avLst>
          </a:prstGeom>
          <a:solidFill>
            <a:srgbClr val="D8E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2B333B"/>
                </a:solidFill>
                <a:latin typeface="Noto Sans JP"/>
              </a:rPr>
              <a:t>Microsoft 365 と Power Platform のエコシステム統合</a:t>
            </a:r>
          </a:p>
        </p:txBody>
      </p:sp>
      <p:sp>
        <p:nvSpPr>
          <p:cNvPr id="9" name="chip_2"/>
          <p:cNvSpPr/>
          <p:nvPr/>
        </p:nvSpPr>
        <p:spPr>
          <a:xfrm>
            <a:off x="6327648" y="3879250"/>
            <a:ext cx="2798064" cy="420624"/>
          </a:xfrm>
          <a:prstGeom prst="roundRect">
            <a:avLst>
              <a:gd name="adj" fmla="val 4000"/>
            </a:avLst>
          </a:prstGeom>
          <a:solidFill>
            <a:srgbClr val="A5F3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2B333B"/>
                </a:solidFill>
                <a:latin typeface="Noto Sans JP"/>
              </a:rPr>
              <a:t>導入ガイド 2026</a:t>
            </a:r>
          </a:p>
        </p:txBody>
      </p:sp>
      <p:sp>
        <p:nvSpPr>
          <p:cNvPr id="10" name="footer_info"/>
          <p:cNvSpPr txBox="1"/>
          <p:nvPr/>
        </p:nvSpPr>
        <p:spPr>
          <a:xfrm>
            <a:off x="457200" y="4937760"/>
            <a:ext cx="8668512" cy="640080"/>
          </a:xfrm>
          <a:prstGeom prst="rect">
            <a:avLst/>
          </a:prstGeom>
          <a:noFill/>
        </p:spPr>
        <p:txBody>
          <a:bodyPr wrap="square" lIns="73152" tIns="36576" rIns="73152" bIns="36576">
            <a:noAutofit/>
          </a:bodyPr>
          <a:lstStyle/>
          <a:p>
            <a:pPr algn="l"/>
            <a:r>
              <a:rPr sz="1100" b="0">
                <a:solidFill>
                  <a:srgbClr val="2B333B"/>
                </a:solidFill>
                <a:latin typeface="Noto Sans JP"/>
              </a:rPr>
              <a:t>Microsoft Copilot Studio 導入ガイド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wiss_left_bar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5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swiss_hrule"/>
          <p:cNvSpPr/>
          <p:nvPr/>
        </p:nvSpPr>
        <p:spPr>
          <a:xfrm>
            <a:off x="457200" y="1986716"/>
            <a:ext cx="1371600" cy="36576"/>
          </a:xfrm>
          <a:prstGeom prst="rect">
            <a:avLst/>
          </a:prstGeom>
          <a:solidFill>
            <a:srgbClr val="75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itle"/>
          <p:cNvSpPr txBox="1"/>
          <p:nvPr/>
        </p:nvSpPr>
        <p:spPr>
          <a:xfrm>
            <a:off x="685800" y="457200"/>
            <a:ext cx="8449056" cy="554034"/>
          </a:xfrm>
          <a:prstGeom prst="rect">
            <a:avLst/>
          </a:prstGeom>
          <a:noFill/>
        </p:spPr>
        <p:txBody>
          <a:bodyPr wrap="square" lIns="73152" tIns="36576" rIns="73152" bIns="36576">
            <a:noAutofit/>
          </a:bodyPr>
          <a:lstStyle/>
          <a:p>
            <a:pPr algn="l"/>
            <a:r>
              <a:rPr sz="2200" b="1">
                <a:solidFill>
                  <a:srgbClr val="181F25"/>
                </a:solidFill>
                <a:latin typeface="Noto Sans JP"/>
              </a:rPr>
              <a:t>Copilot Studioはローコード開発・エンタープライズ統合・堅牢なガバナンスを同時に実現する</a:t>
            </a:r>
          </a:p>
        </p:txBody>
      </p:sp>
      <p:sp>
        <p:nvSpPr>
          <p:cNvPr id="5" name="key_message"/>
          <p:cNvSpPr txBox="1"/>
          <p:nvPr/>
        </p:nvSpPr>
        <p:spPr>
          <a:xfrm>
            <a:off x="685800" y="1175826"/>
            <a:ext cx="8449056" cy="646297"/>
          </a:xfrm>
          <a:prstGeom prst="rect">
            <a:avLst/>
          </a:prstGeom>
          <a:noFill/>
        </p:spPr>
        <p:txBody>
          <a:bodyPr wrap="square" lIns="73152" tIns="36576" rIns="73152" bIns="36576">
            <a:noAutofit/>
          </a:bodyPr>
          <a:lstStyle/>
          <a:p>
            <a:pPr algn="l"/>
            <a:r>
              <a:rPr sz="1400" b="0">
                <a:solidFill>
                  <a:srgbClr val="2B333B"/>
                </a:solidFill>
                <a:latin typeface="Noto Sans JP"/>
              </a:rPr>
              <a:t>エグゼクティブサマリー：3つの導入メリット</a:t>
            </a:r>
          </a:p>
        </p:txBody>
      </p:sp>
      <p:sp>
        <p:nvSpPr>
          <p:cNvPr id="6" name="card_0"/>
          <p:cNvSpPr/>
          <p:nvPr/>
        </p:nvSpPr>
        <p:spPr>
          <a:xfrm>
            <a:off x="457200" y="2187884"/>
            <a:ext cx="4306824" cy="649224"/>
          </a:xfrm>
          <a:prstGeom prst="roundRect">
            <a:avLst>
              <a:gd name="adj" fmla="val 4000"/>
            </a:avLst>
          </a:prstGeom>
          <a:solidFill>
            <a:srgbClr val="DEF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>
            <a:norm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81F25"/>
                </a:solidFill>
                <a:latin typeface="Noto Sans JP"/>
              </a:rPr>
              <a:t>ローコードで迅速構築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2B333B"/>
                </a:solidFill>
                <a:latin typeface="Noto Sans JP"/>
              </a:rPr>
              <a:t>開発者不要でAIエージェントを数時間で展開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187884"/>
            <a:ext cx="73152" cy="649224"/>
          </a:xfrm>
          <a:prstGeom prst="rect">
            <a:avLst/>
          </a:prstGeom>
          <a:solidFill>
            <a:srgbClr val="A8FA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card_1"/>
          <p:cNvSpPr/>
          <p:nvPr/>
        </p:nvSpPr>
        <p:spPr>
          <a:xfrm>
            <a:off x="5056632" y="2187884"/>
            <a:ext cx="4306824" cy="649224"/>
          </a:xfrm>
          <a:prstGeom prst="roundRect">
            <a:avLst>
              <a:gd name="adj" fmla="val 4000"/>
            </a:avLst>
          </a:prstGeom>
          <a:solidFill>
            <a:srgbClr val="DEF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>
            <a:norm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81F25"/>
                </a:solidFill>
                <a:latin typeface="Noto Sans JP"/>
              </a:rPr>
              <a:t>エンタープライズ統合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2B333B"/>
                </a:solidFill>
                <a:latin typeface="Noto Sans JP"/>
              </a:rPr>
              <a:t>M365・Dynamics 365・外部APIとシームレス接続</a:t>
            </a:r>
          </a:p>
        </p:txBody>
      </p:sp>
      <p:sp>
        <p:nvSpPr>
          <p:cNvPr id="9" name="Rectangle 8"/>
          <p:cNvSpPr/>
          <p:nvPr/>
        </p:nvSpPr>
        <p:spPr>
          <a:xfrm>
            <a:off x="5056632" y="2187884"/>
            <a:ext cx="73152" cy="649224"/>
          </a:xfrm>
          <a:prstGeom prst="rect">
            <a:avLst/>
          </a:prstGeom>
          <a:solidFill>
            <a:srgbClr val="5CE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card_2"/>
          <p:cNvSpPr/>
          <p:nvPr/>
        </p:nvSpPr>
        <p:spPr>
          <a:xfrm>
            <a:off x="457200" y="3093140"/>
            <a:ext cx="4306824" cy="649224"/>
          </a:xfrm>
          <a:prstGeom prst="roundRect">
            <a:avLst>
              <a:gd name="adj" fmla="val 4000"/>
            </a:avLst>
          </a:prstGeom>
          <a:solidFill>
            <a:srgbClr val="DEF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>
            <a:norm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81F25"/>
                </a:solidFill>
                <a:latin typeface="Noto Sans JP"/>
              </a:rPr>
              <a:t>セキュリティ＆ガバナンス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2B333B"/>
                </a:solidFill>
                <a:latin typeface="Noto Sans JP"/>
              </a:rPr>
              <a:t>DLP・監査ログ・MIP感度ラベルで企業基準を維持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093140"/>
            <a:ext cx="73152" cy="649224"/>
          </a:xfrm>
          <a:prstGeom prst="rect">
            <a:avLst/>
          </a:prstGeom>
          <a:solidFill>
            <a:srgbClr val="B1D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wiss_left_bar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A5F3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swiss_hrule"/>
          <p:cNvSpPr/>
          <p:nvPr/>
        </p:nvSpPr>
        <p:spPr>
          <a:xfrm>
            <a:off x="457200" y="1986716"/>
            <a:ext cx="1371600" cy="36576"/>
          </a:xfrm>
          <a:prstGeom prst="rect">
            <a:avLst/>
          </a:prstGeom>
          <a:solidFill>
            <a:srgbClr val="A5F3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itle"/>
          <p:cNvSpPr txBox="1"/>
          <p:nvPr/>
        </p:nvSpPr>
        <p:spPr>
          <a:xfrm>
            <a:off x="685800" y="457200"/>
            <a:ext cx="8449056" cy="554034"/>
          </a:xfrm>
          <a:prstGeom prst="rect">
            <a:avLst/>
          </a:prstGeom>
          <a:noFill/>
        </p:spPr>
        <p:txBody>
          <a:bodyPr wrap="square" lIns="73152" tIns="36576" rIns="73152" bIns="36576">
            <a:noAutofit/>
          </a:bodyPr>
          <a:lstStyle/>
          <a:p>
            <a:pPr algn="l"/>
            <a:r>
              <a:rPr sz="2200" b="1">
                <a:solidFill>
                  <a:srgbClr val="181F25"/>
                </a:solidFill>
                <a:latin typeface="Noto Sans JP"/>
              </a:rPr>
              <a:t>多くの組織がAI導入で開発リソース不足・統合の複雑さ・セキュリティ懸念に直面している</a:t>
            </a:r>
          </a:p>
        </p:txBody>
      </p:sp>
      <p:sp>
        <p:nvSpPr>
          <p:cNvPr id="5" name="key_message"/>
          <p:cNvSpPr txBox="1"/>
          <p:nvPr/>
        </p:nvSpPr>
        <p:spPr>
          <a:xfrm>
            <a:off x="685800" y="1175826"/>
            <a:ext cx="8449056" cy="646297"/>
          </a:xfrm>
          <a:prstGeom prst="rect">
            <a:avLst/>
          </a:prstGeom>
          <a:noFill/>
        </p:spPr>
        <p:txBody>
          <a:bodyPr wrap="square" lIns="73152" tIns="36576" rIns="73152" bIns="36576">
            <a:noAutofit/>
          </a:bodyPr>
          <a:lstStyle/>
          <a:p>
            <a:pPr algn="l"/>
            <a:r>
              <a:rPr sz="1400" b="0">
                <a:solidFill>
                  <a:srgbClr val="2B333B"/>
                </a:solidFill>
                <a:latin typeface="Noto Sans JP"/>
              </a:rPr>
              <a:t>現状：AI活用の課題が業務変革を阻んでいる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492757"/>
            <a:ext cx="128016" cy="128016"/>
          </a:xfrm>
          <a:prstGeom prst="ellipse">
            <a:avLst/>
          </a:prstGeom>
          <a:solidFill>
            <a:srgbClr val="5CE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bullet_0"/>
          <p:cNvSpPr/>
          <p:nvPr/>
        </p:nvSpPr>
        <p:spPr>
          <a:xfrm>
            <a:off x="822960" y="2187884"/>
            <a:ext cx="8439912" cy="737760"/>
          </a:xfrm>
          <a:prstGeom prst="roundRect">
            <a:avLst>
              <a:gd name="adj" fmla="val 4000"/>
            </a:avLst>
          </a:prstGeom>
          <a:solidFill>
            <a:srgbClr val="FCFC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>
            <a:normAutofit/>
          </a:bodyPr>
          <a:lstStyle/>
          <a:p>
            <a:pPr algn="l">
              <a:lnSpc>
                <a:spcPct val="130000"/>
              </a:lnSpc>
            </a:pPr>
            <a:r>
              <a:rPr sz="1600" b="1">
                <a:solidFill>
                  <a:srgbClr val="181F25"/>
                </a:solidFill>
                <a:latin typeface="Noto Sans JP"/>
              </a:rPr>
              <a:t>AI開発には専門人材が必要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2B333B"/>
                </a:solidFill>
                <a:latin typeface="Noto Sans JP"/>
              </a:rPr>
              <a:t>データサイエンティスト・開発者の確保が困難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376822"/>
            <a:ext cx="128016" cy="128016"/>
          </a:xfrm>
          <a:prstGeom prst="ellipse">
            <a:avLst/>
          </a:prstGeom>
          <a:solidFill>
            <a:srgbClr val="A5F3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bullet_1"/>
          <p:cNvSpPr/>
          <p:nvPr/>
        </p:nvSpPr>
        <p:spPr>
          <a:xfrm>
            <a:off x="822960" y="3071949"/>
            <a:ext cx="8439912" cy="737760"/>
          </a:xfrm>
          <a:prstGeom prst="roundRect">
            <a:avLst>
              <a:gd name="adj" fmla="val 4000"/>
            </a:avLst>
          </a:prstGeom>
          <a:solidFill>
            <a:srgbClr val="FCFC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>
            <a:normAutofit/>
          </a:bodyPr>
          <a:lstStyle/>
          <a:p>
            <a:pPr algn="l">
              <a:lnSpc>
                <a:spcPct val="130000"/>
              </a:lnSpc>
            </a:pPr>
            <a:r>
              <a:rPr sz="1600" b="1">
                <a:solidFill>
                  <a:srgbClr val="181F25"/>
                </a:solidFill>
                <a:latin typeface="Noto Sans JP"/>
              </a:rPr>
              <a:t>既存システムとの統合が複雑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2B333B"/>
                </a:solidFill>
                <a:latin typeface="Noto Sans JP"/>
              </a:rPr>
              <a:t>サイロ化したデータとプロセス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260886"/>
            <a:ext cx="128016" cy="128016"/>
          </a:xfrm>
          <a:prstGeom prst="ellipse">
            <a:avLst/>
          </a:prstGeom>
          <a:solidFill>
            <a:srgbClr val="B1D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bullet_2"/>
          <p:cNvSpPr/>
          <p:nvPr/>
        </p:nvSpPr>
        <p:spPr>
          <a:xfrm>
            <a:off x="822960" y="3956014"/>
            <a:ext cx="8439912" cy="737760"/>
          </a:xfrm>
          <a:prstGeom prst="roundRect">
            <a:avLst>
              <a:gd name="adj" fmla="val 4000"/>
            </a:avLst>
          </a:prstGeom>
          <a:solidFill>
            <a:srgbClr val="FCFC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>
            <a:normAutofit/>
          </a:bodyPr>
          <a:lstStyle/>
          <a:p>
            <a:pPr algn="l">
              <a:lnSpc>
                <a:spcPct val="130000"/>
              </a:lnSpc>
            </a:pPr>
            <a:r>
              <a:rPr sz="1600" b="1">
                <a:solidFill>
                  <a:srgbClr val="181F25"/>
                </a:solidFill>
                <a:latin typeface="Noto Sans JP"/>
              </a:rPr>
              <a:t>セキュリティとコンプライアンスの確保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2B333B"/>
                </a:solidFill>
                <a:latin typeface="Noto Sans JP"/>
              </a:rPr>
              <a:t>生成AIのガバナンスが未整備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5144951"/>
            <a:ext cx="128016" cy="128016"/>
          </a:xfrm>
          <a:prstGeom prst="ellipse">
            <a:avLst/>
          </a:prstGeom>
          <a:solidFill>
            <a:srgbClr val="D8E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bullet_3"/>
          <p:cNvSpPr/>
          <p:nvPr/>
        </p:nvSpPr>
        <p:spPr>
          <a:xfrm>
            <a:off x="822960" y="4840079"/>
            <a:ext cx="8439912" cy="737760"/>
          </a:xfrm>
          <a:prstGeom prst="roundRect">
            <a:avLst>
              <a:gd name="adj" fmla="val 4000"/>
            </a:avLst>
          </a:prstGeom>
          <a:solidFill>
            <a:srgbClr val="FCFC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>
            <a:normAutofit/>
          </a:bodyPr>
          <a:lstStyle/>
          <a:p>
            <a:pPr algn="l">
              <a:lnSpc>
                <a:spcPct val="130000"/>
              </a:lnSpc>
            </a:pPr>
            <a:r>
              <a:rPr sz="1600" b="1">
                <a:solidFill>
                  <a:srgbClr val="181F25"/>
                </a:solidFill>
                <a:latin typeface="Noto Sans JP"/>
              </a:rPr>
              <a:t>スケーラビリティの壁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2B333B"/>
                </a:solidFill>
                <a:latin typeface="Noto Sans JP"/>
              </a:rPr>
              <a:t>PoC から本番展開への移行が難航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wiss_left_bar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CE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swiss_hrule"/>
          <p:cNvSpPr/>
          <p:nvPr/>
        </p:nvSpPr>
        <p:spPr>
          <a:xfrm>
            <a:off x="457200" y="2448306"/>
            <a:ext cx="1371600" cy="36576"/>
          </a:xfrm>
          <a:prstGeom prst="rect">
            <a:avLst/>
          </a:prstGeom>
          <a:solidFill>
            <a:srgbClr val="5CE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itle"/>
          <p:cNvSpPr txBox="1"/>
          <p:nvPr/>
        </p:nvSpPr>
        <p:spPr>
          <a:xfrm>
            <a:off x="685800" y="457200"/>
            <a:ext cx="8449056" cy="1015624"/>
          </a:xfrm>
          <a:prstGeom prst="rect">
            <a:avLst/>
          </a:prstGeom>
          <a:noFill/>
        </p:spPr>
        <p:txBody>
          <a:bodyPr wrap="square" lIns="73152" tIns="36576" rIns="73152" bIns="36576">
            <a:noAutofit/>
          </a:bodyPr>
          <a:lstStyle/>
          <a:p>
            <a:pPr algn="l"/>
            <a:r>
              <a:rPr sz="2000" b="1">
                <a:solidFill>
                  <a:srgbClr val="181F25"/>
                </a:solidFill>
                <a:latin typeface="Noto Sans JP"/>
              </a:rPr>
              <a:t>エージェントとエージェントフローにより、会話型AI・タスク自動化・ワークフロー統合を一つのプラットフォームで実現</a:t>
            </a:r>
          </a:p>
        </p:txBody>
      </p:sp>
      <p:sp>
        <p:nvSpPr>
          <p:cNvPr id="5" name="key_message"/>
          <p:cNvSpPr txBox="1"/>
          <p:nvPr/>
        </p:nvSpPr>
        <p:spPr>
          <a:xfrm>
            <a:off x="685800" y="1637416"/>
            <a:ext cx="8449056" cy="646297"/>
          </a:xfrm>
          <a:prstGeom prst="rect">
            <a:avLst/>
          </a:prstGeom>
          <a:noFill/>
        </p:spPr>
        <p:txBody>
          <a:bodyPr wrap="square" lIns="73152" tIns="36576" rIns="73152" bIns="36576">
            <a:noAutofit/>
          </a:bodyPr>
          <a:lstStyle/>
          <a:p>
            <a:pPr algn="l"/>
            <a:r>
              <a:rPr sz="1300" b="0">
                <a:solidFill>
                  <a:srgbClr val="2B333B"/>
                </a:solidFill>
                <a:latin typeface="Noto Sans JP"/>
              </a:rPr>
              <a:t>Copilot Studioとは：ローコードでAIエージェントを構築するプラットフォーム</a:t>
            </a:r>
          </a:p>
        </p:txBody>
      </p:sp>
      <p:sp>
        <p:nvSpPr>
          <p:cNvPr id="6" name="card_0"/>
          <p:cNvSpPr/>
          <p:nvPr/>
        </p:nvSpPr>
        <p:spPr>
          <a:xfrm>
            <a:off x="457200" y="2649474"/>
            <a:ext cx="4306824" cy="923544"/>
          </a:xfrm>
          <a:prstGeom prst="roundRect">
            <a:avLst>
              <a:gd name="adj" fmla="val 4000"/>
            </a:avLst>
          </a:prstGeom>
          <a:solidFill>
            <a:srgbClr val="DEF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>
            <a:norm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81F25"/>
                </a:solidFill>
                <a:latin typeface="Noto Sans JP"/>
              </a:rPr>
              <a:t>エージェント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2B333B"/>
                </a:solidFill>
                <a:latin typeface="Noto Sans JP"/>
              </a:rPr>
              <a:t>NLU＋生成AIで自律的に対話・判断・行動するAIコンパニオン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49474"/>
            <a:ext cx="73152" cy="923544"/>
          </a:xfrm>
          <a:prstGeom prst="rect">
            <a:avLst/>
          </a:prstGeom>
          <a:solidFill>
            <a:srgbClr val="A8FA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card_1"/>
          <p:cNvSpPr/>
          <p:nvPr/>
        </p:nvSpPr>
        <p:spPr>
          <a:xfrm>
            <a:off x="5056632" y="2649474"/>
            <a:ext cx="4306824" cy="923544"/>
          </a:xfrm>
          <a:prstGeom prst="roundRect">
            <a:avLst>
              <a:gd name="adj" fmla="val 4000"/>
            </a:avLst>
          </a:prstGeom>
          <a:solidFill>
            <a:srgbClr val="D8E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>
            <a:norm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81F25"/>
                </a:solidFill>
                <a:latin typeface="Noto Sans JP"/>
              </a:rPr>
              <a:t>エージェントフロー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2B333B"/>
                </a:solidFill>
                <a:latin typeface="Noto Sans JP"/>
              </a:rPr>
              <a:t>自然言語またはビジュアルエディターで反復タスクを自動化</a:t>
            </a:r>
          </a:p>
        </p:txBody>
      </p:sp>
      <p:sp>
        <p:nvSpPr>
          <p:cNvPr id="9" name="Rectangle 8"/>
          <p:cNvSpPr/>
          <p:nvPr/>
        </p:nvSpPr>
        <p:spPr>
          <a:xfrm>
            <a:off x="5056632" y="2649474"/>
            <a:ext cx="73152" cy="923544"/>
          </a:xfrm>
          <a:prstGeom prst="rect">
            <a:avLst/>
          </a:prstGeom>
          <a:solidFill>
            <a:srgbClr val="5CE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card_2"/>
          <p:cNvSpPr/>
          <p:nvPr/>
        </p:nvSpPr>
        <p:spPr>
          <a:xfrm>
            <a:off x="457200" y="3829050"/>
            <a:ext cx="4306824" cy="923544"/>
          </a:xfrm>
          <a:prstGeom prst="roundRect">
            <a:avLst>
              <a:gd name="adj" fmla="val 4000"/>
            </a:avLst>
          </a:prstGeom>
          <a:solidFill>
            <a:srgbClr val="DEF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>
            <a:norm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81F25"/>
                </a:solidFill>
                <a:latin typeface="Noto Sans JP"/>
              </a:rPr>
              <a:t>ナレッジ統合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2B333B"/>
                </a:solidFill>
                <a:latin typeface="Noto Sans JP"/>
              </a:rPr>
              <a:t>SharePoint・Graph・外部コネクタからリアルタイムに知識を取得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829050"/>
            <a:ext cx="73152" cy="923544"/>
          </a:xfrm>
          <a:prstGeom prst="rect">
            <a:avLst/>
          </a:prstGeom>
          <a:solidFill>
            <a:srgbClr val="A5F3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card_3"/>
          <p:cNvSpPr/>
          <p:nvPr/>
        </p:nvSpPr>
        <p:spPr>
          <a:xfrm>
            <a:off x="5056632" y="3829050"/>
            <a:ext cx="4306824" cy="923544"/>
          </a:xfrm>
          <a:prstGeom prst="roundRect">
            <a:avLst>
              <a:gd name="adj" fmla="val 4000"/>
            </a:avLst>
          </a:prstGeom>
          <a:solidFill>
            <a:srgbClr val="D8E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>
            <a:norm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81F25"/>
                </a:solidFill>
                <a:latin typeface="Noto Sans JP"/>
              </a:rPr>
              <a:t>マルチチャネル展開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2B333B"/>
                </a:solidFill>
                <a:latin typeface="Noto Sans JP"/>
              </a:rPr>
              <a:t>Teams・Web・モバイル・WhatsAppなど複数チャネルに公開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56632" y="3829050"/>
            <a:ext cx="73152" cy="923544"/>
          </a:xfrm>
          <a:prstGeom prst="rect">
            <a:avLst/>
          </a:prstGeom>
          <a:solidFill>
            <a:srgbClr val="B1D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wiss_left_bar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B1D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swiss_hrule"/>
          <p:cNvSpPr/>
          <p:nvPr/>
        </p:nvSpPr>
        <p:spPr>
          <a:xfrm>
            <a:off x="457200" y="2448306"/>
            <a:ext cx="1371600" cy="36576"/>
          </a:xfrm>
          <a:prstGeom prst="rect">
            <a:avLst/>
          </a:prstGeom>
          <a:solidFill>
            <a:srgbClr val="B1D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itle"/>
          <p:cNvSpPr txBox="1"/>
          <p:nvPr/>
        </p:nvSpPr>
        <p:spPr>
          <a:xfrm>
            <a:off x="685800" y="457200"/>
            <a:ext cx="8449056" cy="1015624"/>
          </a:xfrm>
          <a:prstGeom prst="rect">
            <a:avLst/>
          </a:prstGeom>
          <a:noFill/>
        </p:spPr>
        <p:txBody>
          <a:bodyPr wrap="square" lIns="73152" tIns="36576" rIns="73152" bIns="36576">
            <a:noAutofit/>
          </a:bodyPr>
          <a:lstStyle/>
          <a:p>
            <a:pPr algn="l"/>
            <a:r>
              <a:rPr sz="2000" b="1">
                <a:solidFill>
                  <a:srgbClr val="181F25"/>
                </a:solidFill>
                <a:latin typeface="Noto Sans JP"/>
              </a:rPr>
              <a:t>軽量Q&amp;Aは M365 Agent Builder、高度なワークフロー・外部統合は Copilot Studio を選択すべき</a:t>
            </a:r>
          </a:p>
        </p:txBody>
      </p:sp>
      <p:sp>
        <p:nvSpPr>
          <p:cNvPr id="5" name="key_message"/>
          <p:cNvSpPr txBox="1"/>
          <p:nvPr/>
        </p:nvSpPr>
        <p:spPr>
          <a:xfrm>
            <a:off x="685800" y="1637416"/>
            <a:ext cx="8449056" cy="646297"/>
          </a:xfrm>
          <a:prstGeom prst="rect">
            <a:avLst/>
          </a:prstGeom>
          <a:noFill/>
        </p:spPr>
        <p:txBody>
          <a:bodyPr wrap="square" lIns="73152" tIns="36576" rIns="73152" bIns="36576">
            <a:noAutofit/>
          </a:bodyPr>
          <a:lstStyle/>
          <a:p>
            <a:pPr algn="l"/>
            <a:r>
              <a:rPr sz="1300" b="0">
                <a:solidFill>
                  <a:srgbClr val="2B333B"/>
                </a:solidFill>
                <a:latin typeface="Noto Sans JP"/>
              </a:rPr>
              <a:t>ツール選択：Agent Builder と Copilot Studio を使い分ける</a:t>
            </a:r>
          </a:p>
        </p:txBody>
      </p:sp>
      <p:sp>
        <p:nvSpPr>
          <p:cNvPr id="6" name="comp_left_header"/>
          <p:cNvSpPr/>
          <p:nvPr/>
        </p:nvSpPr>
        <p:spPr>
          <a:xfrm>
            <a:off x="457200" y="2649474"/>
            <a:ext cx="4334256" cy="457200"/>
          </a:xfrm>
          <a:prstGeom prst="roundRect">
            <a:avLst>
              <a:gd name="adj" fmla="val 4000"/>
            </a:avLst>
          </a:prstGeom>
          <a:solidFill>
            <a:srgbClr val="D8E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>
            <a:norm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181F25"/>
                </a:solidFill>
                <a:latin typeface="Calibri"/>
              </a:rPr>
              <a:t>M365 Agent Builder</a:t>
            </a:r>
          </a:p>
        </p:txBody>
      </p:sp>
      <p:sp>
        <p:nvSpPr>
          <p:cNvPr id="7" name="comp_right_header"/>
          <p:cNvSpPr/>
          <p:nvPr/>
        </p:nvSpPr>
        <p:spPr>
          <a:xfrm>
            <a:off x="5020056" y="2649474"/>
            <a:ext cx="4334256" cy="457200"/>
          </a:xfrm>
          <a:prstGeom prst="roundRect">
            <a:avLst>
              <a:gd name="adj" fmla="val 4000"/>
            </a:avLst>
          </a:prstGeom>
          <a:solidFill>
            <a:srgbClr val="A8FA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>
            <a:norm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181F25"/>
                </a:solidFill>
                <a:latin typeface="Calibri"/>
              </a:rPr>
              <a:t>Copilot Studio</a:t>
            </a:r>
          </a:p>
        </p:txBody>
      </p:sp>
      <p:sp>
        <p:nvSpPr>
          <p:cNvPr id="8" name="comp_left_0"/>
          <p:cNvSpPr/>
          <p:nvPr/>
        </p:nvSpPr>
        <p:spPr>
          <a:xfrm>
            <a:off x="457200" y="3216402"/>
            <a:ext cx="4334256" cy="1125855"/>
          </a:xfrm>
          <a:prstGeom prst="roundRect">
            <a:avLst>
              <a:gd name="adj" fmla="val 4000"/>
            </a:avLst>
          </a:prstGeom>
          <a:solidFill>
            <a:srgbClr val="DEF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>
            <a:norm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2B333B"/>
                </a:solidFill>
                <a:latin typeface="Noto Sans JP"/>
              </a:rPr>
              <a:t>個人・小規模チーム向け、自然言語オーサリング、SharePoint Q&amp;A中心</a:t>
            </a:r>
          </a:p>
        </p:txBody>
      </p:sp>
      <p:sp>
        <p:nvSpPr>
          <p:cNvPr id="9" name="comp_left_1"/>
          <p:cNvSpPr/>
          <p:nvPr/>
        </p:nvSpPr>
        <p:spPr>
          <a:xfrm>
            <a:off x="457200" y="4451985"/>
            <a:ext cx="4334256" cy="1125855"/>
          </a:xfrm>
          <a:prstGeom prst="roundRect">
            <a:avLst>
              <a:gd name="adj" fmla="val 4000"/>
            </a:avLst>
          </a:prstGeom>
          <a:solidFill>
            <a:srgbClr val="DEF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>
            <a:norm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2B333B"/>
                </a:solidFill>
                <a:latin typeface="Noto Sans JP"/>
              </a:rPr>
              <a:t>部門・組織・外部顧客向け、マルチステップワークフロー、Premium コネクタ</a:t>
            </a:r>
          </a:p>
        </p:txBody>
      </p:sp>
      <p:sp>
        <p:nvSpPr>
          <p:cNvPr id="10" name="comp_right_0"/>
          <p:cNvSpPr/>
          <p:nvPr/>
        </p:nvSpPr>
        <p:spPr>
          <a:xfrm>
            <a:off x="5020056" y="3216402"/>
            <a:ext cx="4334256" cy="1125855"/>
          </a:xfrm>
          <a:prstGeom prst="roundRect">
            <a:avLst>
              <a:gd name="adj" fmla="val 4000"/>
            </a:avLst>
          </a:prstGeom>
          <a:solidFill>
            <a:srgbClr val="DEF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>
            <a:norm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2B333B"/>
                </a:solidFill>
                <a:latin typeface="Noto Sans JP"/>
              </a:rPr>
              <a:t>Agent Builder で作成 → Copilot Studio にコピーして高度な機能を解放</a:t>
            </a:r>
          </a:p>
        </p:txBody>
      </p:sp>
      <p:sp>
        <p:nvSpPr>
          <p:cNvPr id="11" name="comp_right_1"/>
          <p:cNvSpPr/>
          <p:nvPr/>
        </p:nvSpPr>
        <p:spPr>
          <a:xfrm>
            <a:off x="5020056" y="4451985"/>
            <a:ext cx="4334256" cy="1125855"/>
          </a:xfrm>
          <a:prstGeom prst="roundRect">
            <a:avLst>
              <a:gd name="adj" fmla="val 4000"/>
            </a:avLst>
          </a:prstGeom>
          <a:solidFill>
            <a:srgbClr val="DEF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>
            <a:norm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2B333B"/>
                </a:solidFill>
                <a:latin typeface="Noto Sans JP"/>
              </a:rPr>
              <a:t>対象ユーザー規模・機能要件・ガバナンスニーズで選択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wiss_left_bar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8E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swiss_hrule"/>
          <p:cNvSpPr/>
          <p:nvPr/>
        </p:nvSpPr>
        <p:spPr>
          <a:xfrm>
            <a:off x="457200" y="1803836"/>
            <a:ext cx="1371600" cy="36576"/>
          </a:xfrm>
          <a:prstGeom prst="rect">
            <a:avLst/>
          </a:prstGeom>
          <a:solidFill>
            <a:srgbClr val="D8E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itle"/>
          <p:cNvSpPr txBox="1"/>
          <p:nvPr/>
        </p:nvSpPr>
        <p:spPr>
          <a:xfrm>
            <a:off x="685800" y="457200"/>
            <a:ext cx="8449056" cy="554034"/>
          </a:xfrm>
          <a:prstGeom prst="rect">
            <a:avLst/>
          </a:prstGeom>
          <a:noFill/>
        </p:spPr>
        <p:txBody>
          <a:bodyPr wrap="square" lIns="73152" tIns="36576" rIns="73152" bIns="36576">
            <a:noAutofit/>
          </a:bodyPr>
          <a:lstStyle/>
          <a:p>
            <a:pPr algn="l"/>
            <a:r>
              <a:rPr sz="2000" b="1">
                <a:solidFill>
                  <a:srgbClr val="181F25"/>
                </a:solidFill>
                <a:latin typeface="Noto Sans JP"/>
              </a:rPr>
              <a:t>GPT-5対応・コンピュータ使用エージェント・MCP統合など、半年ごとに大型機能が投入されている</a:t>
            </a:r>
          </a:p>
        </p:txBody>
      </p:sp>
      <p:sp>
        <p:nvSpPr>
          <p:cNvPr id="5" name="key_message"/>
          <p:cNvSpPr txBox="1"/>
          <p:nvPr/>
        </p:nvSpPr>
        <p:spPr>
          <a:xfrm>
            <a:off x="685800" y="1084386"/>
            <a:ext cx="8449056" cy="646297"/>
          </a:xfrm>
          <a:prstGeom prst="rect">
            <a:avLst/>
          </a:prstGeom>
          <a:noFill/>
        </p:spPr>
        <p:txBody>
          <a:bodyPr wrap="square" lIns="73152" tIns="36576" rIns="73152" bIns="36576">
            <a:noAutofit/>
          </a:bodyPr>
          <a:lstStyle/>
          <a:p>
            <a:pPr algn="l"/>
            <a:r>
              <a:rPr sz="1300" b="0">
                <a:solidFill>
                  <a:srgbClr val="2B333B"/>
                </a:solidFill>
                <a:latin typeface="Noto Sans JP"/>
              </a:rPr>
              <a:t>進化し続ける：2025〜2026年の主要リリース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2005004"/>
            <a:ext cx="36576" cy="3575304"/>
          </a:xfrm>
          <a:prstGeom prst="rect">
            <a:avLst/>
          </a:prstGeom>
          <a:solidFill>
            <a:srgbClr val="A8FA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96112" y="2041580"/>
            <a:ext cx="219456" cy="219456"/>
          </a:xfrm>
          <a:prstGeom prst="ellipse">
            <a:avLst/>
          </a:prstGeom>
          <a:solidFill>
            <a:srgbClr val="A8FA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325880" y="1968428"/>
            <a:ext cx="1463040" cy="50613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300" b="1">
                <a:solidFill>
                  <a:srgbClr val="A8FAD8"/>
                </a:solidFill>
                <a:latin typeface="Noto Sans JP"/>
              </a:rPr>
              <a:t>2025年9月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360" y="1968428"/>
            <a:ext cx="6473951" cy="50613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300">
                <a:solidFill>
                  <a:srgbClr val="2B333B"/>
                </a:solidFill>
                <a:latin typeface="Noto Sans JP"/>
              </a:rPr>
              <a:t>Computer-Using Agents（CUA）プレビュー、Client SDK公開</a:t>
            </a:r>
          </a:p>
        </p:txBody>
      </p:sp>
      <p:sp>
        <p:nvSpPr>
          <p:cNvPr id="10" name="Oval 9"/>
          <p:cNvSpPr/>
          <p:nvPr/>
        </p:nvSpPr>
        <p:spPr>
          <a:xfrm>
            <a:off x="896112" y="2637038"/>
            <a:ext cx="219456" cy="219456"/>
          </a:xfrm>
          <a:prstGeom prst="ellipse">
            <a:avLst/>
          </a:prstGeom>
          <a:solidFill>
            <a:srgbClr val="5CE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325880" y="2563886"/>
            <a:ext cx="1463040" cy="50613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300" b="1">
                <a:solidFill>
                  <a:srgbClr val="5CE4FF"/>
                </a:solidFill>
                <a:latin typeface="Noto Sans JP"/>
              </a:rPr>
              <a:t>2025年10月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360" y="2563886"/>
            <a:ext cx="6473951" cy="50613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300">
                <a:solidFill>
                  <a:srgbClr val="2B333B"/>
                </a:solidFill>
                <a:latin typeface="Noto Sans JP"/>
              </a:rPr>
              <a:t>GPT-4.1標準化、MCPサーバー統合、エージェント評価テストセット</a:t>
            </a:r>
          </a:p>
        </p:txBody>
      </p:sp>
      <p:sp>
        <p:nvSpPr>
          <p:cNvPr id="13" name="Oval 12"/>
          <p:cNvSpPr/>
          <p:nvPr/>
        </p:nvSpPr>
        <p:spPr>
          <a:xfrm>
            <a:off x="896112" y="3232495"/>
            <a:ext cx="219456" cy="219456"/>
          </a:xfrm>
          <a:prstGeom prst="ellipse">
            <a:avLst/>
          </a:prstGeom>
          <a:solidFill>
            <a:srgbClr val="A5F3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325880" y="3159343"/>
            <a:ext cx="1463040" cy="50613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300" b="1">
                <a:solidFill>
                  <a:srgbClr val="A5F3FD"/>
                </a:solidFill>
                <a:latin typeface="Noto Sans JP"/>
              </a:rPr>
              <a:t>2025年11月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0360" y="3159343"/>
            <a:ext cx="6473951" cy="50613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300">
                <a:solidFill>
                  <a:srgbClr val="2B333B"/>
                </a:solidFill>
                <a:latin typeface="Noto Sans JP"/>
              </a:rPr>
              <a:t>GPT-5 GA展開、マルチエージェント連携、SharePointメタデータフィルター</a:t>
            </a:r>
          </a:p>
        </p:txBody>
      </p:sp>
      <p:sp>
        <p:nvSpPr>
          <p:cNvPr id="16" name="Oval 15"/>
          <p:cNvSpPr/>
          <p:nvPr/>
        </p:nvSpPr>
        <p:spPr>
          <a:xfrm>
            <a:off x="896112" y="3827952"/>
            <a:ext cx="219456" cy="219456"/>
          </a:xfrm>
          <a:prstGeom prst="ellipse">
            <a:avLst/>
          </a:prstGeom>
          <a:solidFill>
            <a:srgbClr val="75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325880" y="3754800"/>
            <a:ext cx="1463040" cy="50613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300" b="1">
                <a:solidFill>
                  <a:srgbClr val="75FFD1"/>
                </a:solidFill>
                <a:latin typeface="Noto Sans JP"/>
              </a:rPr>
              <a:t>2026年1月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80360" y="3754800"/>
            <a:ext cx="6473951" cy="50613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300">
                <a:solidFill>
                  <a:srgbClr val="2B333B"/>
                </a:solidFill>
                <a:latin typeface="Noto Sans JP"/>
              </a:rPr>
              <a:t>VS Code拡張GA、Cloud PCプーリング、評価機能強化</a:t>
            </a:r>
          </a:p>
        </p:txBody>
      </p:sp>
      <p:sp>
        <p:nvSpPr>
          <p:cNvPr id="19" name="Oval 18"/>
          <p:cNvSpPr/>
          <p:nvPr/>
        </p:nvSpPr>
        <p:spPr>
          <a:xfrm>
            <a:off x="896112" y="4423410"/>
            <a:ext cx="219456" cy="219456"/>
          </a:xfrm>
          <a:prstGeom prst="ellipse">
            <a:avLst/>
          </a:prstGeom>
          <a:solidFill>
            <a:srgbClr val="B1D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325880" y="4350258"/>
            <a:ext cx="1463040" cy="50613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300" b="1">
                <a:solidFill>
                  <a:srgbClr val="B1D6FC"/>
                </a:solidFill>
                <a:latin typeface="Noto Sans JP"/>
              </a:rPr>
              <a:t>2026年2月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80360" y="4350258"/>
            <a:ext cx="6473951" cy="50613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300">
                <a:solidFill>
                  <a:srgbClr val="2B333B"/>
                </a:solidFill>
                <a:latin typeface="Noto Sans JP"/>
              </a:rPr>
              <a:t>Claude Sonnet 4.5対応、プロンプトビルダー強化</a:t>
            </a:r>
          </a:p>
        </p:txBody>
      </p:sp>
      <p:sp>
        <p:nvSpPr>
          <p:cNvPr id="22" name="Oval 21"/>
          <p:cNvSpPr/>
          <p:nvPr/>
        </p:nvSpPr>
        <p:spPr>
          <a:xfrm>
            <a:off x="896112" y="5018867"/>
            <a:ext cx="219456" cy="219456"/>
          </a:xfrm>
          <a:prstGeom prst="ellipse">
            <a:avLst/>
          </a:prstGeom>
          <a:solidFill>
            <a:srgbClr val="D8E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325880" y="4945715"/>
            <a:ext cx="1463040" cy="50613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300" b="1">
                <a:solidFill>
                  <a:srgbClr val="D8EBFD"/>
                </a:solidFill>
                <a:latin typeface="Noto Sans JP"/>
              </a:rPr>
              <a:t>2026年3月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80360" y="4945715"/>
            <a:ext cx="6473951" cy="50613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300">
                <a:solidFill>
                  <a:srgbClr val="2B333B"/>
                </a:solidFill>
                <a:latin typeface="Noto Sans JP"/>
              </a:rPr>
              <a:t>Work IQツール統合（プレビュー）</a:t>
            </a:r>
          </a:p>
        </p:txBody>
      </p:sp>
      <p:pic>
        <p:nvPicPr>
          <p:cNvPr id="25" name="Picture 24" descr="calendar_D8EBF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87584" y="987552"/>
            <a:ext cx="768096" cy="76809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wiss_left_bar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A8FA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swiss_hrule"/>
          <p:cNvSpPr/>
          <p:nvPr/>
        </p:nvSpPr>
        <p:spPr>
          <a:xfrm>
            <a:off x="457200" y="1803836"/>
            <a:ext cx="1371600" cy="36576"/>
          </a:xfrm>
          <a:prstGeom prst="rect">
            <a:avLst/>
          </a:prstGeom>
          <a:solidFill>
            <a:srgbClr val="A8FA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itle"/>
          <p:cNvSpPr txBox="1"/>
          <p:nvPr/>
        </p:nvSpPr>
        <p:spPr>
          <a:xfrm>
            <a:off x="685800" y="457200"/>
            <a:ext cx="8449056" cy="554034"/>
          </a:xfrm>
          <a:prstGeom prst="rect">
            <a:avLst/>
          </a:prstGeom>
          <a:noFill/>
        </p:spPr>
        <p:txBody>
          <a:bodyPr wrap="square" lIns="73152" tIns="36576" rIns="73152" bIns="36576">
            <a:noAutofit/>
          </a:bodyPr>
          <a:lstStyle/>
          <a:p>
            <a:pPr algn="l"/>
            <a:r>
              <a:rPr sz="2200" b="1">
                <a:solidFill>
                  <a:srgbClr val="181F25"/>
                </a:solidFill>
                <a:latin typeface="Noto Sans JP"/>
              </a:rPr>
              <a:t>無料試用版→M365付属プラン→スタンドアロンサブスクリプションの段階的導入が可能</a:t>
            </a:r>
          </a:p>
        </p:txBody>
      </p:sp>
      <p:sp>
        <p:nvSpPr>
          <p:cNvPr id="5" name="key_message"/>
          <p:cNvSpPr txBox="1"/>
          <p:nvPr/>
        </p:nvSpPr>
        <p:spPr>
          <a:xfrm>
            <a:off x="685800" y="1084386"/>
            <a:ext cx="8449056" cy="646297"/>
          </a:xfrm>
          <a:prstGeom prst="rect">
            <a:avLst/>
          </a:prstGeom>
          <a:noFill/>
        </p:spPr>
        <p:txBody>
          <a:bodyPr wrap="square" lIns="73152" tIns="36576" rIns="73152" bIns="36576">
            <a:noAutofit/>
          </a:bodyPr>
          <a:lstStyle/>
          <a:p>
            <a:pPr algn="l"/>
            <a:r>
              <a:rPr sz="1400" b="0">
                <a:solidFill>
                  <a:srgbClr val="2B333B"/>
                </a:solidFill>
                <a:latin typeface="Noto Sans JP"/>
              </a:rPr>
              <a:t>ライセンス体系：3つの導入パスから選べる</a:t>
            </a:r>
          </a:p>
        </p:txBody>
      </p:sp>
      <p:sp>
        <p:nvSpPr>
          <p:cNvPr id="6" name="stat_box_0"/>
          <p:cNvSpPr/>
          <p:nvPr/>
        </p:nvSpPr>
        <p:spPr>
          <a:xfrm>
            <a:off x="457200" y="2005004"/>
            <a:ext cx="2752344" cy="2843784"/>
          </a:xfrm>
          <a:prstGeom prst="roundRect">
            <a:avLst>
              <a:gd name="adj" fmla="val 4000"/>
            </a:avLst>
          </a:prstGeom>
          <a:solidFill>
            <a:srgbClr val="DEF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2005004"/>
            <a:ext cx="2752344" cy="54864"/>
          </a:xfrm>
          <a:prstGeom prst="rect">
            <a:avLst/>
          </a:prstGeom>
          <a:solidFill>
            <a:srgbClr val="A8FA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2187884"/>
            <a:ext cx="2478024" cy="5486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3200" b="1">
                <a:solidFill>
                  <a:srgbClr val="A8FAD8"/>
                </a:solidFill>
                <a:latin typeface="Noto Sans JP"/>
              </a:rPr>
              <a:t>0円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736524"/>
            <a:ext cx="2478024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600" b="1">
                <a:solidFill>
                  <a:srgbClr val="181F25"/>
                </a:solidFill>
                <a:latin typeface="Noto Sans JP"/>
              </a:rPr>
              <a:t>無料試用版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193724"/>
            <a:ext cx="2478024" cy="147218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ct val="140000"/>
              </a:lnSpc>
            </a:pPr>
            <a:r>
              <a:rPr sz="1200">
                <a:solidFill>
                  <a:srgbClr val="2B333B"/>
                </a:solidFill>
                <a:latin typeface="Noto Sans JP"/>
              </a:rPr>
              <a:t>サインアップ即日開始</a:t>
            </a:r>
          </a:p>
          <a:p>
            <a:pPr algn="ctr">
              <a:lnSpc>
                <a:spcPct val="140000"/>
              </a:lnSpc>
            </a:pPr>
            <a:r>
              <a:rPr sz="1200">
                <a:solidFill>
                  <a:srgbClr val="2B333B"/>
                </a:solidFill>
                <a:latin typeface="Noto Sans JP"/>
              </a:rPr>
              <a:t>30日延長可</a:t>
            </a:r>
          </a:p>
          <a:p>
            <a:pPr algn="ctr">
              <a:lnSpc>
                <a:spcPct val="140000"/>
              </a:lnSpc>
            </a:pPr>
            <a:r>
              <a:rPr sz="1200">
                <a:solidFill>
                  <a:srgbClr val="2B333B"/>
                </a:solidFill>
                <a:latin typeface="Noto Sans JP"/>
              </a:rPr>
              <a:t>試用後90日間稼働継続</a:t>
            </a:r>
          </a:p>
        </p:txBody>
      </p:sp>
      <p:sp>
        <p:nvSpPr>
          <p:cNvPr id="11" name="stat_box_1"/>
          <p:cNvSpPr/>
          <p:nvPr/>
        </p:nvSpPr>
        <p:spPr>
          <a:xfrm>
            <a:off x="3529584" y="2005004"/>
            <a:ext cx="2752344" cy="2843784"/>
          </a:xfrm>
          <a:prstGeom prst="roundRect">
            <a:avLst>
              <a:gd name="adj" fmla="val 4000"/>
            </a:avLst>
          </a:prstGeom>
          <a:solidFill>
            <a:srgbClr val="DEF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529584" y="2005004"/>
            <a:ext cx="2752344" cy="54864"/>
          </a:xfrm>
          <a:prstGeom prst="rect">
            <a:avLst/>
          </a:prstGeom>
          <a:solidFill>
            <a:srgbClr val="5CE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66744" y="2187884"/>
            <a:ext cx="2478024" cy="5486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3200" b="1">
                <a:solidFill>
                  <a:srgbClr val="5CE4FF"/>
                </a:solidFill>
                <a:latin typeface="Noto Sans JP"/>
              </a:rPr>
              <a:t>M365内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66744" y="2736524"/>
            <a:ext cx="2478024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600" b="1">
                <a:solidFill>
                  <a:srgbClr val="181F25"/>
                </a:solidFill>
                <a:latin typeface="Noto Sans JP"/>
              </a:rPr>
              <a:t>M365付属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66744" y="3193724"/>
            <a:ext cx="2478024" cy="147218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ct val="140000"/>
              </a:lnSpc>
            </a:pPr>
            <a:r>
              <a:rPr sz="1200">
                <a:solidFill>
                  <a:srgbClr val="2B333B"/>
                </a:solidFill>
                <a:latin typeface="Noto Sans JP"/>
              </a:rPr>
              <a:t>Teams限定チャネル</a:t>
            </a:r>
          </a:p>
          <a:p>
            <a:pPr algn="ctr">
              <a:lnSpc>
                <a:spcPct val="140000"/>
              </a:lnSpc>
            </a:pPr>
            <a:r>
              <a:rPr sz="1200">
                <a:solidFill>
                  <a:srgbClr val="2B333B"/>
                </a:solidFill>
                <a:latin typeface="Noto Sans JP"/>
              </a:rPr>
              <a:t>標準コネクタ</a:t>
            </a:r>
          </a:p>
          <a:p>
            <a:pPr algn="ctr">
              <a:lnSpc>
                <a:spcPct val="140000"/>
              </a:lnSpc>
            </a:pPr>
            <a:r>
              <a:rPr sz="1200">
                <a:solidFill>
                  <a:srgbClr val="2B333B"/>
                </a:solidFill>
                <a:latin typeface="Noto Sans JP"/>
              </a:rPr>
              <a:t>基本機能</a:t>
            </a:r>
          </a:p>
        </p:txBody>
      </p:sp>
      <p:sp>
        <p:nvSpPr>
          <p:cNvPr id="16" name="stat_box_2"/>
          <p:cNvSpPr/>
          <p:nvPr/>
        </p:nvSpPr>
        <p:spPr>
          <a:xfrm>
            <a:off x="6601968" y="2005004"/>
            <a:ext cx="2752344" cy="2843784"/>
          </a:xfrm>
          <a:prstGeom prst="roundRect">
            <a:avLst>
              <a:gd name="adj" fmla="val 4000"/>
            </a:avLst>
          </a:prstGeom>
          <a:solidFill>
            <a:srgbClr val="DEF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601968" y="2005004"/>
            <a:ext cx="2752344" cy="54864"/>
          </a:xfrm>
          <a:prstGeom prst="rect">
            <a:avLst/>
          </a:prstGeom>
          <a:solidFill>
            <a:srgbClr val="B1D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739128" y="2187884"/>
            <a:ext cx="2478024" cy="5486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3200" b="1">
                <a:solidFill>
                  <a:srgbClr val="B1D6FC"/>
                </a:solidFill>
                <a:latin typeface="Calibri"/>
              </a:rPr>
              <a:t>Premium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39128" y="2736524"/>
            <a:ext cx="2478024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600" b="1">
                <a:solidFill>
                  <a:srgbClr val="181F25"/>
                </a:solidFill>
                <a:latin typeface="Noto Sans JP"/>
              </a:rPr>
              <a:t>スタンドアロン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39128" y="3193724"/>
            <a:ext cx="2478024" cy="147218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ct val="140000"/>
              </a:lnSpc>
            </a:pPr>
            <a:r>
              <a:rPr sz="1200">
                <a:solidFill>
                  <a:srgbClr val="2B333B"/>
                </a:solidFill>
                <a:latin typeface="Noto Sans JP"/>
              </a:rPr>
              <a:t>全チャネル展開</a:t>
            </a:r>
          </a:p>
          <a:p>
            <a:pPr algn="ctr">
              <a:lnSpc>
                <a:spcPct val="140000"/>
              </a:lnSpc>
            </a:pPr>
            <a:r>
              <a:rPr sz="1200">
                <a:solidFill>
                  <a:srgbClr val="2B333B"/>
                </a:solidFill>
                <a:latin typeface="Noto Sans JP"/>
              </a:rPr>
              <a:t>Premiumコネクタ</a:t>
            </a:r>
          </a:p>
          <a:p>
            <a:pPr algn="ctr">
              <a:lnSpc>
                <a:spcPct val="140000"/>
              </a:lnSpc>
            </a:pPr>
            <a:r>
              <a:rPr sz="1200">
                <a:solidFill>
                  <a:srgbClr val="2B333B"/>
                </a:solidFill>
                <a:latin typeface="Noto Sans JP"/>
              </a:rPr>
              <a:t>生成オーケストレーション / ALM</a:t>
            </a:r>
          </a:p>
        </p:txBody>
      </p:sp>
      <p:sp>
        <p:nvSpPr>
          <p:cNvPr id="21" name="footer_note"/>
          <p:cNvSpPr/>
          <p:nvPr/>
        </p:nvSpPr>
        <p:spPr>
          <a:xfrm>
            <a:off x="457200" y="4919472"/>
            <a:ext cx="8897112" cy="658368"/>
          </a:xfrm>
          <a:prstGeom prst="roundRect">
            <a:avLst>
              <a:gd name="adj" fmla="val 4000"/>
            </a:avLst>
          </a:prstGeom>
          <a:solidFill>
            <a:srgbClr val="D8E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>
            <a:norm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2B333B"/>
                </a:solidFill>
                <a:latin typeface="Noto Sans JP"/>
              </a:rPr>
              <a:t>従量課金制 — Copilotクレジットベースの柔軟な課金オプション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wiss_left_bar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CE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swiss_hrule"/>
          <p:cNvSpPr/>
          <p:nvPr/>
        </p:nvSpPr>
        <p:spPr>
          <a:xfrm>
            <a:off x="457200" y="2448306"/>
            <a:ext cx="1371600" cy="36576"/>
          </a:xfrm>
          <a:prstGeom prst="rect">
            <a:avLst/>
          </a:prstGeom>
          <a:solidFill>
            <a:srgbClr val="5CE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itle"/>
          <p:cNvSpPr txBox="1"/>
          <p:nvPr/>
        </p:nvSpPr>
        <p:spPr>
          <a:xfrm>
            <a:off x="685800" y="457200"/>
            <a:ext cx="8449056" cy="1015624"/>
          </a:xfrm>
          <a:prstGeom prst="rect">
            <a:avLst/>
          </a:prstGeom>
          <a:noFill/>
        </p:spPr>
        <p:txBody>
          <a:bodyPr wrap="square" lIns="73152" tIns="36576" rIns="73152" bIns="36576">
            <a:noAutofit/>
          </a:bodyPr>
          <a:lstStyle/>
          <a:p>
            <a:pPr algn="l"/>
            <a:r>
              <a:rPr sz="2000" b="1">
                <a:solidFill>
                  <a:srgbClr val="181F25"/>
                </a:solidFill>
                <a:latin typeface="Noto Sans JP"/>
              </a:rPr>
              <a:t>DLP・監査ログ・CMK・MIPラベルなど、企業レベルのセキュリティ制御がプラットフォームに標準装備されている</a:t>
            </a:r>
          </a:p>
        </p:txBody>
      </p:sp>
      <p:sp>
        <p:nvSpPr>
          <p:cNvPr id="5" name="key_message"/>
          <p:cNvSpPr txBox="1"/>
          <p:nvPr/>
        </p:nvSpPr>
        <p:spPr>
          <a:xfrm>
            <a:off x="685800" y="1637416"/>
            <a:ext cx="8449056" cy="646297"/>
          </a:xfrm>
          <a:prstGeom prst="rect">
            <a:avLst/>
          </a:prstGeom>
          <a:noFill/>
        </p:spPr>
        <p:txBody>
          <a:bodyPr wrap="square" lIns="73152" tIns="36576" rIns="73152" bIns="36576">
            <a:noAutofit/>
          </a:bodyPr>
          <a:lstStyle/>
          <a:p>
            <a:pPr algn="l"/>
            <a:r>
              <a:rPr sz="1300" b="0">
                <a:solidFill>
                  <a:srgbClr val="2B333B"/>
                </a:solidFill>
                <a:latin typeface="Noto Sans JP"/>
              </a:rPr>
              <a:t>エンタープライズガバナンス：セキュリティは組み込み済み</a:t>
            </a:r>
          </a:p>
        </p:txBody>
      </p:sp>
      <p:sp>
        <p:nvSpPr>
          <p:cNvPr id="6" name="card_0"/>
          <p:cNvSpPr/>
          <p:nvPr/>
        </p:nvSpPr>
        <p:spPr>
          <a:xfrm>
            <a:off x="457200" y="2649474"/>
            <a:ext cx="4306824" cy="923544"/>
          </a:xfrm>
          <a:prstGeom prst="roundRect">
            <a:avLst>
              <a:gd name="adj" fmla="val 4000"/>
            </a:avLst>
          </a:prstGeom>
          <a:solidFill>
            <a:srgbClr val="DEF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>
            <a:norm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81F25"/>
                </a:solidFill>
                <a:latin typeface="Noto Sans JP"/>
              </a:rPr>
              <a:t>データ損失防止（DLP）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2B333B"/>
                </a:solidFill>
                <a:latin typeface="Noto Sans JP"/>
              </a:rPr>
              <a:t>Power Platform データポリシーでコネクタ・チャネル・生成AIを制御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49474"/>
            <a:ext cx="73152" cy="923544"/>
          </a:xfrm>
          <a:prstGeom prst="rect">
            <a:avLst/>
          </a:prstGeom>
          <a:solidFill>
            <a:srgbClr val="5CE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card_1"/>
          <p:cNvSpPr/>
          <p:nvPr/>
        </p:nvSpPr>
        <p:spPr>
          <a:xfrm>
            <a:off x="5056632" y="2649474"/>
            <a:ext cx="4306824" cy="923544"/>
          </a:xfrm>
          <a:prstGeom prst="roundRect">
            <a:avLst>
              <a:gd name="adj" fmla="val 4000"/>
            </a:avLst>
          </a:prstGeom>
          <a:solidFill>
            <a:srgbClr val="D8E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>
            <a:norm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81F25"/>
                </a:solidFill>
                <a:latin typeface="Noto Sans JP"/>
              </a:rPr>
              <a:t>監査とモニタリング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2B333B"/>
                </a:solidFill>
                <a:latin typeface="Noto Sans JP"/>
              </a:rPr>
              <a:t>Microsoft Purview＋Sentinel で作成者・ユーザー行動を完全可視化</a:t>
            </a:r>
          </a:p>
        </p:txBody>
      </p:sp>
      <p:sp>
        <p:nvSpPr>
          <p:cNvPr id="9" name="Rectangle 8"/>
          <p:cNvSpPr/>
          <p:nvPr/>
        </p:nvSpPr>
        <p:spPr>
          <a:xfrm>
            <a:off x="5056632" y="2649474"/>
            <a:ext cx="73152" cy="923544"/>
          </a:xfrm>
          <a:prstGeom prst="rect">
            <a:avLst/>
          </a:prstGeom>
          <a:solidFill>
            <a:srgbClr val="A8FA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card_2"/>
          <p:cNvSpPr/>
          <p:nvPr/>
        </p:nvSpPr>
        <p:spPr>
          <a:xfrm>
            <a:off x="457200" y="3829050"/>
            <a:ext cx="4306824" cy="923544"/>
          </a:xfrm>
          <a:prstGeom prst="roundRect">
            <a:avLst>
              <a:gd name="adj" fmla="val 4000"/>
            </a:avLst>
          </a:prstGeom>
          <a:solidFill>
            <a:srgbClr val="DEF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>
            <a:norm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81F25"/>
                </a:solidFill>
                <a:latin typeface="Noto Sans JP"/>
              </a:rPr>
              <a:t>暗号化とデータ所在地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2B333B"/>
                </a:solidFill>
                <a:latin typeface="Noto Sans JP"/>
              </a:rPr>
              <a:t>CMK対応、地理的データレジデンシー準拠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829050"/>
            <a:ext cx="73152" cy="923544"/>
          </a:xfrm>
          <a:prstGeom prst="rect">
            <a:avLst/>
          </a:prstGeom>
          <a:solidFill>
            <a:srgbClr val="B1D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card_3"/>
          <p:cNvSpPr/>
          <p:nvPr/>
        </p:nvSpPr>
        <p:spPr>
          <a:xfrm>
            <a:off x="5056632" y="3829050"/>
            <a:ext cx="4306824" cy="923544"/>
          </a:xfrm>
          <a:prstGeom prst="roundRect">
            <a:avLst>
              <a:gd name="adj" fmla="val 4000"/>
            </a:avLst>
          </a:prstGeom>
          <a:solidFill>
            <a:srgbClr val="D8E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>
            <a:norm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81F25"/>
                </a:solidFill>
                <a:latin typeface="Noto Sans JP"/>
              </a:rPr>
              <a:t>感度ラベル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2B333B"/>
                </a:solidFill>
                <a:latin typeface="Noto Sans JP"/>
              </a:rPr>
              <a:t>MIPラベルがSharePointナレッジソースからエージェント応答まで一貫適用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56632" y="3829050"/>
            <a:ext cx="73152" cy="923544"/>
          </a:xfrm>
          <a:prstGeom prst="rect">
            <a:avLst/>
          </a:prstGeom>
          <a:solidFill>
            <a:srgbClr val="A5F3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08-image-fa181b767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11512" y="434608"/>
            <a:ext cx="1920240" cy="187398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wiss_left_bar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A5F3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swiss_hrule"/>
          <p:cNvSpPr/>
          <p:nvPr/>
        </p:nvSpPr>
        <p:spPr>
          <a:xfrm>
            <a:off x="457200" y="1986716"/>
            <a:ext cx="1371600" cy="36576"/>
          </a:xfrm>
          <a:prstGeom prst="rect">
            <a:avLst/>
          </a:prstGeom>
          <a:solidFill>
            <a:srgbClr val="A5F3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itle"/>
          <p:cNvSpPr txBox="1"/>
          <p:nvPr/>
        </p:nvSpPr>
        <p:spPr>
          <a:xfrm>
            <a:off x="685800" y="457200"/>
            <a:ext cx="8449056" cy="554034"/>
          </a:xfrm>
          <a:prstGeom prst="rect">
            <a:avLst/>
          </a:prstGeom>
          <a:noFill/>
        </p:spPr>
        <p:txBody>
          <a:bodyPr wrap="square" lIns="73152" tIns="36576" rIns="73152" bIns="36576">
            <a:noAutofit/>
          </a:bodyPr>
          <a:lstStyle/>
          <a:p>
            <a:pPr algn="l"/>
            <a:r>
              <a:rPr sz="2200" b="1">
                <a:solidFill>
                  <a:srgbClr val="181F25"/>
                </a:solidFill>
                <a:latin typeface="Noto Sans JP"/>
              </a:rPr>
              <a:t>試用版開始→PoC構築→本番展開の3フェーズで、リスクを最小化しながら迅速に導入できる</a:t>
            </a:r>
          </a:p>
        </p:txBody>
      </p:sp>
      <p:sp>
        <p:nvSpPr>
          <p:cNvPr id="5" name="key_message"/>
          <p:cNvSpPr txBox="1"/>
          <p:nvPr/>
        </p:nvSpPr>
        <p:spPr>
          <a:xfrm>
            <a:off x="685800" y="1175826"/>
            <a:ext cx="8449056" cy="646297"/>
          </a:xfrm>
          <a:prstGeom prst="rect">
            <a:avLst/>
          </a:prstGeom>
          <a:noFill/>
        </p:spPr>
        <p:txBody>
          <a:bodyPr wrap="square" lIns="73152" tIns="36576" rIns="73152" bIns="36576">
            <a:noAutofit/>
          </a:bodyPr>
          <a:lstStyle/>
          <a:p>
            <a:pPr algn="l"/>
            <a:r>
              <a:rPr sz="1400" b="0">
                <a:solidFill>
                  <a:srgbClr val="2B333B"/>
                </a:solidFill>
                <a:latin typeface="Noto Sans JP"/>
              </a:rPr>
              <a:t>推奨アクション：90日間の導入ロードマップ</a:t>
            </a:r>
          </a:p>
        </p:txBody>
      </p:sp>
      <p:sp>
        <p:nvSpPr>
          <p:cNvPr id="6" name="phase_num_0"/>
          <p:cNvSpPr/>
          <p:nvPr/>
        </p:nvSpPr>
        <p:spPr>
          <a:xfrm>
            <a:off x="457200" y="2187884"/>
            <a:ext cx="1097280" cy="1005840"/>
          </a:xfrm>
          <a:prstGeom prst="roundRect">
            <a:avLst>
              <a:gd name="adj" fmla="val 4000"/>
            </a:avLst>
          </a:prstGeom>
          <a:solidFill>
            <a:srgbClr val="A8FA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>
            <a:norm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181F25"/>
                </a:solidFill>
                <a:latin typeface="Calibri"/>
              </a:rPr>
              <a:t>Phase 1</a:t>
            </a:r>
          </a:p>
        </p:txBody>
      </p:sp>
      <p:sp>
        <p:nvSpPr>
          <p:cNvPr id="7" name="phase_body_0"/>
          <p:cNvSpPr/>
          <p:nvPr/>
        </p:nvSpPr>
        <p:spPr>
          <a:xfrm>
            <a:off x="1691639" y="2187884"/>
            <a:ext cx="7662672" cy="1005840"/>
          </a:xfrm>
          <a:prstGeom prst="roundRect">
            <a:avLst>
              <a:gd name="adj" fmla="val 4000"/>
            </a:avLst>
          </a:prstGeom>
          <a:solidFill>
            <a:srgbClr val="DEF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>
            <a:norm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2B333B"/>
                </a:solidFill>
                <a:latin typeface="Noto Sans JP"/>
              </a:rPr>
              <a:t>無料試用版でサインアップ、IT部門Q&amp;AエージェントでPoCを構築</a:t>
            </a:r>
          </a:p>
        </p:txBody>
      </p:sp>
      <p:sp>
        <p:nvSpPr>
          <p:cNvPr id="8" name="phase_num_1"/>
          <p:cNvSpPr/>
          <p:nvPr/>
        </p:nvSpPr>
        <p:spPr>
          <a:xfrm>
            <a:off x="457200" y="3376604"/>
            <a:ext cx="1097280" cy="1005840"/>
          </a:xfrm>
          <a:prstGeom prst="roundRect">
            <a:avLst>
              <a:gd name="adj" fmla="val 4000"/>
            </a:avLst>
          </a:prstGeom>
          <a:solidFill>
            <a:srgbClr val="5CE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>
            <a:norm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181F25"/>
                </a:solidFill>
                <a:latin typeface="Calibri"/>
              </a:rPr>
              <a:t>Phase 2</a:t>
            </a:r>
          </a:p>
        </p:txBody>
      </p:sp>
      <p:sp>
        <p:nvSpPr>
          <p:cNvPr id="9" name="phase_body_1"/>
          <p:cNvSpPr/>
          <p:nvPr/>
        </p:nvSpPr>
        <p:spPr>
          <a:xfrm>
            <a:off x="1691639" y="3376604"/>
            <a:ext cx="7662672" cy="1005840"/>
          </a:xfrm>
          <a:prstGeom prst="roundRect">
            <a:avLst>
              <a:gd name="adj" fmla="val 4000"/>
            </a:avLst>
          </a:prstGeom>
          <a:solidFill>
            <a:srgbClr val="DEF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>
            <a:norm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2B333B"/>
                </a:solidFill>
                <a:latin typeface="Noto Sans JP"/>
              </a:rPr>
              <a:t>Agent Builder vs Copilot Studio の使い分けを確定、DLPポリシー設計</a:t>
            </a:r>
          </a:p>
        </p:txBody>
      </p:sp>
      <p:sp>
        <p:nvSpPr>
          <p:cNvPr id="10" name="phase_num_2"/>
          <p:cNvSpPr/>
          <p:nvPr/>
        </p:nvSpPr>
        <p:spPr>
          <a:xfrm>
            <a:off x="457200" y="4565324"/>
            <a:ext cx="1097280" cy="1005840"/>
          </a:xfrm>
          <a:prstGeom prst="roundRect">
            <a:avLst>
              <a:gd name="adj" fmla="val 4000"/>
            </a:avLst>
          </a:prstGeom>
          <a:solidFill>
            <a:srgbClr val="B1D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>
            <a:norm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181F25"/>
                </a:solidFill>
                <a:latin typeface="Calibri"/>
              </a:rPr>
              <a:t>Phase 3</a:t>
            </a:r>
          </a:p>
        </p:txBody>
      </p:sp>
      <p:sp>
        <p:nvSpPr>
          <p:cNvPr id="11" name="phase_body_2"/>
          <p:cNvSpPr/>
          <p:nvPr/>
        </p:nvSpPr>
        <p:spPr>
          <a:xfrm>
            <a:off x="1691639" y="4565324"/>
            <a:ext cx="7662672" cy="1005840"/>
          </a:xfrm>
          <a:prstGeom prst="roundRect">
            <a:avLst>
              <a:gd name="adj" fmla="val 4000"/>
            </a:avLst>
          </a:prstGeom>
          <a:solidFill>
            <a:srgbClr val="DEF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>
            <a:norm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2B333B"/>
                </a:solidFill>
                <a:latin typeface="Noto Sans JP"/>
              </a:rPr>
              <a:t>スタンドアロンライセンス取得、本番チャネル展開、監査ログ有効化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F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wiss_left_bar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A8FA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685800" y="457200"/>
            <a:ext cx="8449056" cy="554034"/>
          </a:xfrm>
          <a:prstGeom prst="rect">
            <a:avLst/>
          </a:prstGeom>
          <a:noFill/>
        </p:spPr>
        <p:txBody>
          <a:bodyPr wrap="square" lIns="73152" tIns="36576" rIns="73152" bIns="36576">
            <a:noAutofit/>
          </a:bodyPr>
          <a:lstStyle/>
          <a:p>
            <a:pPr algn="l"/>
            <a:r>
              <a:rPr sz="3000" b="1">
                <a:solidFill>
                  <a:srgbClr val="A8FAD8"/>
                </a:solidFill>
                <a:latin typeface="Calibri"/>
              </a:rPr>
              <a:t>Next Steps</a:t>
            </a:r>
          </a:p>
        </p:txBody>
      </p:sp>
      <p:sp>
        <p:nvSpPr>
          <p:cNvPr id="4" name="key_message"/>
          <p:cNvSpPr txBox="1"/>
          <p:nvPr/>
        </p:nvSpPr>
        <p:spPr>
          <a:xfrm>
            <a:off x="685800" y="1175826"/>
            <a:ext cx="8449056" cy="369326"/>
          </a:xfrm>
          <a:prstGeom prst="rect">
            <a:avLst/>
          </a:prstGeom>
          <a:noFill/>
        </p:spPr>
        <p:txBody>
          <a:bodyPr wrap="square" lIns="73152" tIns="36576" rIns="73152" bIns="36576">
            <a:noAutofit/>
          </a:bodyPr>
          <a:lstStyle/>
          <a:p>
            <a:pPr algn="l"/>
            <a:r>
              <a:rPr sz="1600" b="0">
                <a:solidFill>
                  <a:srgbClr val="FCFCFD"/>
                </a:solidFill>
                <a:latin typeface="Noto Sans JP"/>
              </a:rPr>
              <a:t>今日から始められる3つの具体的アクションがある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37761"/>
            <a:ext cx="1828800" cy="36576"/>
          </a:xfrm>
          <a:prstGeom prst="rect">
            <a:avLst/>
          </a:prstGeom>
          <a:solidFill>
            <a:srgbClr val="A8FA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548640" y="3139287"/>
            <a:ext cx="365760" cy="365760"/>
          </a:xfrm>
          <a:prstGeom prst="ellipse">
            <a:avLst/>
          </a:prstGeom>
          <a:solidFill>
            <a:srgbClr val="A8FA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181F25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944185"/>
            <a:ext cx="8165592" cy="75596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600">
                <a:solidFill>
                  <a:srgbClr val="FCFCFD"/>
                </a:solidFill>
                <a:latin typeface="Noto Sans JP"/>
              </a:rPr>
              <a:t>copilotstudio.microsoft.com で無料試用版にサインアップ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4078132"/>
            <a:ext cx="365760" cy="365760"/>
          </a:xfrm>
          <a:prstGeom prst="ellipse">
            <a:avLst/>
          </a:prstGeom>
          <a:solidFill>
            <a:srgbClr val="5CE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181F25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883030"/>
            <a:ext cx="8165592" cy="75596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600">
                <a:solidFill>
                  <a:srgbClr val="FCFCFD"/>
                </a:solidFill>
                <a:latin typeface="Noto Sans JP"/>
              </a:rPr>
              <a:t>自社のユースケースを特定し、最初のエージェントPoCを構築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5016977"/>
            <a:ext cx="365760" cy="365760"/>
          </a:xfrm>
          <a:prstGeom prst="ellipse">
            <a:avLst/>
          </a:prstGeom>
          <a:solidFill>
            <a:srgbClr val="B1D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181F25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821875"/>
            <a:ext cx="8165592" cy="75596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600">
                <a:solidFill>
                  <a:srgbClr val="FCFCFD"/>
                </a:solidFill>
                <a:latin typeface="Noto Sans JP"/>
              </a:rPr>
              <a:t>IT管理者と連携し、DLPポリシーと監査ログの設計を開始</a:t>
            </a:r>
          </a:p>
        </p:txBody>
      </p:sp>
      <p:pic>
        <p:nvPicPr>
          <p:cNvPr id="12" name="Picture 11" descr="arrow-right_A8FAD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87584" y="987552"/>
            <a:ext cx="768096" cy="768096"/>
          </a:xfrm>
          <a:prstGeom prst="rect">
            <a:avLst/>
          </a:prstGeom>
        </p:spPr>
      </p:pic>
      <p:sp>
        <p:nvSpPr>
          <p:cNvPr id="13" name="notes_body"/>
          <p:cNvSpPr txBox="1"/>
          <p:nvPr/>
        </p:nvSpPr>
        <p:spPr>
          <a:xfrm>
            <a:off x="457200" y="5650992"/>
            <a:ext cx="11277295" cy="640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>
                <a:solidFill>
                  <a:srgbClr val="D8EBFD"/>
                </a:solidFill>
                <a:latin typeface="Calibri"/>
              </a:rPr>
              <a:t>Source: Microsoft Learn — Copilot Studio Documentation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87ba5c36-b7cf-4793-bbc2-bd5b3a9f95ca}" enabled="1" method="Privilege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536</Words>
  <Application>Microsoft Office PowerPoint</Application>
  <PresentationFormat>Widescreen</PresentationFormat>
  <Paragraphs>111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Noto Sans JP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Taeho Kim</cp:lastModifiedBy>
  <cp:revision>4</cp:revision>
  <dcterms:created xsi:type="dcterms:W3CDTF">2013-01-27T09:14:16Z</dcterms:created>
  <dcterms:modified xsi:type="dcterms:W3CDTF">2026-03-23T07:07:36Z</dcterms:modified>
  <cp:category/>
</cp:coreProperties>
</file>