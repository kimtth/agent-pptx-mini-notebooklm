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1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 sets the thesis: Copilot Studio enables any organization to build and deploy AI agents without deep technical expertise, backed by enterprise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Pyramid conclusion first: present the three pillars that make Copilot Studio the optimal choice before diving into supporting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the audience faces. Each barrier maps directly to a Copilot Studio capability introduced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each capability to the barriers on the previous slide: agents solve the talent gap, flows solve the scale gap, knowledge solves the integration gap, channels solve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Based on the official Microsoft decision tree: audience scope, deployment breadth, functionality depth, and governance requirements determine the right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Chronological evidence proving continuous investment. Each release addresses real enterprise needs — governance, developer experience, model choice, and automation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Lower the financial objection by showing a clear on-ramp. The free trial removes all initial cost barriers; the M365 path leverages existing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Address the governance barrier head-on. Every control listed is available today, not on a roadmap. Link to the security-and-governance source for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Concrete, time-boxed actions remove ambiguity. Each phase maps to a licensing tier introduced on the cost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clear, actionable next steps. Each action is achievable within one business day to create immediate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microsoft-copilot-studio-transform-operations-with-low-code--d80c5481f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653284"/>
            <a:ext cx="3337560" cy="256497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495592"/>
            <a:ext cx="8238744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81F25"/>
                </a:solidFill>
                <a:latin typeface="Calibri"/>
              </a:rPr>
              <a:t>Microsoft Copilot Studio — Transform Operations with Low-Code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64484"/>
            <a:ext cx="8238744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0">
                <a:solidFill>
                  <a:srgbClr val="2B333B"/>
                </a:solidFill>
                <a:latin typeface="Calibri"/>
              </a:rPr>
              <a:t>The era of AI-driven operations is here — build with low-code, deploy on enterprise-grade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87552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Build intelligent AI agents with a low-code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Unified with the Microsoft 365 and Power Platform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Adoption Guide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Conclusion: Copilot Studio Wins on Speed, Integration,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The only platform that delivers low-code development, enterprise integration, and robust governance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Rapid Build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Deploy AI agents in hours without developers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54864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5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Seamless Integration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Connect instantly to M365, Dynamics 365, and external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54864" cy="923544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Robust Governance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Maintain enterprise standards with DLP, audit logs, and MIP 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54864" cy="923544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Reality Check: Three Barriers Block Enterprise AI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Talent shortages, data silos, and governance gaps are stalling AI initiatives beyond the PoC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649474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2919507"/>
            <a:ext cx="109728" cy="109728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704338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Talent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Data scientists and developers are scarce, stalling projects at the PoC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08997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3679031"/>
            <a:ext cx="109728" cy="109728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463861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Integration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Siloed data and processes prevent organization-wide AI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8521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" y="4438554"/>
            <a:ext cx="109728" cy="109728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23384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Governance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Security and compliance standards for generative AI remain undefined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28044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5198078"/>
            <a:ext cx="109728" cy="109728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982908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Scale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Transitioning from PoC to production takes too long and costs too much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Solution: A Platform That Autonomizes Work with Agents and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Conversational AI, task automation, knowledge integration, and multi-channel deployment — all in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Agents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AI companions that converse, decide, and act autonomously using NLU and generative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4306824" cy="4572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Agent Flows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Automate repetitive tasks with natural language or a visual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4306824" cy="4572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Knowledge Integration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Retrieve real-time knowledge from SharePoint, Graph, and external connectors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4306824" cy="45720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56632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5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Multi-Channel Deployment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Publish to Teams, Web, Mobile, WhatsApp, and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4306824" cy="45720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Choose Your Tool: Agent Builder vs. Copilot Studio by Scope and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Use Agent Builder for lightweight Q&amp;A; choose Copilot Studio for advanced workflows and external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34256" cy="2928366"/>
          </a:xfrm>
          <a:prstGeom prst="roundRect">
            <a:avLst/>
          </a:prstGeom>
          <a:solidFill>
            <a:srgbClr val="DEFCF0"/>
          </a:solidFill>
          <a:ln w="1905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4334256" cy="411480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M365 Agent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2394"/>
            <a:ext cx="4059936" cy="23340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For individuals and small teams; natural language authoring; SharePoint Q&amp;A focus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Create in Agent Builder → Copy to Copilot Studio to unlock advanced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2649474"/>
            <a:ext cx="4334256" cy="2928366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0056" y="2649474"/>
            <a:ext cx="4334256" cy="41148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3152394"/>
            <a:ext cx="4059936" cy="23340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For departments, organizations, and external customers; multi-step workflows; Premium connectors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Select based on target audience size, feature requirements, and governance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Proof of Momentum: Six Major Releases in Six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4597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GPT-5 support, Computer-Using Agents, MCP integration, and more — rapid innovation validates platform longevity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6542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466594"/>
            <a:ext cx="36576" cy="310896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84882"/>
            <a:ext cx="219456" cy="219456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430018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Sep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30018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Computer-Using Agents (CUA) preview, Client SDK for native apps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003438"/>
            <a:ext cx="219456" cy="219456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948574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Oct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48574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GPT-4.1 as default model, MCP server integration, agent evaluation test sets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21994"/>
            <a:ext cx="219456" cy="219456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3467130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Nov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7130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GPT-5 GA rollout, multi-agent orchestration, SharePoint metadata filters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040550"/>
            <a:ext cx="219456" cy="219456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985686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Jan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85686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VS Code extension GA, Cloud PC pooling, enhanced evaluation with activity maps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559106"/>
            <a:ext cx="219456" cy="219456"/>
          </a:xfrm>
          <a:prstGeom prst="ellipse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504242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Feb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04242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Claude Sonnet 4.5 for CUA, prompt builder enhancements with new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5077663"/>
            <a:ext cx="219456" cy="219456"/>
          </a:xfrm>
          <a:prstGeom prst="ellipse">
            <a:avLst/>
          </a:prstGeom>
          <a:solidFill>
            <a:srgbClr val="75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5022799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Mar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22799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Work IQ tool integration (preview) for real-time Microsoft 365 insights</a:t>
            </a:r>
          </a:p>
        </p:txBody>
      </p:sp>
      <p:pic>
        <p:nvPicPr>
          <p:cNvPr id="25" name="Picture 24" descr="calendar_B1D6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Adoption Cost: Three Paths to Start with Minimal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4597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Free trial → M365 subscription → Standalone license: a staged approach that minimizes financial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6542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466594"/>
            <a:ext cx="2752344" cy="5486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Free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Sign up and start immediately; extend 30 days; agents run 90 days post-expiry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9584" y="2466594"/>
            <a:ext cx="2752344" cy="5486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M365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Teams-only channel, standard connectors, basic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01968" y="2466594"/>
            <a:ext cx="2752344" cy="5486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7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Standalone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All channels, Premium connectors, generative orchestration, full ALM</a:t>
            </a:r>
          </a:p>
        </p:txBody>
      </p:sp>
      <p:sp>
        <p:nvSpPr>
          <p:cNvPr id="18" name="footer_paygo"/>
          <p:cNvSpPr/>
          <p:nvPr/>
        </p:nvSpPr>
        <p:spPr>
          <a:xfrm>
            <a:off x="457200" y="4919472"/>
            <a:ext cx="8897112" cy="658368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Pay-As-You-Go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Flexible billing via Copilot Credits based on actual consumption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Governance: Enterprise-Grade Security Is Built In, Not Bolted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DLP, audit logs, CMK, and MIP labels are embedded in the platform — no extra configuration for baseline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Data Loss Prevention (DLP)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Power Platform data policies control connectors, channels, and generative AI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54864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Audit &amp; Monitoring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Microsoft Purview + Sentinel provide full visibility into maker and user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54864" cy="92354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Encryption &amp; Data Residency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Customer-managed keys (CMK) and geographic data residency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54864" cy="923544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56632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Sensitivity Labels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MIP labels propagate consistently from SharePoint sources to agent 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54864" cy="92354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Execution Plan: From Trial to Production in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5826"/>
            <a:ext cx="8449056" cy="3693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A three-phase roadmap that minimizes risk while accelerating time-to-value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09745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10913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235525"/>
            <a:ext cx="502920" cy="402336"/>
          </a:xfrm>
          <a:prstGeom prst="round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84065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1 (Days 1–30)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Sign up for free trial; build an IT helpdesk Q&amp;A agent as PoC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27065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3451677"/>
            <a:ext cx="502920" cy="402336"/>
          </a:xfrm>
          <a:prstGeom prst="round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00217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2 (Days 31–60)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Finalize Agent Builder vs. Copilot Studio decision; design DLP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217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4667829"/>
            <a:ext cx="502920" cy="402336"/>
          </a:xfrm>
          <a:prstGeom prst="round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16369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3 (Days 61–90)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Acquire standalone license; deploy to production channels; enable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81F25"/>
                </a:solidFill>
                <a:latin typeface="Calibri"/>
              </a:rPr>
              <a:t>Start Today: Three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5826"/>
            <a:ext cx="8449056" cy="3693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Sign up, build your first agent, and set up governance — start moving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09745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10913"/>
            <a:ext cx="8897112" cy="868680"/>
          </a:xfrm>
          <a:prstGeom prst="roundRect">
            <a:avLst/>
          </a:prstGeom>
          <a:solidFill>
            <a:srgbClr val="DEFCF0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Sign up, build your first agent, and set up governance — start moving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441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944185"/>
            <a:ext cx="54864" cy="77724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173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① Sign up for a free trial at copilotstudio.microsoft.com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585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858585"/>
            <a:ext cx="54864" cy="77724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7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② Identify your top use case and build your first agent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729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4772985"/>
            <a:ext cx="54864" cy="777240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8461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③ Partner with IT to design DLP policies and enable audit logging</a:t>
            </a:r>
          </a:p>
        </p:txBody>
      </p:sp>
      <p:pic>
        <p:nvPicPr>
          <p:cNvPr id="16" name="Picture 15" descr="10-start-today-three-immediate-actions-839cb11b5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831532"/>
            <a:ext cx="1920240" cy="1080135"/>
          </a:xfrm>
          <a:prstGeom prst="rect">
            <a:avLst/>
          </a:prstGeom>
        </p:spPr>
      </p:pic>
      <p:pic>
        <p:nvPicPr>
          <p:cNvPr id="17" name="Picture 16" descr="arrow-right_5CE4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1059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Taeho Kim</cp:lastModifiedBy>
  <cp:revision>2</cp:revision>
  <dcterms:created xsi:type="dcterms:W3CDTF">2013-01-27T09:14:16Z</dcterms:created>
  <dcterms:modified xsi:type="dcterms:W3CDTF">2026-03-23T07:06:19Z</dcterms:modified>
  <cp:category/>
</cp:coreProperties>
</file>