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96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2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opening slide states the governing thought for the deck. Every later section tests that claim through a MECE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explains how to read the extended deck. The length is intentional so users can later trim or tailor it for different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anchor MECE slide for the full storyboard. Each later section traces back to one of these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starts with the shared environment rather than specific tools. The goal is to show why Fabric feels like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the architectural core of Fabric. Later workload slides depend on this shared storage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links storage design to operating speed. The benefit is cumulative across multiple teams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frames openness as a strategic design choice. It also prepares the audience for later Iceberg and direct SQL access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platform slide, not a hosting detail. The point is that SaaS reduces the overhead before value creation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translates the platform into team behavior. Workspaces make the environment collaborative rather than purely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stays in the foundation branch because it explains how collaboration is governed at the platform level. It sets up later governance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user flow rather than infrastructure. Faster navigation compounds in multi-step analytics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explains why Fabric can scale across many personas. Familiar item conventions reduce friction when teams add new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adds an extension pattern to the platform story. It shows that common access does not always require immediate centralization.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platform slide introduces continuity from operational systems to analytical assets. It also foreshadows a larger innovation story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broadens the platform value beyond features. A common base matters most when multiple teams depend on 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converts architecture into flow. It shows how the platform supports a full operating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summarizes the first part of the platform story. It is a checkpoint before moving into more explicit workload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explicitly protects the framework. It tells the audience why some capability details appear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platform build-out by connecting the base layer to future expansion. The foundation is a multiplier for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concludes the foundation section. The next branch asks whether the workload portfolio matches the platform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opens the largest branch of the deck. The goal is to test the end-to-end claim in practical workload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links a conceptual lifecycle to the actual product structure. It sets the stage for the detailed workload subsections.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gives the lens for reading the next 70 slides. The experiences matter most as a coordinated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starts the engineering branch. It focuses on preparation depth rather than orchestration or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why engineering deserves its own branch. It is about preparing analytical assets, not just moving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a concrete operating model within engineering. It turns abstract preparation into a recognizable refinement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performance-aware engineering. Fabric does not hide all physical design choices from advanced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keeps the optimization theme moving. It indicates that engineering in Fabric is not just generic storage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balances SaaS simplicity with technical control. Fabric simplifies the environment without eliminating all optimization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synthesizes the engineering logic. The section now shifts toward engineer workflow details and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focuses on working style rather than only storage structure. Engineering must support trial-and-improve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protects the framework before the next workload section begins. It helps the audience separate build logic from orchestration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engineering subsection. It hands the story cleanly to Data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begins the orchestration branch. The focus is on landing and flow management rather than downstream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gives the Data Factory branch an immediate scale marker. Ingestion breadth is essential for enterprise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Fabric does not force all data acquisition into the same mold. That flexibility strengthens the end-to-end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grounds the section in a familiar operating pattern. Even modern platforms still depend heavily on schedules.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broadens the ingestion range beyond classic ETL. It supports the idea that Fabric covers several freshness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pragmatism. Many organizations need a path that does not begin with large-scale copying.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AI assistance within a specific workload. It shows how Fabric embeds productivity help inside operational build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balances accessibility with control. It keeps the narrative enterprise-safe rather than purely promotional.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operational prerequisites for AI in the Factory branch. Adoption depends on platform conditions, not only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expands the persona story in Data Factory. The workload matters partly because it broadens who can contribute productively.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reconnects Data Factory to the platform base. The front door is meaningful because it leads directly into the shared 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Data Factory subsection. The deck now moves from movement into exploration and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starts the science branch. The aim is to show that Fabric covers more than ETL and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why the science branch deserves its own place. It broadens the platform’s analytical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ties science directly to the foundation and engineering branches. The science workload becomes more useful because it is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science workflow rather than model catalog detail. Flexibility is central to exploratory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uses anomaly detection as a concrete bridge from specialist methods to broader adoption. It is a practical example of democratized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adds governance discipline to the science branch. It keeps the narrative credible for enterprise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the journey from insight to use. A platform-native science experience improves that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clarifies why science is a distinct workload. It broadens the meaning of end-to-end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science subsection. The next branch turns from exploration to event-driven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starts the real-time branch. The focus is on immediate signals rather than periodic refreshes or historical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makes the timing dimension explicit. Fabric covers multiple latency profiles on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grounds the branch in concrete release evidence. Streaming is not only a conceptual workload in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translates a release note into an enterprise implication. Real-time value depends on secure operational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interpretation over transport. The platform becomes more valuable when it surfaces what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latency coverage into a strategy point. One platform can serve both slow and fast rhythms.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why embedding real-time within Fabric matters. The value is not only faster visibility but stronger analytical follow-through.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real-time subsection. The next branch moves into structured SQL-heavy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begins the structured analytics branch. It is one of the most evidence-rich parts of the source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why the warehouse branch deserves depth. SQL remains a critical enterprise consumption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uses one of the clearest concrete warehouse capabilities from the source. It turns the warehouse into a richer operational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a feature detail into an operating implication. Time-bounded history improves control around SQL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highlights language evolution in the warehouse. SQL depth matters for technical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focuses on production practicality. MERGE is a strong signal of warehouse readiness for real transformation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strategically important because it connects warehouse depth back to OneLake. It reduces the seam between lake and warehouse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translates a technical feature into platform coherence. It makes the storage story legible to non-specialists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introduces AI productivity inside the warehouse branch. It shows Fabric layering assistance into structured analytics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balances accessibility with maturity awareness. It keeps the story useful for enterprise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converts a product transition into a portfolio-level conclusion. It suggests warehouse is becoming the structured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performance progress beyond syntax features. Query responsiveness is part of warehouse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important for cross-workload continuity. It suggests the warehouse is being connected more deeply into Fabric’s broader execution 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focuses on day-to-day analyst workflow. Small ergonomic features can materially improve platform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highlights performance intelligence in SQL execution. It shows Fabric’s structured engines are still evolving materially.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a feature into an operations story. Warehouse maturity depends partly on resource governance, not just query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adds another concrete example of SQL surface growth. Time bucketing is useful across many analytical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links warehouse usage to operational automation. Mature platforms need both analytical and administrative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synthesizes the warehouse story before shifting to the databases branch. It shows sustained investment rather than isolated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starts the databases branch. It complements the warehouse story without collapsing into the same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why the databases branch exists. It widens the SQL story beyond classic warehouse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explicitly protects the framework. It helps the audience separate the two structured-data experiences conceptually.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uses a concrete security-oriented SQL feature to connect databases with enterprise control expectations. Structured platforms must be governable as well as queryable.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structured engines are evolving toward newer access modes. That is important for modern analytical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a maintenance feature into an operations point. Mature platforms manage performance health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databases subsection. The remaining execution slides synthesize the whole portfolio before moving to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steps back to the whole execution branch. It shows how the six workloads collectively span the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reconnects the execution branch to the platform branch. Coverage matters most when handoffs stay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frames breadth as an operating advantage. It is not only a feature count but a standardization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execution branch. The deck now turns to governance and operations as the third MECE pillar.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begins the control branch. The goal is to show that Fabric can be adopted as an enterprise platform, not just a feature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links governance back to platform collaboration. Built-in access structures are the first layer of operational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governance is also about discoverability and confidence. Trust markings are essential in large shared estates.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broadens governance from permissions to information protection. Classification is a core enterprise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synthesizes the first governance layer. It highlights why native control is preferable to patched-on policy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scheduling into an operating model issue. Timing control is central to predictable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gives governance a concrete operational safeguard. Automatic stop conditions are a practical sign of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translates the 10-failure rule into a reliability lesson. Platforms need guardrails, not only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operations in Fabric extend into delivery methods. Version control is essential for repeatability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drills into one practical operating detail. Schedules matter more when they can travel with controlled deployment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operability rather than end-user analytics. Mature platforms need administrative surfaces beyond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treats transparency as a governance feature. Good operations depend on visible constraints as well as visible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expands operations beyond tooling into supportability. A platform only scales when users can recover from friction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connects operational control to notebook-centric workflows. Traceability is valuable across both engineering and science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bridges SQL governance and notebook governance. It shows the operating model is converging across work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pulls AI controls into the governance branch. Enterprise AI is governed by explicit administrative levers in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highlights a subtle but important control issue. AI enablement can have geographic and compliance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ties AI governance to financial and operational planning. Capacity thresholds are part of responsible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the cost example into an operating point. AI usage must be planned like any other shared platform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AI in Fabric is wrapped in enterprise control language. That matters for trust and rollout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gives a concrete example of AI governance in action. It reinforces that Fabric’s AI is embedded in enterprise records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synthesizes the governance branch. It shows that enterprise control is multi-dimensional in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control branch. The final capability block now turns to recent innovation and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begins the innovation branch. The goal is to show how Fabric is extending its platform edge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treats Copilot as a platform-wide productivity layer. It connects several separate source references into one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reuses the cost example inside the innovation branch to show scale. AI productivity is being framed as a serious platform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balances momentum with realism. Innovation is shaped by infrastructure geography as well as feature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makes mirroring a strategic theme rather than a small feature. It strengthens Fabric’s unification narrative materially.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uses a specific release to show ecosystem openness. Fabric’s platform boundary is becoming more permeable.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extends the open-format narrative started in the platform branch. Innovation here deepens the interoperability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Fabric is improving how external data participates in the platform. It makes adoption paths more pragmatic.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connects the innovation branch to the warehouse branch. It shows how openness becomes usable at the tool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how innovation reaches the structured-data layer. AI-era retrieval is influencing core engine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keeps the indexing narrative moving. Fabric’s SQL engines are evolving in more than one search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maintenance into innovation. Engine maturity is partly about automation behind the scenes.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groups practical SQL improvements into one takeaway. Innovation is strongest when users feel it in common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broadens innovation into platform administration. The point is that engine progress includes controls as well as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revisits snapshots from an innovation lens. The feature changes how teams can operate warehouses, not just how they query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treats productivity tooling as part of innovation. Better work surfaces can materially influence platform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that meaningful innovation often appears in operational hardening. Production fitness is a strategic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focuses on embedded AI. Adoption rises when assistance is present where work already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adds a broader AI-infused analytics angle. It shows Fabric blending productivity and analytical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the release stream into a momentum narrative. A platform with active depth expansion is easier to bet on strategically.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simplifies a long release stream into three themes. It creates an executive summary for the innovation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innovation branch at a high level. It prepares the final synthesis of all four capability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section begins the final synthesis. The goal is to recombine the MECE branches into one memorable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revisits the platform branch in one concise synthesis. It reminds the audience what underpins the full value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summarizes the execution branch for leadership audiences. Coverage is a strategic differentiator only when it is believable and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distills the controls branch into a short enterprise message. Breadth matters more when governance is 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the innovation stream into a strategic conclusion. Momentum raises confidence in the platform’s future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governing thought restated near the end of the deck. It is the single most important takeaway for executive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reframes the buying lens. Standardization value often matters more than any one product comparison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explains why the storyboard is long. It is a staging asset meant for refinement, not an immutable final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provides a short-form digest of the full deck. It is useful as a future starting point for a shorter executive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turns the content into action-oriented use. It shows how the storyboard can support decision-making rather than only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emphasizes alignment value across roles. Shared vocabulary lowers confusion in complex platform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marks the current workflow state. The story is staged and editable, not yet 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closing slide ends the prestaging workflow cleanly. The next step, if desired, is refinement or eventual PPTX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1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4.png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4.png"/><Relationship Id="rId4" Type="http://schemas.openxmlformats.org/officeDocument/2006/relationships/image" Target="../media/image1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5.png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9.png"/><Relationship Id="rId4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2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3.png"/><Relationship Id="rId4" Type="http://schemas.openxmlformats.org/officeDocument/2006/relationships/image" Target="../media/image7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5.png"/><Relationship Id="rId4" Type="http://schemas.openxmlformats.org/officeDocument/2006/relationships/image" Target="../media/image2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0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0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0.png"/><Relationship Id="rId4" Type="http://schemas.openxmlformats.org/officeDocument/2006/relationships/image" Target="../media/image22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9.png"/><Relationship Id="rId4" Type="http://schemas.openxmlformats.org/officeDocument/2006/relationships/image" Target="../media/image5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5.png"/><Relationship Id="rId4" Type="http://schemas.openxmlformats.org/officeDocument/2006/relationships/image" Target="../media/image2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2.png"/><Relationship Id="rId4" Type="http://schemas.openxmlformats.org/officeDocument/2006/relationships/image" Target="../media/image26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264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8.png"/><Relationship Id="rId4" Type="http://schemas.openxmlformats.org/officeDocument/2006/relationships/image" Target="../media/image8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0.png"/><Relationship Id="rId4" Type="http://schemas.openxmlformats.org/officeDocument/2006/relationships/image" Target="../media/image14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2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9.png"/><Relationship Id="rId4" Type="http://schemas.openxmlformats.org/officeDocument/2006/relationships/image" Target="../media/image278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5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0.png"/><Relationship Id="rId4" Type="http://schemas.openxmlformats.org/officeDocument/2006/relationships/image" Target="../media/image28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7.png"/><Relationship Id="rId4" Type="http://schemas.openxmlformats.org/officeDocument/2006/relationships/image" Target="../media/image29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8.png"/><Relationship Id="rId4" Type="http://schemas.openxmlformats.org/officeDocument/2006/relationships/image" Target="../media/image22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microsoft-fabric-unifies-data-analytics-and-ai-on-one-saas-f-31c1667c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70707"/>
            <a:ext cx="3337560" cy="1877377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1869216"/>
            <a:ext cx="7708392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Microsoft Fabric Unifies Data, Analytics, and AI on One SaaS Foundation</a:t>
            </a:r>
          </a:p>
        </p:txBody>
      </p:sp>
      <p:sp>
        <p:nvSpPr>
          <p:cNvPr id="4" name="key_message"/>
          <p:cNvSpPr txBox="1"/>
          <p:nvPr/>
        </p:nvSpPr>
        <p:spPr>
          <a:xfrm>
            <a:off x="457200" y="3524189"/>
            <a:ext cx="7708392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80" b="0">
                <a:solidFill>
                  <a:srgbClr val="1F2937"/>
                </a:solidFill>
                <a:latin typeface="Meiryo UI"/>
              </a:rPr>
              <a:t>Fabric’s central value is that it combines major analytics workloads on one shared platform instead of forcing teams across disconnected tools.</a:t>
            </a:r>
          </a:p>
        </p:txBody>
      </p:sp>
      <p:sp>
        <p:nvSpPr>
          <p:cNvPr id="5" name="chip_0"/>
          <p:cNvSpPr/>
          <p:nvPr/>
        </p:nvSpPr>
        <p:spPr>
          <a:xfrm>
            <a:off x="457200" y="4937760"/>
            <a:ext cx="2459736" cy="640080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1F2937"/>
                </a:solidFill>
                <a:latin typeface="Meiryo UI"/>
              </a:rPr>
              <a:t>Unified SaaS platform across ingestion, transformation, analytics, and reporting</a:t>
            </a:r>
          </a:p>
        </p:txBody>
      </p:sp>
      <p:sp>
        <p:nvSpPr>
          <p:cNvPr id="6" name="chip_1"/>
          <p:cNvSpPr/>
          <p:nvPr/>
        </p:nvSpPr>
        <p:spPr>
          <a:xfrm>
            <a:off x="3081528" y="4937760"/>
            <a:ext cx="2459736" cy="640080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1F2937"/>
                </a:solidFill>
                <a:latin typeface="Meiryo UI"/>
              </a:rPr>
              <a:t>6 named experiences: Data Engineering, Data Factory, Data Science, Real-Time Intelligence, Data Warehouse, Databases</a:t>
            </a:r>
          </a:p>
        </p:txBody>
      </p:sp>
      <p:sp>
        <p:nvSpPr>
          <p:cNvPr id="7" name="chip_2"/>
          <p:cNvSpPr/>
          <p:nvPr/>
        </p:nvSpPr>
        <p:spPr>
          <a:xfrm>
            <a:off x="5705856" y="4937760"/>
            <a:ext cx="2459736" cy="640080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lnSpc>
                <a:spcPct val="116000"/>
              </a:lnSpc>
            </a:pPr>
            <a:r>
              <a:rPr sz="1100" b="0">
                <a:solidFill>
                  <a:srgbClr val="1F2937"/>
                </a:solidFill>
                <a:latin typeface="Meiryo UI"/>
              </a:rPr>
              <a:t>OneLake is provisioned once per tenant as the common storage layer</a:t>
            </a:r>
          </a:p>
        </p:txBody>
      </p:sp>
      <p:pic>
        <p:nvPicPr>
          <p:cNvPr id="8" name="icon_Picture 7" descr="office-apps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8001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40664" y="457200"/>
            <a:ext cx="10707624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150-Slide MECE Story Makes Fabric Easier to Evaluate End to End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449872"/>
            <a:ext cx="10707624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1F2937"/>
                </a:solidFill>
                <a:latin typeface="Meiryo UI"/>
              </a:rPr>
              <a:t>The expanded deck lets the audience inspect Fabric in detail without losing the top-level story.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2163104"/>
            <a:ext cx="7882127" cy="109954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4 capability blocks organize the deck without overlap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163104"/>
            <a:ext cx="73152" cy="109954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457200" y="3320699"/>
            <a:ext cx="7882127" cy="109954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150 slides turn the prior 7-slide summary into a reusable reference narrative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457200" y="3320699"/>
            <a:ext cx="73152" cy="109954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457200" y="4478295"/>
            <a:ext cx="7882127" cy="109954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flow moves from platform to workloads to controls to innovation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457200" y="4478295"/>
            <a:ext cx="73152" cy="109954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list-bar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227" y="426146"/>
            <a:ext cx="621060" cy="621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714232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 Breaks Cleanly Into Four Capability Blocks With No Gaps or Overlap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714232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four-branch issue tree gives a complete view of Fabric while separating shared architecture, execution, controls, and emerging capabilities.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2478572"/>
            <a:ext cx="7882127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Platform foundation | OneLake, SaaS architecture, workspaces, navigation, item model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457200" y="3529224"/>
            <a:ext cx="7882127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Workload execution | 6 experiences spanning ingestion, engineering, science, real time, warehouse, and databases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457200" y="4579875"/>
            <a:ext cx="7882127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Governance &amp; innovation | Controls, operations, Copilot, mirroring, Iceberg, SQL evolution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branch-fork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5486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69266"/>
            <a:ext cx="8193024" cy="1513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100" b="1">
                <a:solidFill>
                  <a:srgbClr val="1F2937"/>
                </a:solidFill>
                <a:latin typeface="Meiryo UI"/>
              </a:rPr>
              <a:t>Platform Foundation Is Fabric’s First Advantage Because It Standardizes the Environment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Before any workload is used, Fabric creates a shared storage, collaboration, and navigation layer that reduces fragmentation.</a:t>
            </a:r>
          </a:p>
        </p:txBody>
      </p:sp>
      <p:pic>
        <p:nvPicPr>
          <p:cNvPr id="4" name="icon_Picture 3" descr="cloud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OneLake Sits at the Center of Fabric’s End-to-End Architecture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Because all workloads read from and write to OneLake, Fabric reduces movement between separate engines.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OneLake is provisioned automatically with every Fabric tenant</a:t>
            </a:r>
          </a:p>
        </p:txBody>
      </p:sp>
      <p:pic>
        <p:nvPicPr>
          <p:cNvPr id="5" name="design_icon_Picture 4" descr="database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states data can move from pipeline to notebook to report without relocation</a:t>
            </a:r>
          </a:p>
        </p:txBody>
      </p:sp>
      <p:pic>
        <p:nvPicPr>
          <p:cNvPr id="7" name="design_icon_Picture 6" descr="database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Open Delta Parquet supports a shared but interoperable storage model</a:t>
            </a:r>
          </a:p>
        </p:txBody>
      </p:sp>
      <p:pic>
        <p:nvPicPr>
          <p:cNvPr id="9" name="design_icon_Picture 8" descr="database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database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Shared Lake Changes the Economics of Moving From Ingestion to Insight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Keeping data in one place lowers handoff friction across the 6 lifecycle stages in the source.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describes 6 lifecycle stages across end-to-end analytics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data-area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Pipeline, notebook, and report paths can all operate on OneLake-based assets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data-area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Less copying means less integration overhead across adjacent tools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data-area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data-area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Open Delta Parquet Makes Fabric More Interoperable Than a Closed Stack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combines managed simplicity with open-format storage so teams do not have to choose between control and portability.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Open format | Data is stored in Delta Parquet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Managed experience | Storage is still part of the SaaS platform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Practical result | Teams gain common access without full lock-in</a:t>
            </a:r>
          </a:p>
        </p:txBody>
      </p:sp>
      <p:pic>
        <p:nvPicPr>
          <p:cNvPr id="6" name="design_icon_Picture 5" descr="warning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folder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SaaS Delivery Lets Fabric Shift Attention From Infrastructure Assembly to Data Work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SaaS model matters because teams can start with a ready platform instead of first stitching products together.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Fabric is positioned as one unified platform rather than separate deployments</a:t>
            </a:r>
          </a:p>
        </p:txBody>
      </p:sp>
      <p:pic>
        <p:nvPicPr>
          <p:cNvPr id="5" name="design_icon_Picture 4" descr="cloud-add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OneLake and workspaces come as part of the tenant experience</a:t>
            </a:r>
          </a:p>
        </p:txBody>
      </p:sp>
      <p:pic>
        <p:nvPicPr>
          <p:cNvPr id="7" name="design_icon_Picture 6" descr="cloud-add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speeds onboarding for multi-team analytics programs</a:t>
            </a:r>
          </a:p>
        </p:txBody>
      </p:sp>
      <p:pic>
        <p:nvPicPr>
          <p:cNvPr id="9" name="design_icon_Picture 8" descr="cloud-add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cloud-add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Workspaces Turn Fabric Into a Shared Collaboration Surface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Workspaces matter because they organize items, teams, and responsibilities in one repeatable operating unit.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Workspaces act as the collaboration hub across experiences</a:t>
            </a:r>
          </a:p>
        </p:txBody>
      </p:sp>
      <p:pic>
        <p:nvPicPr>
          <p:cNvPr id="5" name="design_icon_Picture 4" descr="peop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Role-based access and item-level sharing can coexist</a:t>
            </a:r>
          </a:p>
        </p:txBody>
      </p:sp>
      <p:pic>
        <p:nvPicPr>
          <p:cNvPr id="7" name="design_icon_Picture 6" descr="people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same operating shell supports engineering, science, warehouse, and reporting</a:t>
            </a:r>
          </a:p>
        </p:txBody>
      </p:sp>
      <p:pic>
        <p:nvPicPr>
          <p:cNvPr id="9" name="design_icon_Picture 8" descr="peop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people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Roles and Item Sharing Let Fabric Balance Team Control and Broad Access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access model supports close teamwork without forcing every consumer into the same workspace role.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41448"/>
            <a:ext cx="5522976" cy="3136392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Workspace roles define baseline authority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Item-level sharing extends selective access beyond the core team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41448"/>
            <a:ext cx="5522976" cy="3136392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That combination avoids both over-broad membership and isolated silos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32888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32888"/>
            <a:ext cx="237744" cy="237744"/>
          </a:xfrm>
          <a:prstGeom prst="rect">
            <a:avLst/>
          </a:prstGeom>
        </p:spPr>
      </p:pic>
      <p:pic>
        <p:nvPicPr>
          <p:cNvPr id="8" name="icon_Picture 7" descr="share-ios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Tabbed Navigation Reduces Context Switching Across Fabric Assets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navigation model helps users keep multiple items open and move faster across tasks.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41448"/>
            <a:ext cx="11274552" cy="1009918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Tabbed navigation is explicitly called out in the source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41448"/>
            <a:ext cx="73152" cy="1009918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avigation-24-regular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32888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04684"/>
            <a:ext cx="11274552" cy="1009918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Users can work across several assets without repeatedly reopening context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04684"/>
            <a:ext cx="73152" cy="1009918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avigation-24-regular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59612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67921"/>
            <a:ext cx="11274552" cy="1009918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matters in workflows spanning data prep, analysis, and review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67921"/>
            <a:ext cx="73152" cy="1009918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avigation-24-regular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59361"/>
            <a:ext cx="219456" cy="219456"/>
          </a:xfrm>
          <a:prstGeom prst="rect">
            <a:avLst/>
          </a:prstGeom>
        </p:spPr>
      </p:pic>
      <p:pic>
        <p:nvPicPr>
          <p:cNvPr id="13" name="icon_Picture 12" descr="navigation-24-regular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Common Item Model Makes Cross-Workload Discovery More Predictable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Shared item patterns reduce relearning as teams expand from one experience to several.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Assets live in a common workspace and item structure</a:t>
            </a:r>
          </a:p>
        </p:txBody>
      </p:sp>
      <p:pic>
        <p:nvPicPr>
          <p:cNvPr id="5" name="design_icon_Picture 4" descr="box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Different workloads still create distinct items with familiar surrounding patterns</a:t>
            </a:r>
          </a:p>
        </p:txBody>
      </p:sp>
      <p:pic>
        <p:nvPicPr>
          <p:cNvPr id="7" name="design_icon_Picture 6" descr="box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lowers cognitive load as adoption broadens across 6 experiences</a:t>
            </a:r>
          </a:p>
        </p:txBody>
      </p:sp>
      <p:pic>
        <p:nvPicPr>
          <p:cNvPr id="9" name="design_icon_Picture 8" descr="box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box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Shortcuts Let Fabric Extend Beyond Native Storage Without Mandatory Copying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Reference-in-place patterns let teams unify access before deciding how much data to duplicate.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notes that Fabric can reference external storage in place</a:t>
            </a:r>
          </a:p>
        </p:txBody>
      </p:sp>
      <p:pic>
        <p:nvPicPr>
          <p:cNvPr id="5" name="design_icon_Picture 4" descr="link-24-regular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avoids some unnecessary replication at the start of adoption</a:t>
            </a:r>
          </a:p>
        </p:txBody>
      </p:sp>
      <p:pic>
        <p:nvPicPr>
          <p:cNvPr id="7" name="design_icon_Picture 6" descr="link-24-regular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Shortcuts broaden OneLake’s reach across distributed estates</a:t>
            </a:r>
          </a:p>
        </p:txBody>
      </p:sp>
      <p:pic>
        <p:nvPicPr>
          <p:cNvPr id="9" name="design_icon_Picture 8" descr="link-24-regular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navigation-24-regular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Mirroring Pulls Operational Data Into the Shared Fabric Model More Directly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Mirroring strengthens the platform promise by bringing operational sources into OneLake without relying only on batch ETL.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highlights built-in mirroring to OneLake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arrow-sync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Mirroring complements schedules and streaming rather than replacing them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arrow-sync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expands the range of source systems that can join the shared platform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arrow-sync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arrow-sync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A Shared Platform Creates More Value as More Personas Reuse It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foundation becomes more powerful when engineers, scientists, analysts, and operators all work in the same environment.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02403"/>
            <a:ext cx="3575304" cy="127101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35071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Engineer lens | Shared lake and workspace patterns reduce setup drift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2402403"/>
            <a:ext cx="3575304" cy="279623"/>
          </a:xfrm>
          <a:prstGeom prst="rect">
            <a:avLst/>
          </a:prstGeom>
          <a:solidFill>
            <a:srgbClr val="EEF1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815" y="2461124"/>
            <a:ext cx="162181" cy="162181"/>
          </a:xfrm>
          <a:prstGeom prst="rect">
            <a:avLst/>
          </a:prstGeom>
        </p:spPr>
      </p:pic>
      <p:pic>
        <p:nvPicPr>
          <p:cNvPr id="7" name="design_icon_Picture 6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61" y="2461124"/>
            <a:ext cx="162181" cy="162181"/>
          </a:xfrm>
          <a:prstGeom prst="rect">
            <a:avLst/>
          </a:prstGeom>
        </p:spPr>
      </p:pic>
      <p:pic>
        <p:nvPicPr>
          <p:cNvPr id="8" name="design_icon_Picture 7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706" y="2461124"/>
            <a:ext cx="162181" cy="162181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06824" y="2402403"/>
            <a:ext cx="3575304" cy="127101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35071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Analyst lens | Shared SQL and reporting paths improve continuity</a:t>
            </a:r>
          </a:p>
        </p:txBody>
      </p:sp>
      <p:sp>
        <p:nvSpPr>
          <p:cNvPr id="10" name="design_card_header_1"/>
          <p:cNvSpPr/>
          <p:nvPr/>
        </p:nvSpPr>
        <p:spPr>
          <a:xfrm>
            <a:off x="4306824" y="2402403"/>
            <a:ext cx="3575304" cy="279623"/>
          </a:xfrm>
          <a:prstGeom prst="rect">
            <a:avLst/>
          </a:prstGeom>
          <a:solidFill>
            <a:srgbClr val="FFF7FC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design_icon_Picture 10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439" y="2461124"/>
            <a:ext cx="162181" cy="162181"/>
          </a:xfrm>
          <a:prstGeom prst="rect">
            <a:avLst/>
          </a:prstGeom>
        </p:spPr>
      </p:pic>
      <p:pic>
        <p:nvPicPr>
          <p:cNvPr id="12" name="design_icon_Picture 11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385" y="2461124"/>
            <a:ext cx="162181" cy="162181"/>
          </a:xfrm>
          <a:prstGeom prst="rect">
            <a:avLst/>
          </a:prstGeom>
        </p:spPr>
      </p:pic>
      <p:pic>
        <p:nvPicPr>
          <p:cNvPr id="13" name="design_icon_Picture 12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30" y="2461124"/>
            <a:ext cx="162181" cy="162181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156448" y="2402403"/>
            <a:ext cx="3575304" cy="127101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35071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Operator lens | Common access and item structures simplify support</a:t>
            </a:r>
          </a:p>
        </p:txBody>
      </p:sp>
      <p:sp>
        <p:nvSpPr>
          <p:cNvPr id="15" name="design_card_header_2"/>
          <p:cNvSpPr/>
          <p:nvPr/>
        </p:nvSpPr>
        <p:spPr>
          <a:xfrm>
            <a:off x="8156448" y="2402403"/>
            <a:ext cx="3575304" cy="279623"/>
          </a:xfrm>
          <a:prstGeom prst="rect">
            <a:avLst/>
          </a:prstGeom>
          <a:solidFill>
            <a:srgbClr val="EEF1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design_icon_Picture 15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063" y="2461124"/>
            <a:ext cx="162181" cy="162181"/>
          </a:xfrm>
          <a:prstGeom prst="rect">
            <a:avLst/>
          </a:prstGeom>
        </p:spPr>
      </p:pic>
      <p:pic>
        <p:nvPicPr>
          <p:cNvPr id="17" name="design_icon_Picture 16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009" y="2461124"/>
            <a:ext cx="162181" cy="162181"/>
          </a:xfrm>
          <a:prstGeom prst="rect">
            <a:avLst/>
          </a:prstGeom>
        </p:spPr>
      </p:pic>
      <p:pic>
        <p:nvPicPr>
          <p:cNvPr id="18" name="design_icon_Picture 17" descr="group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954" y="2461124"/>
            <a:ext cx="162181" cy="162181"/>
          </a:xfrm>
          <a:prstGeom prst="rect">
            <a:avLst/>
          </a:prstGeom>
        </p:spPr>
      </p:pic>
      <p:pic>
        <p:nvPicPr>
          <p:cNvPr id="19" name="icon_Picture 18" descr="group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Foundation Lowers the Coordination Cost of Multi-Step Analytics Journeys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biggest gain comes from reducing friction between steps, not just optimizing any single step.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2606040" cy="1508760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Get data | Ingest from hundreds of sources using several landing patterns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2478572"/>
            <a:ext cx="2606040" cy="274320"/>
          </a:xfrm>
          <a:prstGeom prst="rect">
            <a:avLst/>
          </a:prstGeom>
          <a:solidFill>
            <a:srgbClr val="FFF5FC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flow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67" y="2536179"/>
            <a:ext cx="159105" cy="159105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2478572"/>
            <a:ext cx="2606040" cy="1508760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Prepare data | Refine assets using engineering, factory, and science tools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2478572"/>
            <a:ext cx="2606040" cy="274320"/>
          </a:xfrm>
          <a:prstGeom prst="rect">
            <a:avLst/>
          </a:prstGeom>
          <a:solidFill>
            <a:srgbClr val="FFFB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flow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2536179"/>
            <a:ext cx="159105" cy="159105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2478572"/>
            <a:ext cx="2606040" cy="1508760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Consume insight | Query, analyze, and visualize without moving data elsewhere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2478572"/>
            <a:ext cx="2606040" cy="274320"/>
          </a:xfrm>
          <a:prstGeom prst="rect">
            <a:avLst/>
          </a:prstGeom>
          <a:solidFill>
            <a:srgbClr val="FFF5FC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flow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87" y="2536179"/>
            <a:ext cx="159105" cy="159105"/>
          </a:xfrm>
          <a:prstGeom prst="rect">
            <a:avLst/>
          </a:prstGeom>
        </p:spPr>
      </p:pic>
      <p:pic>
        <p:nvPicPr>
          <p:cNvPr id="13" name="icon_Picture 12" descr="flow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Foundation Layer Standardizes Where Data Lives, Who Uses It, and How It Is Found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1F2937"/>
                </a:solidFill>
                <a:latin typeface="Meiryo UI"/>
              </a:rPr>
              <a:t>Fabric aligns storage, collaboration, and discovery in one control surface.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628156"/>
            <a:ext cx="5567324" cy="958269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Storage standard | OneLake as the shared home</a:t>
            </a:r>
          </a:p>
        </p:txBody>
      </p:sp>
      <p:pic>
        <p:nvPicPr>
          <p:cNvPr id="5" name="design_icon_Picture 4" descr="task-lis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719596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628156"/>
            <a:ext cx="5567324" cy="958269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Collaboration standard | Workspaces, roles, and sharing</a:t>
            </a:r>
          </a:p>
        </p:txBody>
      </p:sp>
      <p:pic>
        <p:nvPicPr>
          <p:cNvPr id="7" name="design_icon_Picture 6" descr="task-list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719596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619570"/>
            <a:ext cx="5567324" cy="958269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Discovery standard | Navigation and item consistency</a:t>
            </a:r>
          </a:p>
        </p:txBody>
      </p:sp>
      <p:pic>
        <p:nvPicPr>
          <p:cNvPr id="9" name="design_icon_Picture 8" descr="task-lis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711010"/>
            <a:ext cx="164592" cy="164592"/>
          </a:xfrm>
          <a:prstGeom prst="rect">
            <a:avLst/>
          </a:prstGeom>
        </p:spPr>
      </p:pic>
      <p:pic>
        <p:nvPicPr>
          <p:cNvPr id="10" name="icon_Picture 9" descr="checkmark-24-regular_t_FFF3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Platform Block Is MECE Because It Explains the Shared Environment, Not the Engines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Separating common architecture from workload detail keeps the overall story clear and non-overlapping.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943624"/>
            <a:ext cx="5567324" cy="80321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Included here | Lake, workspaces, navigation, access, item model</a:t>
            </a:r>
          </a:p>
        </p:txBody>
      </p:sp>
      <p:pic>
        <p:nvPicPr>
          <p:cNvPr id="5" name="design_icon_Picture 4" descr="task-list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403506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943624"/>
            <a:ext cx="5567324" cy="80321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Excluded here | Engineering, factory, science, real time, warehouse, database specifics</a:t>
            </a:r>
          </a:p>
        </p:txBody>
      </p:sp>
      <p:pic>
        <p:nvPicPr>
          <p:cNvPr id="7" name="design_icon_Picture 6" descr="task-list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403506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74622"/>
            <a:ext cx="5567324" cy="80321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Why it matters | The deck stays logically clean across 150 slides</a:t>
            </a:r>
          </a:p>
        </p:txBody>
      </p:sp>
      <p:pic>
        <p:nvPicPr>
          <p:cNvPr id="9" name="design_icon_Picture 8" descr="task-list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66062"/>
            <a:ext cx="164592" cy="164592"/>
          </a:xfrm>
          <a:prstGeom prst="rect">
            <a:avLst/>
          </a:prstGeom>
        </p:spPr>
      </p:pic>
      <p:pic>
        <p:nvPicPr>
          <p:cNvPr id="10" name="icon_Picture 9" descr="branch-24-regular_t_E4FE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Foundation Creates the Conditions for Faster Adoption of New Capabilities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Once a common environment is in place, adding new experiences becomes easier because teams do not rebuild the base each time.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41448"/>
            <a:ext cx="11274552" cy="1009918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Teams do not need to rethink storage and workspace structure for every workload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41448"/>
            <a:ext cx="73152" cy="1009918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rocket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32888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04684"/>
            <a:ext cx="11274552" cy="1009918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Common patterns shorten the path from first use to broader platform adoption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04684"/>
            <a:ext cx="73152" cy="1009918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rocket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59612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67921"/>
            <a:ext cx="11274552" cy="1009918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also accelerates uptake of later features such as Copilot and mirroring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67921"/>
            <a:ext cx="73152" cy="1009918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rocket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59361"/>
            <a:ext cx="219456" cy="219456"/>
          </a:xfrm>
          <a:prstGeom prst="rect">
            <a:avLst/>
          </a:prstGeom>
        </p:spPr>
      </p:pic>
      <p:pic>
        <p:nvPicPr>
          <p:cNvPr id="13" name="icon_Picture 12" descr="rocket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Platform Coherence Is the First Reason Fabric Feels Strategically Different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Before evaluating individual engines, the audience should recognize that Fabric’s first differentiator is architectural coherence.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474720"/>
            <a:ext cx="5567324" cy="1033683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1 lake, 1 SaaS platform, 1 collaboration model</a:t>
            </a:r>
          </a:p>
        </p:txBody>
      </p:sp>
      <p:pic>
        <p:nvPicPr>
          <p:cNvPr id="5" name="design_icon_Picture 4" descr="task-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566160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474720"/>
            <a:ext cx="5567324" cy="1033683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Shared defaults reduce repeated integration work</a:t>
            </a:r>
          </a:p>
        </p:txBody>
      </p:sp>
      <p:pic>
        <p:nvPicPr>
          <p:cNvPr id="7" name="design_icon_Picture 6" descr="task-lis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566160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44156"/>
            <a:ext cx="5567324" cy="1033683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coherence underpins the end-to-end value claim</a:t>
            </a:r>
          </a:p>
        </p:txBody>
      </p:sp>
      <p:pic>
        <p:nvPicPr>
          <p:cNvPr id="9" name="design_icon_Picture 8" descr="task-lis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35596"/>
            <a:ext cx="164592" cy="164592"/>
          </a:xfrm>
          <a:prstGeom prst="rect">
            <a:avLst/>
          </a:prstGeom>
        </p:spPr>
      </p:pic>
      <p:pic>
        <p:nvPicPr>
          <p:cNvPr id="10" name="icon_Picture 9" descr="target-24-regular_t_DDE4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Workload Execution Proves Whether Fabric Covers the Full Analytics Lifecycle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After establishing a strong platform base, the next question is whether Fabric’s 6 experiences span the real work enterprises need to do.</a:t>
            </a:r>
          </a:p>
        </p:txBody>
      </p:sp>
      <p:pic>
        <p:nvPicPr>
          <p:cNvPr id="4" name="icon_Picture 3" descr="apps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714232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Source Maps Six Lifecycle Stages to Six Named Experiences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714232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breadth is credible because the documentation explicitly ties product experiences to major analytics lifecycle needs.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2478572"/>
            <a:ext cx="7882127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Lifecycle view | Get, store, prepare, transform, analyze, visualize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457200" y="3529224"/>
            <a:ext cx="7882127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Experience view | 6 integrated workloads support those needs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457200" y="4579875"/>
            <a:ext cx="7882127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Business meaning | The platform aims to reduce handoffs across adjacent domains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data-trend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5486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Execution Breadth Matters More When It Works as Coverage Rather Than as Six Isolated Lists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value of the workload portfolio comes from how the experiences cover adjacent parts of one operating chain.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867454"/>
            <a:ext cx="5567324" cy="84065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Coverage claim | Batch, real time, SQL, AI, and reporting coexist</a:t>
            </a:r>
          </a:p>
        </p:txBody>
      </p:sp>
      <p:pic>
        <p:nvPicPr>
          <p:cNvPr id="5" name="design_icon_Picture 4" descr="task-lis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95889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867454"/>
            <a:ext cx="5567324" cy="84065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Continuity claim | Shared storage and workspaces reduce cross-tool friction</a:t>
            </a:r>
          </a:p>
        </p:txBody>
      </p:sp>
      <p:pic>
        <p:nvPicPr>
          <p:cNvPr id="7" name="design_icon_Picture 6" descr="task-list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95889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37185"/>
            <a:ext cx="5567324" cy="84065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Decision claim | Buyers should judge breadth and continuity together</a:t>
            </a:r>
          </a:p>
        </p:txBody>
      </p:sp>
      <p:pic>
        <p:nvPicPr>
          <p:cNvPr id="9" name="design_icon_Picture 8" descr="task-lis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28625"/>
            <a:ext cx="164592" cy="164592"/>
          </a:xfrm>
          <a:prstGeom prst="rect">
            <a:avLst/>
          </a:prstGeom>
        </p:spPr>
      </p:pic>
      <p:pic>
        <p:nvPicPr>
          <p:cNvPr id="10" name="icon_Picture 9" descr="layout-dynamic-24-regular_t_FFF3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447025"/>
            <a:ext cx="8193024" cy="1513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eiryo UI"/>
              </a:rPr>
              <a:t>Data Engineering Anchors Fabric’s Large-Scale Preparation and Lakehouse Work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826020"/>
            <a:ext cx="8193024" cy="75181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The engineering workload matters because it turns raw inputs into reusable analytical assets at scale.</a:t>
            </a:r>
          </a:p>
        </p:txBody>
      </p:sp>
      <p:pic>
        <p:nvPicPr>
          <p:cNvPr id="4" name="icon_Picture 3" descr="navigation-24-regular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Lakehouse Work Gives Fabric a Flexible Base for Big-Data Preparation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Data Engineering is central because it supports scalable transformation before downstream SQL or reporting consumption.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positions lakehouse storage for flexible big-data analytics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avigation-24-regular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Notebook-led transformation fits naturally in this workload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otebook-24-regular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Its role is distinct from reporting because it prepares data for reuse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otebook-24-regular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navigation-24-regular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Medallion Layering Gives Fabric a Clear Structure for Progressive Refinement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Bronze, Silver, and Gold provide a repeatable pattern for moving from raw ingestion to trusted business assets.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2606040" cy="969264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8686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Bronze | Raw landing layer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2478572"/>
            <a:ext cx="2606040" cy="213238"/>
          </a:xfrm>
          <a:prstGeom prst="rect">
            <a:avLst/>
          </a:prstGeom>
          <a:solidFill>
            <a:srgbClr val="F2F5FF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layer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2512039"/>
            <a:ext cx="146304" cy="146304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2478572"/>
            <a:ext cx="2606040" cy="969264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8686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Silver | Cleaned and conformed layer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2478572"/>
            <a:ext cx="2606040" cy="213238"/>
          </a:xfrm>
          <a:prstGeom prst="rect">
            <a:avLst/>
          </a:prstGeom>
          <a:solidFill>
            <a:srgbClr val="F2F4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layer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2512039"/>
            <a:ext cx="146304" cy="146304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2478572"/>
            <a:ext cx="2606040" cy="969264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8686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70" b="1">
                <a:solidFill>
                  <a:srgbClr val="1F2937"/>
                </a:solidFill>
                <a:latin typeface="Meiryo UI"/>
              </a:rPr>
              <a:t>Gold | Business-ready analytical layer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2478572"/>
            <a:ext cx="2606040" cy="213238"/>
          </a:xfrm>
          <a:prstGeom prst="rect">
            <a:avLst/>
          </a:prstGeom>
          <a:solidFill>
            <a:srgbClr val="F2F5FF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layer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512039"/>
            <a:ext cx="146304" cy="146304"/>
          </a:xfrm>
          <a:prstGeom prst="rect">
            <a:avLst/>
          </a:prstGeom>
        </p:spPr>
      </p:pic>
      <p:pic>
        <p:nvPicPr>
          <p:cNvPr id="13" name="icon_Picture 12" descr="layer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V-Order Shows Fabric Optimizes Data Layout for Downstream Query Efficiency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Engineering quality in Fabric includes how data is physically organized, not just how it is transformed logically.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explicitly lists V-Order as guidance</a:t>
            </a:r>
          </a:p>
        </p:txBody>
      </p:sp>
      <p:pic>
        <p:nvPicPr>
          <p:cNvPr id="5" name="design_icon_Picture 4" descr="data-bar-horizontal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Storage-layout decisions affect later analytical performance</a:t>
            </a:r>
          </a:p>
        </p:txBody>
      </p:sp>
      <p:pic>
        <p:nvPicPr>
          <p:cNvPr id="7" name="design_icon_Picture 6" descr="data-bar-horizontal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makes the engineering story more credible for serious workloads</a:t>
            </a:r>
          </a:p>
        </p:txBody>
      </p:sp>
      <p:pic>
        <p:nvPicPr>
          <p:cNvPr id="9" name="design_icon_Picture 8" descr="data-bar-horizontal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data-bar-horizontal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Liquid Clustering Extends Fabric’s Story Into Adaptive Data Organization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Liquid Clustering signals that Fabric is evolving beyond static layout patterns toward more adaptive organization.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names Liquid Clustering alongside other optimization methods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data-scatter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Its inclusion suggests ongoing maturation of lakehouse practices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data-scatter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matters when assets support many downstream access paths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data-scatter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data-scatter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Z-Order Reinforces That Physical Layout Still Matters in a Unified SaaS Platform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Even with a managed platform, data organization remains a lever for performance-sensitive workloads.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Z-Order is explicitly called out in the source</a:t>
            </a:r>
          </a:p>
        </p:txBody>
      </p:sp>
      <p:pic>
        <p:nvPicPr>
          <p:cNvPr id="5" name="design_icon_Picture 4" descr="data-line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shows Fabric exposes practical tuning concepts</a:t>
            </a:r>
          </a:p>
        </p:txBody>
      </p:sp>
      <p:pic>
        <p:nvPicPr>
          <p:cNvPr id="7" name="design_icon_Picture 6" descr="data-line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result is a stronger story for advanced engineering teams</a:t>
            </a:r>
          </a:p>
        </p:txBody>
      </p:sp>
      <p:pic>
        <p:nvPicPr>
          <p:cNvPr id="9" name="design_icon_Picture 8" descr="data-line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data-line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Engineering Creates Reusable Assets for Many Downstream Consumers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engineering workload is most valuable when it turns raw data into governed, performant assets others can immediately reuse.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Refinement follows Bronze, Silver, and Gold patterns</a:t>
            </a:r>
          </a:p>
        </p:txBody>
      </p:sp>
      <p:pic>
        <p:nvPicPr>
          <p:cNvPr id="5" name="design_icon_Picture 4" descr="task-list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Optimization improves downstream usability</a:t>
            </a:r>
          </a:p>
        </p:txBody>
      </p:sp>
      <p:pic>
        <p:nvPicPr>
          <p:cNvPr id="7" name="design_icon_Picture 6" descr="task-list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OneLake keeps engineered assets ready for multiple later workloads</a:t>
            </a:r>
          </a:p>
        </p:txBody>
      </p:sp>
      <p:pic>
        <p:nvPicPr>
          <p:cNvPr id="9" name="design_icon_Picture 8" descr="task-list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box-edit-24-regular_t_E4FE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Notebook-Driven Work Makes Fabric Practical for Iterative Data Preparation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Engineering work benefits from a flexible environment where transformations can be tested and refined quickly.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references notebook-centered Fabric workflows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otebook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Notebook patterns complement more structured orchestration tools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otebook-add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suits engineering teams that need iterative transformation development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otebook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notebook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Engineering and Factory Stay Distinct Because One Builds Logic and the Other Orchestrates Flow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Keeping transformation design separate from data movement clarifies how the 6 workloads divide responsibilities.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834182"/>
            <a:ext cx="5522976" cy="274365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Engineering focus | Lakehouse prep, notebooks, optimization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Factory focus | Scheduling, landing patterns, integration flows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834182"/>
            <a:ext cx="5522976" cy="274365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MECE result | Adjacent but non-overlapping roles</a:t>
            </a:r>
          </a:p>
        </p:txBody>
      </p:sp>
      <p:pic>
        <p:nvPicPr>
          <p:cNvPr id="6" name="design_icon_Picture 5" descr="warning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92562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925622"/>
            <a:ext cx="237744" cy="237744"/>
          </a:xfrm>
          <a:prstGeom prst="rect">
            <a:avLst/>
          </a:prstGeom>
        </p:spPr>
      </p:pic>
      <p:pic>
        <p:nvPicPr>
          <p:cNvPr id="8" name="icon_Picture 7" descr="notebook-24-regular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 Engineering Covers the Preparation Middle of the Lifecycle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This workload fills the crucial space between raw ingestion and structured business consumption.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Before engineering | Data arrives via schedules, streams, replication, or references</a:t>
            </a:r>
          </a:p>
        </p:txBody>
      </p:sp>
      <p:pic>
        <p:nvPicPr>
          <p:cNvPr id="5" name="design_icon_Picture 4" descr="task-list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Within engineering | Teams refine and optimize assets</a:t>
            </a:r>
          </a:p>
        </p:txBody>
      </p:sp>
      <p:pic>
        <p:nvPicPr>
          <p:cNvPr id="7" name="design_icon_Picture 6" descr="task-list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After engineering | Outputs feed science, warehouse, and reporting</a:t>
            </a:r>
          </a:p>
        </p:txBody>
      </p:sp>
      <p:pic>
        <p:nvPicPr>
          <p:cNvPr id="9" name="design_icon_Picture 8" descr="task-list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flow-dot-24-regular_t_D3DA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69175"/>
            <a:ext cx="8193024" cy="1513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eiryo UI"/>
              </a:rPr>
              <a:t>Data Factory Gives Fabric a Managed Front Door for Enterprise Data Movement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Data Factory matters because organizations need repeatable, governed ingestion at scale, not only ad hoc engineering work.</a:t>
            </a:r>
          </a:p>
        </p:txBody>
      </p:sp>
      <p:pic>
        <p:nvPicPr>
          <p:cNvPr id="4" name="icon_Picture 3" descr="flow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Hundreds of Source Connections Make Fabric’s Ingestion Story Enterprise-Relevant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Wide source coverage is a core proof point that Fabric is built for real heterogeneous estates.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2478572"/>
            <a:ext cx="3538728" cy="236829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The source explicitly cites hundreds of sources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2478572"/>
            <a:ext cx="3538728" cy="236829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Multiple landing patterns are supported from the start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2478572"/>
            <a:ext cx="3538728" cy="236829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Source breadth is often a gating factor for platform adoption</a:t>
            </a:r>
          </a:p>
        </p:txBody>
      </p:sp>
      <p:pic>
        <p:nvPicPr>
          <p:cNvPr id="7" name="icon_Picture 6" descr="database-link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 Supports Four Distinct Landing Patterns Instead of One Ingestion Method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Different systems and latency needs require different loading modes, and Fabric supports that diversity.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Real time | Continuous or near-live arrival</a:t>
            </a:r>
          </a:p>
        </p:txBody>
      </p:sp>
      <p:pic>
        <p:nvPicPr>
          <p:cNvPr id="5" name="design_icon_Picture 4" descr="arrow-flow-up-right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Scheduled | Recurring periodic loads</a:t>
            </a:r>
          </a:p>
        </p:txBody>
      </p:sp>
      <p:pic>
        <p:nvPicPr>
          <p:cNvPr id="7" name="design_icon_Picture 6" descr="arrow-flow-up-right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Replication and in-place reference | Continuous sync or no-copy access</a:t>
            </a:r>
          </a:p>
        </p:txBody>
      </p:sp>
      <p:pic>
        <p:nvPicPr>
          <p:cNvPr id="9" name="design_icon_Picture 8" descr="arrow-flow-up-right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arrow-flow-up-right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Scheduled Ingestion Keeps Routine Data Movement Predictable and Governable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Recurring schedules remain essential because many production data flows depend on dependable refresh timing.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41448"/>
            <a:ext cx="11274552" cy="1009918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explicitly lists schedule-based ingestion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41448"/>
            <a:ext cx="73152" cy="1009918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calendar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32888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04684"/>
            <a:ext cx="11274552" cy="1009918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Scheduled movement is critical for daily and hourly operations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04684"/>
            <a:ext cx="73152" cy="1009918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calendar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59612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67921"/>
            <a:ext cx="11274552" cy="1009918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also connects directly to later scheduling governance topics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67921"/>
            <a:ext cx="73152" cy="1009918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calendar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59361"/>
            <a:ext cx="219456" cy="219456"/>
          </a:xfrm>
          <a:prstGeom prst="rect">
            <a:avLst/>
          </a:prstGeom>
        </p:spPr>
      </p:pic>
      <p:pic>
        <p:nvPicPr>
          <p:cNvPr id="13" name="icon_Picture 12" descr="calendar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Continuous Replication Expands Fabric Beyond Periodic Batch Refreshes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Replication matters because some operational scenarios require freshness without hand-built polling chains.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includes continuous database replication</a:t>
            </a:r>
          </a:p>
        </p:txBody>
      </p:sp>
      <p:pic>
        <p:nvPicPr>
          <p:cNvPr id="5" name="design_icon_Picture 4" descr="arrow-sync-circle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fills the gap between periodic schedules and event-native streaming</a:t>
            </a:r>
          </a:p>
        </p:txBody>
      </p:sp>
      <p:pic>
        <p:nvPicPr>
          <p:cNvPr id="7" name="design_icon_Picture 6" descr="arrow-sync-circle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helps operational and analytical estates converge</a:t>
            </a:r>
          </a:p>
        </p:txBody>
      </p:sp>
      <p:pic>
        <p:nvPicPr>
          <p:cNvPr id="9" name="design_icon_Picture 8" descr="arrow-sync-circle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arrow-sync-circle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Reference-in-Place Patterns Lower the Barrier to Early Fabric Adoption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In-place access is valuable because it lets teams unify usage before centralizing every byte physically.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Copy-first path | Immediate centralization but more duplication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Reference path | Faster access with less early movement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Practical result | Adoption can be more gradual and flexible</a:t>
            </a:r>
          </a:p>
        </p:txBody>
      </p:sp>
      <p:pic>
        <p:nvPicPr>
          <p:cNvPr id="6" name="design_icon_Picture 5" descr="warning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link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in Data Factory Lowers the Barrier to Building Integration Logic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Natural-language assistance makes the integration workload more accessible to both citizen and professional data wranglers.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describes Copilot in Data Factory as AI-enhanced support for Dataflow Gen2</a:t>
            </a:r>
          </a:p>
        </p:txBody>
      </p:sp>
      <p:pic>
        <p:nvPicPr>
          <p:cNvPr id="5" name="design_icon_Picture 4" descr="bot-sparkle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Users can describe requirements in natural language</a:t>
            </a:r>
          </a:p>
        </p:txBody>
      </p:sp>
      <p:pic>
        <p:nvPicPr>
          <p:cNvPr id="7" name="design_icon_Picture 6" descr="bot-sparkle-24-regular_t_FF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documentation says it supports both citizen and professional users</a:t>
            </a:r>
          </a:p>
        </p:txBody>
      </p:sp>
      <p:pic>
        <p:nvPicPr>
          <p:cNvPr id="9" name="design_icon_Picture 8" descr="bot-sparkle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bot-sparkle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Natural-Language Flow Design Improves Speed Without Removing the Need for Review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Copilot improves productivity, but subject-matter experts still need to validate outputs before use.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frames Copilot as a partner rather than a replacement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brain-sparkl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Natural-language design speeds early flow creation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brain-sparkle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documentation warns that AI outputs should be reviewed before use or sharing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brain-sparkle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brain-sparkl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Enablement Depends on Governance Conditions Rather Than Being Always 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AI assistance in Fabric is gated by tenant settings, capacity, region, and workspace eligibility.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2533436"/>
          <a:ext cx="11128248" cy="266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56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666666"/>
                          </a:solidFill>
                          <a:latin typeface="Meiryo UI"/>
                        </a:rPr>
                        <a:t>Requirement</a:t>
                      </a:r>
                    </a:p>
                  </a:txBody>
                  <a:tcPr marT="36576" marB="36576" anchor="ctr">
                    <a:solidFill>
                      <a:srgbClr val="E4F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666666"/>
                          </a:solidFill>
                          <a:latin typeface="Meiryo UI"/>
                        </a:rPr>
                        <a:t>Meaning</a:t>
                      </a:r>
                    </a:p>
                  </a:txBody>
                  <a:tcPr marT="36576" marB="36576" anchor="ctr">
                    <a:solidFill>
                      <a:srgbClr val="E4F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34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Tenant setting and capacity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Admin enablement plus F64+ or supported equivalent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34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Region and workspace</a:t>
                      </a:r>
                    </a:p>
                  </a:txBody>
                  <a:tcPr marT="36576" marB="36576" anchor="ctr">
                    <a:solidFill>
                      <a:srgbClr val="FCFF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Cross-geo and eligible workspace assignment may be required</a:t>
                      </a:r>
                    </a:p>
                  </a:txBody>
                  <a:tcPr marT="36576" marB="36576" anchor="ctr">
                    <a:solidFill>
                      <a:srgbClr val="FCF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icon_Picture 4" descr="settings-chat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Dataflows Bridge Business-Friendly Preparation and Managed Integration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Dataflow-centered patterns let more users participate in data preparation while staying inside a governed platform.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27101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Dataflow Gen2 is explicitly referenced in the source</a:t>
            </a:r>
          </a:p>
        </p:txBody>
      </p:sp>
      <p:pic>
        <p:nvPicPr>
          <p:cNvPr id="5" name="design_icon_Picture 4" descr="people-ad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27101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Copilot support widens participation beyond code-first users</a:t>
            </a:r>
          </a:p>
        </p:txBody>
      </p:sp>
      <p:pic>
        <p:nvPicPr>
          <p:cNvPr id="7" name="design_icon_Picture 6" descr="people-add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05620"/>
            <a:ext cx="5486400" cy="127101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shared platform keeps resulting assets connected to later workloads</a:t>
            </a:r>
          </a:p>
        </p:txBody>
      </p:sp>
      <p:pic>
        <p:nvPicPr>
          <p:cNvPr id="9" name="design_icon_Picture 8" descr="people-ad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097060"/>
            <a:ext cx="310896" cy="310896"/>
          </a:xfrm>
          <a:prstGeom prst="rect">
            <a:avLst/>
          </a:prstGeom>
        </p:spPr>
      </p:pic>
      <p:pic>
        <p:nvPicPr>
          <p:cNvPr id="10" name="icon_Picture 9" descr="people-add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 Factory and OneLake Together Create a Direct Landing Zone for Enterprise Data Movement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integration workload is stronger because it lands data into the same storage layer used by the rest of Fabric.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834182"/>
            <a:ext cx="2606040" cy="1508760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Connect | Start from many source types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2834182"/>
            <a:ext cx="2606040" cy="274320"/>
          </a:xfrm>
          <a:prstGeom prst="rect">
            <a:avLst/>
          </a:prstGeom>
          <a:solidFill>
            <a:srgbClr val="F2F5FF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databas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67" y="2891790"/>
            <a:ext cx="159105" cy="159105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2834182"/>
            <a:ext cx="2606040" cy="1508760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Land | Write or reference assets into OneLake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2834182"/>
            <a:ext cx="2606040" cy="274320"/>
          </a:xfrm>
          <a:prstGeom prst="rect">
            <a:avLst/>
          </a:prstGeom>
          <a:solidFill>
            <a:srgbClr val="F2F4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databas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2891790"/>
            <a:ext cx="159105" cy="159105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2834182"/>
            <a:ext cx="2606040" cy="1508760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Reuse | Hand them to engineering, science, warehouse, or reporting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2834182"/>
            <a:ext cx="2606040" cy="274320"/>
          </a:xfrm>
          <a:prstGeom prst="rect">
            <a:avLst/>
          </a:prstGeom>
          <a:solidFill>
            <a:srgbClr val="F2F5FF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databas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87" y="2891790"/>
            <a:ext cx="159105" cy="159105"/>
          </a:xfrm>
          <a:prstGeom prst="rect">
            <a:avLst/>
          </a:prstGeom>
        </p:spPr>
      </p:pic>
      <p:pic>
        <p:nvPicPr>
          <p:cNvPr id="13" name="icon_Picture 12" descr="database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 Factory Fills the Acquisition Layer Without Overlapping Analysis Engines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Its distinct role is to move and structure data into the platform so other workloads can analyze it.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Owns | Ingestion breadth, schedules, and flow design</a:t>
            </a:r>
          </a:p>
        </p:txBody>
      </p:sp>
      <p:pic>
        <p:nvPicPr>
          <p:cNvPr id="5" name="design_icon_Picture 4" descr="task-list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Does not own | Lakehouse optimization, science exploration, or SQL consumption</a:t>
            </a:r>
          </a:p>
        </p:txBody>
      </p:sp>
      <p:pic>
        <p:nvPicPr>
          <p:cNvPr id="7" name="design_icon_Picture 6" descr="task-list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Why it matters | The workload story stays clean and defensible</a:t>
            </a:r>
          </a:p>
        </p:txBody>
      </p:sp>
      <p:pic>
        <p:nvPicPr>
          <p:cNvPr id="9" name="design_icon_Picture 8" descr="task-list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check-24-regular_t_D3DA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Data Science Extends Fabric Beyond Reporting Into Experimentation and Model-Centered Analysis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Fabric’s science experience matters because advanced analytics requires a native place for exploration inside the same platform.</a:t>
            </a:r>
          </a:p>
        </p:txBody>
      </p:sp>
      <p:pic>
        <p:nvPicPr>
          <p:cNvPr id="4" name="icon_Picture 3" descr="microscope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Native Science Experience Makes Fabric More Credible for Advanced Analytics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Including Data Science as one of the 6 experiences broadens Fabric from descriptive analytics toward exploratory work.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Data Science is explicitly listed among the 6 core experiences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beaker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Its presence supports more than standard BI workflows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beaker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matters when science teams need to share the same platform as analysts and engineers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beaker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beaker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Shared Storage Helps Data Science Reuse Prepared Assets Rather Than Rebuild Context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Science teams gain leverage when they can start from the same OneLake-based assets already refined upstream.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Upstream reuse lowers data setup time</a:t>
            </a:r>
          </a:p>
        </p:txBody>
      </p:sp>
      <p:pic>
        <p:nvPicPr>
          <p:cNvPr id="5" name="design_icon_Picture 4" descr="database-link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Shared assets reduce duplicate context-building outside the platform</a:t>
            </a:r>
          </a:p>
        </p:txBody>
      </p:sp>
      <p:pic>
        <p:nvPicPr>
          <p:cNvPr id="7" name="design_icon_Picture 6" descr="database-link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Outputs can feed later warehouse or reporting paths more easily</a:t>
            </a:r>
          </a:p>
        </p:txBody>
      </p:sp>
      <p:pic>
        <p:nvPicPr>
          <p:cNvPr id="9" name="design_icon_Picture 8" descr="database-link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database-link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Notebook-Centered Work Makes Fabric Science Practical for Iterative Analysis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Science needs a flexible environment for hypothesis testing, and Fabric supports that mode of work.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references notebooks within Fabric workflows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avigation-24-regular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Notebook iteration suits changing hypotheses and transformations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otebook-24-regular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complements more structured Data Factory patterns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otebook-24-regular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navigation-24-regular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No-Code Anomaly Detection Pushes Science-Like Insight Toward a Wider User Base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32549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Built-in anomaly detection lowers the gap between specialist analytics and broader business use.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highlights no-code anomaly detection</a:t>
            </a:r>
          </a:p>
        </p:txBody>
      </p:sp>
      <p:pic>
        <p:nvPicPr>
          <p:cNvPr id="5" name="design_icon_Picture 4" descr="alert-on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makes advanced pattern detection more accessible</a:t>
            </a:r>
          </a:p>
        </p:txBody>
      </p:sp>
      <p:pic>
        <p:nvPicPr>
          <p:cNvPr id="7" name="design_icon_Picture 6" descr="alert-on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also connects science and real-time monitoring use cases</a:t>
            </a:r>
          </a:p>
        </p:txBody>
      </p:sp>
      <p:pic>
        <p:nvPicPr>
          <p:cNvPr id="9" name="design_icon_Picture 8" descr="alert-on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alert-on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AI Assistance Expands Science Productivity Without Removing Expert Judgment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Science-related Copilot help can accelerate exploration, but experts still need to validate assumptions and outputs.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documentation says Copilot outputs may be inaccurate or low quality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info-sparkle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warning matters in exploratory analytical contexts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info-sparkle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right model is assisted science with explicit review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info-sparkle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info-sparkle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Science Inside Fabric Improves the Handoff From Exploration to Operational Use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When experimentation happens on the same platform as reporting and warehousing, useful outputs move into production more smoothly.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2606040" cy="1508760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Explore | Test patterns and analyze shared assets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2478572"/>
            <a:ext cx="2606040" cy="274320"/>
          </a:xfrm>
          <a:prstGeom prst="rect">
            <a:avLst/>
          </a:prstGeom>
          <a:solidFill>
            <a:srgbClr val="FFF5FC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arrow-right-circl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67" y="2536179"/>
            <a:ext cx="159105" cy="159105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2478572"/>
            <a:ext cx="2606040" cy="1508760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Operationalize | Feed useful findings into warehouse or reporting paths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2478572"/>
            <a:ext cx="2606040" cy="274320"/>
          </a:xfrm>
          <a:prstGeom prst="rect">
            <a:avLst/>
          </a:prstGeom>
          <a:solidFill>
            <a:srgbClr val="FFFBFE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arrow-right-circl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2536179"/>
            <a:ext cx="159105" cy="159105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2478572"/>
            <a:ext cx="2606040" cy="1508760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2976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Reuse | Keep outputs inside the Fabric estate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2478572"/>
            <a:ext cx="2606040" cy="274320"/>
          </a:xfrm>
          <a:prstGeom prst="rect">
            <a:avLst/>
          </a:prstGeom>
          <a:solidFill>
            <a:srgbClr val="FFF5FC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arrow-right-circle-24-regular_t_1F2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87" y="2536179"/>
            <a:ext cx="159105" cy="159105"/>
          </a:xfrm>
          <a:prstGeom prst="rect">
            <a:avLst/>
          </a:prstGeom>
        </p:spPr>
      </p:pic>
      <p:pic>
        <p:nvPicPr>
          <p:cNvPr id="13" name="icon_Picture 12" descr="arrow-right-circle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Data Science Adds Discovery Depth That BI Alone Cannot Cover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science workload matters because some questions require experimentation and pattern detection, not only reporting.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41448"/>
            <a:ext cx="5522976" cy="3136392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BI-led work | Governed reporting and known questions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Science-led work | Exploration, anomaly detection, and new-signal discovery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41448"/>
            <a:ext cx="5522976" cy="3136392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Fabric advantage | Both can run on the same platform</a:t>
            </a:r>
          </a:p>
        </p:txBody>
      </p:sp>
      <p:pic>
        <p:nvPicPr>
          <p:cNvPr id="6" name="design_icon_Picture 5" descr="warning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32888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32888"/>
            <a:ext cx="237744" cy="237744"/>
          </a:xfrm>
          <a:prstGeom prst="rect">
            <a:avLst/>
          </a:prstGeom>
        </p:spPr>
      </p:pic>
      <p:pic>
        <p:nvPicPr>
          <p:cNvPr id="8" name="icon_Picture 7" descr="data-histogram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Science Branch Shows Fabric Covers Discovery as Well as Delivery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credible analytics platform must support both finding new signals and delivering known ones, and Fabric does both.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Science provides exploratory and model-centered workflows</a:t>
            </a:r>
          </a:p>
        </p:txBody>
      </p:sp>
      <p:pic>
        <p:nvPicPr>
          <p:cNvPr id="5" name="design_icon_Picture 4" descr="task-list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Shared storage keeps discovery connected to governed assets</a:t>
            </a:r>
          </a:p>
        </p:txBody>
      </p:sp>
      <p:pic>
        <p:nvPicPr>
          <p:cNvPr id="7" name="design_icon_Picture 6" descr="task-list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Outputs can move into other workloads without platform boundaries</a:t>
            </a:r>
          </a:p>
        </p:txBody>
      </p:sp>
      <p:pic>
        <p:nvPicPr>
          <p:cNvPr id="9" name="design_icon_Picture 8" descr="task-list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lightbulb-circle-24-regular_t_E4FE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Real-Time Intelligence Gives Fabric a Native Answer for Event-Driven Analytics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Fabric’s coverage is stronger because it includes a dedicated workload for continuously arriving signals, not only batch analysis.</a:t>
            </a:r>
          </a:p>
        </p:txBody>
      </p:sp>
      <p:pic>
        <p:nvPicPr>
          <p:cNvPr id="4" name="icon_Picture 3" descr="wifi-2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Real-Time Intelligence Expands Fabric Beyond Daily and Hourly Cadences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native real-time workload matters because some decisions cannot wait for scheduled refreshes.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41448"/>
            <a:ext cx="11274552" cy="1009918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explicitly includes real-time processing in Fabric’s platform claim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41448"/>
            <a:ext cx="73152" cy="1009918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timeline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32888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04684"/>
            <a:ext cx="11274552" cy="1009918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supports near-live or event-driven business scenarios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04684"/>
            <a:ext cx="73152" cy="1009918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timeline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59612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67921"/>
            <a:ext cx="11274552" cy="1009918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complements, rather than replaces, scheduled and replicated loading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67921"/>
            <a:ext cx="73152" cy="1009918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timeline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59361"/>
            <a:ext cx="219456" cy="219456"/>
          </a:xfrm>
          <a:prstGeom prst="rect">
            <a:avLst/>
          </a:prstGeom>
        </p:spPr>
      </p:pic>
      <p:pic>
        <p:nvPicPr>
          <p:cNvPr id="13" name="icon_Picture 12" descr="timeline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Eventstream Support Shows Streaming Is a First-Class Fabric Concern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real-time branch is credible because the source references named event streaming capabilities and enhancements.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cites Eventstream and secure data streaming changes in June 2025</a:t>
            </a:r>
          </a:p>
        </p:txBody>
      </p:sp>
      <p:pic>
        <p:nvPicPr>
          <p:cNvPr id="5" name="design_icon_Picture 4" descr="send-24-regular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Managed Private Endpoints were added for more secure connectivity</a:t>
            </a:r>
          </a:p>
        </p:txBody>
      </p:sp>
      <p:pic>
        <p:nvPicPr>
          <p:cNvPr id="7" name="design_icon_Picture 6" descr="send-24-regular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signals real-time is being hardened for enterprise use</a:t>
            </a:r>
          </a:p>
        </p:txBody>
      </p:sp>
      <p:pic>
        <p:nvPicPr>
          <p:cNvPr id="9" name="design_icon_Picture 8" descr="send-24-regular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notebook-24-regular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153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Secure Streaming Matters Because Live Data Often Crosses Sensitive Boundaries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3716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June 2025 private-endpoint support improved confidence that Fabric can support streaming in controlled environments.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41448"/>
            <a:ext cx="5522976" cy="3136392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Before | Streaming often required extra network accommodation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Change | Eventstream gained Managed Private Endpoint support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41448"/>
            <a:ext cx="5522976" cy="3136392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Implication | Private-network and firewall scenarios are easier to support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32888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32888"/>
            <a:ext cx="237744" cy="237744"/>
          </a:xfrm>
          <a:prstGeom prst="rect">
            <a:avLst/>
          </a:prstGeom>
        </p:spPr>
      </p:pic>
      <p:pic>
        <p:nvPicPr>
          <p:cNvPr id="8" name="icon_Picture 7" descr="shield-add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Anomaly Detection Makes Real-Time Analytics More Actionable Than Raw Event Visibility Alone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Real-time monitoring is more useful when the platform highlights unusual patterns instead of only passing through data.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links stream processing with anomaly detection</a:t>
            </a:r>
          </a:p>
        </p:txBody>
      </p:sp>
      <p:pic>
        <p:nvPicPr>
          <p:cNvPr id="5" name="design_icon_Picture 4" descr="warning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Operations teams usually care more about exceptions than raw volume</a:t>
            </a:r>
          </a:p>
        </p:txBody>
      </p:sp>
      <p:pic>
        <p:nvPicPr>
          <p:cNvPr id="7" name="design_icon_Picture 6" descr="warning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also bridges real-time intelligence with science-like methods</a:t>
            </a:r>
          </a:p>
        </p:txBody>
      </p:sp>
      <p:pic>
        <p:nvPicPr>
          <p:cNvPr id="9" name="design_icon_Picture 8" descr="warning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warning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Real-Time and Batch Coexisting on One Platform Is a Strategic Strength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gains leverage because organizations do not need separate platform estates just to support different latency profiles.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Batch path | Schedules and warehouses support planning and reporting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Real-time path | Streaming supports operational awareness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Unified outcome | Shared constructs reduce cross-estate complexity</a:t>
            </a:r>
          </a:p>
        </p:txBody>
      </p:sp>
      <p:pic>
        <p:nvPicPr>
          <p:cNvPr id="6" name="design_icon_Picture 5" descr="warning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arrow-sort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Real-Time Signals Stay More Valuable When They Remain Inside the Fabric Estate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Keeping event data close to historical data simplifies diagnosis and cross-time-horizon analysis.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Real-time signals can be related back to OneLake-based history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data-usage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reduces fragmentation between monitoring and analytics estates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data-usage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result is better continuity from detection to explanation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data-usage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data-usage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Real-Time Branch Completes the Speed Dimension of Fabric’s Coverage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With a native streaming experience, Fabric spans historical, periodic, and event-driven analytics on one platform.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Historical depth | Engineering and warehouse assets</a:t>
            </a:r>
          </a:p>
        </p:txBody>
      </p:sp>
      <p:pic>
        <p:nvPicPr>
          <p:cNvPr id="5" name="design_icon_Picture 4" descr="task-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Periodic cadence | Scheduled Data Factory flows</a:t>
            </a:r>
          </a:p>
        </p:txBody>
      </p:sp>
      <p:pic>
        <p:nvPicPr>
          <p:cNvPr id="7" name="design_icon_Picture 6" descr="task-lis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Immediate responsiveness | Real-Time Intelligence</a:t>
            </a:r>
          </a:p>
        </p:txBody>
      </p:sp>
      <p:pic>
        <p:nvPicPr>
          <p:cNvPr id="9" name="design_icon_Picture 8" descr="task-lis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timer-24-regular_t_DDE4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Data Warehouse Gives Fabric a Strong SQL-Centric Core for Structured Analytics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The warehouse experience matters because many enterprise decisions still depend on performant, governed SQL analysis.</a:t>
            </a:r>
          </a:p>
        </p:txBody>
      </p:sp>
      <p:pic>
        <p:nvPicPr>
          <p:cNvPr id="4" name="icon_Picture 3" descr="data-bar-vertical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Warehouse Remains Essential Because Structured SQL Still Anchors Enterprise Analytics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end-to-end claim would be incomplete without a robust warehouse path for curated analytical consumption.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Data Warehouse is one of the 6 named experiences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table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shows sustained investment across several warehouse features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table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indicates warehouse is central to the platform story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table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table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Warehouse Snapshots Add Time-Travel Value Through Point-in-Time States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ability to query read-only warehouse states from the past 30 days improves auditability and comparison.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Snapshots were cited as a preview feature in May 2025</a:t>
            </a:r>
          </a:p>
        </p:txBody>
      </p:sp>
      <p:pic>
        <p:nvPicPr>
          <p:cNvPr id="5" name="design_icon_Picture 4" descr="history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They can represent any point in the past 30 days</a:t>
            </a:r>
          </a:p>
        </p:txBody>
      </p:sp>
      <p:pic>
        <p:nvPicPr>
          <p:cNvPr id="7" name="design_icon_Picture 6" descr="history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Snapshots can be queried like a warehouse and rolled forward</a:t>
            </a:r>
          </a:p>
        </p:txBody>
      </p:sp>
      <p:pic>
        <p:nvPicPr>
          <p:cNvPr id="9" name="design_icon_Picture 8" descr="history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history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30-Day Snapshot Window Gives Teams Practical Recovery and Validation Power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snapshot feature matters because recent historical states support reconciliation, rollback analysis, and trust.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2478572"/>
            <a:ext cx="3538728" cy="236829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30 days is the explicit time window in the source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2478572"/>
            <a:ext cx="3538728" cy="236829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Snapshots are read-only point-in-time representations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2478572"/>
            <a:ext cx="3538728" cy="2368296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That makes them suitable for comparison and recovery workflows</a:t>
            </a:r>
          </a:p>
        </p:txBody>
      </p:sp>
      <p:pic>
        <p:nvPicPr>
          <p:cNvPr id="7" name="icon_Picture 6" descr="clock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JSON Aggregate Support Shows Warehouse SQL Is Growing More Expressive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General availability of JSON_ARRAYAGG and JSON_OBJECTAGG in May 2025 signals continued maturation of the SQL surface.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May 2025 | JSON aggregate support became generally available</a:t>
            </a:r>
          </a:p>
        </p:txBody>
      </p:sp>
      <p:pic>
        <p:nvPicPr>
          <p:cNvPr id="5" name="design_icon_Picture 4" descr="link-24-regular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Named functions | JSON_ARRAYAGG and JSON_OBJECTAGG</a:t>
            </a:r>
          </a:p>
        </p:txBody>
      </p:sp>
      <p:pic>
        <p:nvPicPr>
          <p:cNvPr id="7" name="design_icon_Picture 6" descr="link-24-regular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Effect | Better support for semi-structured analytical patterns</a:t>
            </a:r>
          </a:p>
        </p:txBody>
      </p:sp>
      <p:pic>
        <p:nvPicPr>
          <p:cNvPr id="9" name="design_icon_Picture 8" descr="link-24-regular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navigation-24-regular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MERGE GA Simplifies Multi-Condition Transformations Inside the Warehouse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General availability of MERGE in January 2026 strengthens SQL-centric transformation and upsert workflows.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41448"/>
            <a:ext cx="11274552" cy="1009918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January 2026 | MERGE became generally available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41448"/>
            <a:ext cx="73152" cy="1009918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arrow-sync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32888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04684"/>
            <a:ext cx="11274552" cy="1009918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One statement can handle INSERT, UPDATE, and DELETE conditions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04684"/>
            <a:ext cx="73152" cy="1009918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arrow-sync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59612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67921"/>
            <a:ext cx="11274552" cy="1009918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reduces fragmented transformation logic in warehouse flows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67921"/>
            <a:ext cx="73152" cy="1009918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arrow-sync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59361"/>
            <a:ext cx="219456" cy="219456"/>
          </a:xfrm>
          <a:prstGeom prst="rect">
            <a:avLst/>
          </a:prstGeom>
        </p:spPr>
      </p:pic>
      <p:pic>
        <p:nvPicPr>
          <p:cNvPr id="13" name="icon_Picture 12" descr="arrow-sync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OPENROWSET and COPY INTO Reduce the Gap Between Lakehouse Data and Warehouse SQL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Direct SQL access to OneLake paths matters because it makes the shared-storage promise concrete for analysts.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March 2026 | OPENROWSET and COPY INTO were cited as generally available</a:t>
            </a:r>
          </a:p>
        </p:txBody>
      </p:sp>
      <p:pic>
        <p:nvPicPr>
          <p:cNvPr id="5" name="design_icon_Picture 4" descr="folder-add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They can read directly from OneLake paths</a:t>
            </a:r>
          </a:p>
        </p:txBody>
      </p:sp>
      <p:pic>
        <p:nvPicPr>
          <p:cNvPr id="7" name="design_icon_Picture 6" descr="folder-add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simplifies SQL-based ingestion and ad hoc querying</a:t>
            </a:r>
          </a:p>
        </p:txBody>
      </p:sp>
      <p:pic>
        <p:nvPicPr>
          <p:cNvPr id="9" name="design_icon_Picture 8" descr="folder-add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folder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Direct Lake-to-Warehouse SQL Access Strengthens Fabric’s Unified Storage Story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When warehouse SQL can work directly against OneLake paths, the single-platform narrative becomes more practical.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Separate estates often require extra bridge layers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Fabric lets SQL work closer to lake-aligned assets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Analysts gain simpler access with less setup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data-funnel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for SQL Analytics Endpoint Adds Natural-Language Productivity to Warehouse Work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AI assistance in the SQL endpoint helps users generate and optimize queries using natural language.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May 2025 | Copilot for SQL analytics endpoint was cited as preview</a:t>
            </a:r>
          </a:p>
        </p:txBody>
      </p:sp>
      <p:pic>
        <p:nvPicPr>
          <p:cNvPr id="5" name="design_icon_Picture 4" descr="bot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supports generating and optimizing SQL queries</a:t>
            </a:r>
          </a:p>
        </p:txBody>
      </p:sp>
      <p:pic>
        <p:nvPicPr>
          <p:cNvPr id="7" name="design_icon_Picture 6" descr="bot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can accelerate both novice and expert query work</a:t>
            </a:r>
          </a:p>
        </p:txBody>
      </p:sp>
      <p:pic>
        <p:nvPicPr>
          <p:cNvPr id="9" name="design_icon_Picture 8" descr="bot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bot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Natural-Language SQL Support Can Expand Warehouse Reach Beyond Expert Query Authors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Copilot for SQL matters because it narrows the translation gap between business intent and executable analysis.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Natural language lowers the barrier to starting SQL work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avigation-24-regular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Optimization help can also improve expert productivity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avigation-24-regular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Preview status means users should pair speed with validation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otebook-24-regular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navigation-24-regular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Datamart Redirection Signals a Strategic Consolidation Around Fabric Warehouse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June 1 2025 datamart change suggests Microsoft is simplifying structured analytics around warehouse as the primary destination.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41448"/>
            <a:ext cx="5522976" cy="3136392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June 1 2025 | New Power BI datamarts redirect to new Fabric Warehouse creation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Existing datamarts are guided toward upgrade paths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41448"/>
            <a:ext cx="5522976" cy="3136392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That indicates portfolio consolidation rather than more overlap</a:t>
            </a:r>
          </a:p>
        </p:txBody>
      </p:sp>
      <p:pic>
        <p:nvPicPr>
          <p:cNvPr id="6" name="design_icon_Picture 5" descr="warning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32888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32888"/>
            <a:ext cx="237744" cy="237744"/>
          </a:xfrm>
          <a:prstGeom prst="rect">
            <a:avLst/>
          </a:prstGeom>
        </p:spPr>
      </p:pic>
      <p:pic>
        <p:nvPicPr>
          <p:cNvPr id="8" name="icon_Picture 7" descr="arrow-righ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Result Caching Improves Warehouse Responsiveness for Repeated Analytical Queries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Caching matters because faster repeat-query behavior improves interactive analytics and dashboard performance.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references Result Set Caching for Fabric Data Warehouse</a:t>
            </a:r>
          </a:p>
        </p:txBody>
      </p:sp>
      <p:pic>
        <p:nvPicPr>
          <p:cNvPr id="5" name="design_icon_Picture 4" descr="flash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Caching speeds repeated query returns when reuse is possible</a:t>
            </a:r>
          </a:p>
        </p:txBody>
      </p:sp>
      <p:pic>
        <p:nvPicPr>
          <p:cNvPr id="7" name="design_icon_Picture 6" descr="flash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complements storage and indexing improvements</a:t>
            </a:r>
          </a:p>
        </p:txBody>
      </p:sp>
      <p:pic>
        <p:nvPicPr>
          <p:cNvPr id="9" name="design_icon_Picture 8" descr="flash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flash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Spark Connector Support Shows Warehouse and Engineering Are Converging More Tightly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April 2025 connector support matters because it improves practical interoperability between Spark-based work and warehouse assets.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April 2025 | Fabric Spark connector for Warehouse in Spark runtime was cited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plug-connected-settings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strengthens movement between engineering and structured SQL use cases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plug-connected-settings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result is less friction across adjacent workload branches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plug-connected-settings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plug-connected-settings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Session-Scoped Distributed Temp Tables Improve Warehouse Flexibility for Working Sessions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57969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Temporary table support matters because practical analytics often requires intermediate state during complex SQL work.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86908"/>
            <a:ext cx="5486400" cy="127101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April 2025 | Session-scoped distributed #temp tables were cited</a:t>
            </a:r>
          </a:p>
        </p:txBody>
      </p:sp>
      <p:pic>
        <p:nvPicPr>
          <p:cNvPr id="5" name="design_icon_Picture 4" descr="table-add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7834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86908"/>
            <a:ext cx="5486400" cy="1271016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Temporary state helps multi-step analytical workflows</a:t>
            </a:r>
          </a:p>
        </p:txBody>
      </p:sp>
      <p:pic>
        <p:nvPicPr>
          <p:cNvPr id="7" name="design_icon_Picture 6" descr="table-add-24-regular_t_FF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7834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13956"/>
            <a:ext cx="5486400" cy="127101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improves warehouse practicality for real user sessions</a:t>
            </a:r>
          </a:p>
        </p:txBody>
      </p:sp>
      <p:pic>
        <p:nvPicPr>
          <p:cNvPr id="9" name="design_icon_Picture 8" descr="table-add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405396"/>
            <a:ext cx="310896" cy="310896"/>
          </a:xfrm>
          <a:prstGeom prst="rect">
            <a:avLst/>
          </a:prstGeom>
        </p:spPr>
      </p:pic>
      <p:pic>
        <p:nvPicPr>
          <p:cNvPr id="10" name="icon_Picture 9" descr="table-add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DOP Feedback GA Signals Smarter Parallelism in Fabric SQL Database Workloads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July 2025 degree-of-parallelism feedback matters because it suggests Fabric is investing in adaptive SQL performance behavior.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July 2025 | DOP feedback was cited as generally available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data-usage-edi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feature aims at smarter parallelism choices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data-usage-edit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strengthens performance credibility on the database side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data-usage-edi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data-usage-edi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Custom SQL Pools Expand Administrative Control Over Workload Management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Preview custom SQL pools in January 2026 matter because administrators need resource allocation and classifier controls for their own workloads.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January 2026 | Custom SQL pools were cited as preview</a:t>
            </a:r>
          </a:p>
        </p:txBody>
      </p:sp>
      <p:pic>
        <p:nvPicPr>
          <p:cNvPr id="5" name="design_icon_Picture 4" descr="settings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Admins can configure workload classifiers and resource allocation</a:t>
            </a:r>
          </a:p>
        </p:txBody>
      </p:sp>
      <p:pic>
        <p:nvPicPr>
          <p:cNvPr id="7" name="design_icon_Picture 6" descr="settings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adds stronger operational control for structured workloads</a:t>
            </a:r>
          </a:p>
        </p:txBody>
      </p:sp>
      <p:pic>
        <p:nvPicPr>
          <p:cNvPr id="9" name="design_icon_Picture 8" descr="settings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settings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DATE_BUCKET Support Strengthens Time-Based Analytical Aggregation in Warehouse SQL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85340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1F2937"/>
                </a:solidFill>
                <a:latin typeface="Meiryo UI"/>
              </a:rPr>
              <a:t>Custom interval aggregation matters because enterprise reporting often needs business-specific time windows rather than default calendar groupings.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3176991"/>
            <a:ext cx="11274552" cy="773073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December 2025 | DATE_BUCKET was cited as generally available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3176991"/>
            <a:ext cx="73152" cy="773073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calendar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268431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990879"/>
            <a:ext cx="11274552" cy="773073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function supports custom time-based aggregations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990879"/>
            <a:ext cx="73152" cy="773073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calendar-add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4082319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804766"/>
            <a:ext cx="11274552" cy="773073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improves flexibility for reporting and operational analysis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804766"/>
            <a:ext cx="73152" cy="773073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calendar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96206"/>
            <a:ext cx="219456" cy="219456"/>
          </a:xfrm>
          <a:prstGeom prst="rect">
            <a:avLst/>
          </a:prstGeom>
        </p:spPr>
      </p:pic>
      <p:pic>
        <p:nvPicPr>
          <p:cNvPr id="13" name="icon_Picture 12" descr="calendar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Refresh SQL Endpoint Metadata via REST API Improves Warehouse Operability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3460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July 2025 REST API GA matters because structured analytics platforms must be manageable through automation as well as UI.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536192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084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July 2025 | Refresh SQL analytics endpoint metadata via REST API became generally available</a:t>
            </a:r>
          </a:p>
        </p:txBody>
      </p:sp>
      <p:pic>
        <p:nvPicPr>
          <p:cNvPr id="5" name="design_icon_Picture 4" descr="wrench-settings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37962" cy="337962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536192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084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API-based control supports repeatable administration</a:t>
            </a:r>
          </a:p>
        </p:txBody>
      </p:sp>
      <p:pic>
        <p:nvPicPr>
          <p:cNvPr id="7" name="design_icon_Picture 6" descr="wrench-settings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37962" cy="337962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33672"/>
            <a:ext cx="5486400" cy="1536192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084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improves fit with managed enterprise operating models</a:t>
            </a:r>
          </a:p>
        </p:txBody>
      </p:sp>
      <p:pic>
        <p:nvPicPr>
          <p:cNvPr id="9" name="design_icon_Picture 8" descr="wrench-settings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25112"/>
            <a:ext cx="337962" cy="337962"/>
          </a:xfrm>
          <a:prstGeom prst="rect">
            <a:avLst/>
          </a:prstGeom>
        </p:spPr>
      </p:pic>
      <p:pic>
        <p:nvPicPr>
          <p:cNvPr id="10" name="icon_Picture 9" descr="wrench-settings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Warehouse Evolution Shows Fabric Is Building Depth as Well as Breadth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warehouse branch is compelling because the release stream covers syntax, performance, interoperability, and admin control together.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Syntax depth | MERGE, JSON aggregates, DATE_BUCKET</a:t>
            </a:r>
          </a:p>
        </p:txBody>
      </p:sp>
      <p:pic>
        <p:nvPicPr>
          <p:cNvPr id="5" name="design_icon_Picture 4" descr="task-list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Operational depth | Caching, DOP feedback, REST API, custom SQL pools</a:t>
            </a:r>
          </a:p>
        </p:txBody>
      </p:sp>
      <p:pic>
        <p:nvPicPr>
          <p:cNvPr id="7" name="design_icon_Picture 6" descr="task-list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Continuity depth | Snapshots and OneLake access paths</a:t>
            </a:r>
          </a:p>
        </p:txBody>
      </p:sp>
      <p:pic>
        <p:nvPicPr>
          <p:cNvPr id="9" name="design_icon_Picture 8" descr="task-list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checkmark-24-regular_t_D3DA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Databases Round Out Fabric’s Structured Data Story Beyond Warehousing Alone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The Databases experience matters because some workloads need operational or transactional patterns alongside analytical storage.</a:t>
            </a:r>
          </a:p>
        </p:txBody>
      </p:sp>
      <p:pic>
        <p:nvPicPr>
          <p:cNvPr id="4" name="icon_Picture 3" descr="database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Databases Expand Fabric Beyond Curated Analytics Toward More Operational Structured Use Cases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named database experience broadens Fabric’s execution range because not all structured data work is warehouse-centric.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783342"/>
            <a:ext cx="11274552" cy="899828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Databases are explicitly one of the 6 named experiences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783342"/>
            <a:ext cx="73152" cy="899828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hard-driv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87478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30676"/>
            <a:ext cx="11274552" cy="899828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mentions transactional processing in the wider lifecycle description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30676"/>
            <a:ext cx="73152" cy="899828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hard-drive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22116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78011"/>
            <a:ext cx="11274552" cy="899828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suggests Fabric wants a fuller structured-data operating model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78011"/>
            <a:ext cx="73152" cy="899828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hard-drive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69451"/>
            <a:ext cx="219456" cy="219456"/>
          </a:xfrm>
          <a:prstGeom prst="rect">
            <a:avLst/>
          </a:prstGeom>
        </p:spPr>
      </p:pic>
      <p:pic>
        <p:nvPicPr>
          <p:cNvPr id="13" name="icon_Picture 12" descr="hard-driv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Warehouse and Databases Stay Distinct Because Analytical and Operational Patterns Differ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740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Keeping database work separate from warehouse work preserves the MECE structure of Fabric’s SQL estate.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821472"/>
            <a:ext cx="5522976" cy="275636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Warehouse focus | Curated analytical consumption and reporting-oriented SQL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Database focus | More operational or transactional structured-data scenarios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821472"/>
            <a:ext cx="5522976" cy="275636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Framework benefit | The two branches remain adjacent without overlap</a:t>
            </a:r>
          </a:p>
        </p:txBody>
      </p:sp>
      <p:pic>
        <p:nvPicPr>
          <p:cNvPr id="6" name="design_icon_Picture 5" descr="warning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9129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912912"/>
            <a:ext cx="237744" cy="237744"/>
          </a:xfrm>
          <a:prstGeom prst="rect">
            <a:avLst/>
          </a:prstGeom>
        </p:spPr>
      </p:pic>
      <p:pic>
        <p:nvPicPr>
          <p:cNvPr id="8" name="icon_Picture 7" descr="navigation-24-regular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Dynamic Data Masking GA Shows Fabric Is Adding Enterprise Controls Inside SQL Engines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General availability of Dynamic Data Masking strengthens the credibility of Fabric’s database and SQL platform for governed use.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cites Dynamic Data Masking GA as part of SQL platform evolution</a:t>
            </a:r>
          </a:p>
        </p:txBody>
      </p:sp>
      <p:pic>
        <p:nvPicPr>
          <p:cNvPr id="5" name="design_icon_Picture 4" descr="passwor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Masking matters when sensitive fields must be protected in broader access scenarios</a:t>
            </a:r>
          </a:p>
        </p:txBody>
      </p:sp>
      <p:pic>
        <p:nvPicPr>
          <p:cNvPr id="7" name="design_icon_Picture 6" descr="password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links structured-data depth with governance readiness</a:t>
            </a:r>
          </a:p>
        </p:txBody>
      </p:sp>
      <p:pic>
        <p:nvPicPr>
          <p:cNvPr id="9" name="design_icon_Picture 8" descr="passwor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password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Full-Text and Vector Index Improvements Show Fabric Is Modernizing SQL Access Patterns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Index evolution matters because analytical and AI-oriented queries increasingly depend on richer search and retrieval behavior.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highlights vector index improvements and full-text indexing preview</a:t>
            </a:r>
          </a:p>
        </p:txBody>
      </p:sp>
      <p:pic>
        <p:nvPicPr>
          <p:cNvPr id="5" name="design_icon_Picture 4" descr="search-info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broadens Fabric beyond classic row-and-column lookup patterns</a:t>
            </a:r>
          </a:p>
        </p:txBody>
      </p:sp>
      <p:pic>
        <p:nvPicPr>
          <p:cNvPr id="7" name="design_icon_Picture 6" descr="search-info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also creates a bridge between databases, warehouse, and AI use cases</a:t>
            </a:r>
          </a:p>
        </p:txBody>
      </p:sp>
      <p:pic>
        <p:nvPicPr>
          <p:cNvPr id="9" name="design_icon_Picture 8" descr="search-info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search-info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Automatic Index Compaction Signals Operational Maturity in Fabric’s SQL Engines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Performance-oriented maintenance features matter because enterprise teams need sustainable behavior, not only one-time speed boosts.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cites automatic index compaction as part of SQL evolution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wrench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Automated maintenance reduces manual overhead for operators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wrench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strengthens the case for managed structured-data workloads in Fabric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wrench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wrench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Database Capability Completes Fabric’s Structured Data Coverage Inside the Execution Branch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With both warehouse and databases represented, Fabric can support a wider range of SQL-centric scenarios on one platform.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867454"/>
            <a:ext cx="5567324" cy="84065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Warehouse covers curated analytics</a:t>
            </a:r>
          </a:p>
        </p:txBody>
      </p:sp>
      <p:pic>
        <p:nvPicPr>
          <p:cNvPr id="5" name="design_icon_Picture 4" descr="task-list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95889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867454"/>
            <a:ext cx="5567324" cy="84065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Databases broaden structured operational use cases</a:t>
            </a:r>
          </a:p>
        </p:txBody>
      </p:sp>
      <p:pic>
        <p:nvPicPr>
          <p:cNvPr id="7" name="design_icon_Picture 6" descr="task-list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95889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37185"/>
            <a:ext cx="5567324" cy="84065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Together they round out the execution portfolio</a:t>
            </a:r>
          </a:p>
        </p:txBody>
      </p:sp>
      <p:pic>
        <p:nvPicPr>
          <p:cNvPr id="9" name="design_icon_Picture 8" descr="task-list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28625"/>
            <a:ext cx="164592" cy="164592"/>
          </a:xfrm>
          <a:prstGeom prst="rect">
            <a:avLst/>
          </a:prstGeom>
        </p:spPr>
      </p:pic>
      <p:pic>
        <p:nvPicPr>
          <p:cNvPr id="10" name="icon_Picture 9" descr="database-link-24-regular_t_FFE4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714232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Six Workloads Cover the Analytics Lifecycle More Completely When Read Together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714232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execution strength comes from how the workloads connect, not only from the quality of each one individually.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2910352"/>
            <a:ext cx="7882127" cy="858931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Acquire | Data Factory and supporting landing patterns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457200" y="3814630"/>
            <a:ext cx="7882127" cy="858931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Prepare and discover | Data Engineering, Data Science, Real-Time Intelligence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457200" y="4718908"/>
            <a:ext cx="7882127" cy="858931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Consume and structure | Data Warehouse and Databases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navigation-24-regular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5486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Shared Storage Makes Cross-Workload Handoffs More Direct Than in Separate Toolchains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execution portfolio is more useful because OneLake reduces the cost of passing assets between workloads.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Engineering outputs can feed science and warehouse paths</a:t>
            </a:r>
          </a:p>
        </p:txBody>
      </p:sp>
      <p:pic>
        <p:nvPicPr>
          <p:cNvPr id="5" name="design_icon_Picture 4" descr="database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Factory landings can become reusable OneLake assets immediately</a:t>
            </a:r>
          </a:p>
        </p:txBody>
      </p:sp>
      <p:pic>
        <p:nvPicPr>
          <p:cNvPr id="7" name="design_icon_Picture 6" descr="database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Real-time and historical assets can remain in one broader estate</a:t>
            </a:r>
          </a:p>
        </p:txBody>
      </p:sp>
      <p:pic>
        <p:nvPicPr>
          <p:cNvPr id="9" name="design_icon_Picture 8" descr="database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database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Execution Breadth Gives Fabric a Better Chance to Replace Partial Point Solutions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Because Fabric spans ingestion, prep, science, streaming, and SQL, organizations can standardize more work on one platform.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Breadth reduces the need for separate platforms across adjacent tasks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target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Continuity reduces rework between those tasks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target-add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combination is what makes the workload story strategically meaningful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target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target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Execution Branch Confirms Fabric’s Core Promise Is More Than Marketing Language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six named workloads give the platform a defensible claim to end-to-end coverage across major analytics domains.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Coverage spans batch, real time, SQL, AI, and reporting-adjacent workflows</a:t>
            </a:r>
          </a:p>
        </p:txBody>
      </p:sp>
      <p:pic>
        <p:nvPicPr>
          <p:cNvPr id="5" name="design_icon_Picture 4" descr="task-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Concrete 2025–2026 features support the claim with evidence</a:t>
            </a:r>
          </a:p>
        </p:txBody>
      </p:sp>
      <p:pic>
        <p:nvPicPr>
          <p:cNvPr id="7" name="design_icon_Picture 6" descr="task-lis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next question is whether Fabric also governs this range effectively</a:t>
            </a:r>
          </a:p>
        </p:txBody>
      </p:sp>
      <p:pic>
        <p:nvPicPr>
          <p:cNvPr id="9" name="design_icon_Picture 8" descr="task-lis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checkmark-lock-24-regular_t_DDE4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69175"/>
            <a:ext cx="8193024" cy="1513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100" b="1">
                <a:solidFill>
                  <a:srgbClr val="1F2937"/>
                </a:solidFill>
                <a:latin typeface="Meiryo UI"/>
              </a:rPr>
              <a:t>Governance and Operations Matter Because Breadth Without Control Does Not Scale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Fabric’s enterprise value depends not only on coverage, but also on the controls that let organizations run the platform safely and repeatably.</a:t>
            </a:r>
          </a:p>
        </p:txBody>
      </p:sp>
      <p:pic>
        <p:nvPicPr>
          <p:cNvPr id="4" name="icon_Picture 3" descr="shield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Governance in Fabric Starts With Workspace Roles and Item-Level Permissions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Access control is foundational because collaboration only scales when authority and visibility are explicit.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27101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Workspace roles set baseline authority</a:t>
            </a:r>
          </a:p>
        </p:txBody>
      </p:sp>
      <p:pic>
        <p:nvPicPr>
          <p:cNvPr id="5" name="design_icon_Picture 4" descr="lock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271016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Item-level sharing adds more granular access control</a:t>
            </a:r>
          </a:p>
        </p:txBody>
      </p:sp>
      <p:pic>
        <p:nvPicPr>
          <p:cNvPr id="7" name="design_icon_Picture 6" descr="lock-24-regular_t_FF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3968496"/>
            <a:ext cx="5486400" cy="127101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combination supports both teamwork and selective distribution</a:t>
            </a:r>
          </a:p>
        </p:txBody>
      </p:sp>
      <p:pic>
        <p:nvPicPr>
          <p:cNvPr id="9" name="design_icon_Picture 8" descr="lock-24-regular_t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059935"/>
            <a:ext cx="310896" cy="310896"/>
          </a:xfrm>
          <a:prstGeom prst="rect">
            <a:avLst/>
          </a:prstGeom>
        </p:spPr>
      </p:pic>
      <p:pic>
        <p:nvPicPr>
          <p:cNvPr id="10" name="icon_Picture 9" descr="lock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Endorsement and Certification Turn Fabric Assets Into More Trustworthy Shared Resources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Governed metadata matters because enterprises need to distinguish trusted assets from merely available ones.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cites endorsement and certification among governance features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badg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These signals help users find approved assets faster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badge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reduces misuse and improves platform trust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badge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badge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Sensitivity Labels Extend Governance Into Data Protection Workflows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Sensitivity labeling matters because broad platform adoption increases the need to classify and protect important content consistently.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41448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lists sensitivity labels as governance features</a:t>
            </a:r>
          </a:p>
        </p:txBody>
      </p:sp>
      <p:pic>
        <p:nvPicPr>
          <p:cNvPr id="5" name="design_icon_Picture 4" descr="fingerprint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3288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41448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Labels help signal protection expectations across shared assets</a:t>
            </a:r>
          </a:p>
        </p:txBody>
      </p:sp>
      <p:pic>
        <p:nvPicPr>
          <p:cNvPr id="7" name="design_icon_Picture 6" descr="fingerprint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3288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14215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strengthens enterprise readiness beyond simple access control</a:t>
            </a:r>
          </a:p>
        </p:txBody>
      </p:sp>
      <p:pic>
        <p:nvPicPr>
          <p:cNvPr id="9" name="design_icon_Picture 8" descr="fingerprint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05655"/>
            <a:ext cx="310896" cy="310896"/>
          </a:xfrm>
          <a:prstGeom prst="rect">
            <a:avLst/>
          </a:prstGeom>
        </p:spPr>
      </p:pic>
      <p:pic>
        <p:nvPicPr>
          <p:cNvPr id="10" name="icon_Picture 9" descr="fingerprint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Built-In Sharing Controls Reduce the Need for External Governance Workarounds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is stronger because access, endorsement, and certification are native platform behaviors rather than afterthoughts.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474720"/>
            <a:ext cx="5567324" cy="1033683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Permissions control who can see and act</a:t>
            </a:r>
          </a:p>
        </p:txBody>
      </p:sp>
      <p:pic>
        <p:nvPicPr>
          <p:cNvPr id="5" name="design_icon_Picture 4" descr="task-list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566160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474720"/>
            <a:ext cx="5567324" cy="1033683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Certification signals what should be trusted</a:t>
            </a:r>
          </a:p>
        </p:txBody>
      </p:sp>
      <p:pic>
        <p:nvPicPr>
          <p:cNvPr id="7" name="design_icon_Picture 6" descr="task-list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566160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44156"/>
            <a:ext cx="5567324" cy="1033683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Labels help distinguish what needs protection</a:t>
            </a:r>
          </a:p>
        </p:txBody>
      </p:sp>
      <p:pic>
        <p:nvPicPr>
          <p:cNvPr id="9" name="design_icon_Picture 8" descr="task-list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35596"/>
            <a:ext cx="164592" cy="164592"/>
          </a:xfrm>
          <a:prstGeom prst="rect">
            <a:avLst/>
          </a:prstGeom>
        </p:spPr>
      </p:pic>
      <p:pic>
        <p:nvPicPr>
          <p:cNvPr id="10" name="icon_Picture 9" descr="shield-add-24-regular_t_DCFE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Scheduling Discipline Is Essential Because Many Fabric Workflows Depend on Repeatable Timing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Schedules are operationally important because ingestion, refresh, and recurring jobs need dependable cadence control.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references scheduling as part of governance and operations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calendar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Schedules connect directly to Data Factory and deployment workflows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calendar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 broad analytics platform still relies on disciplined timing behavior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calendar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calendar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Auto-Disable After About 10 Failed Runs Protects Capacity From Repeated Job Failure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documented safeguard matters because operational platforms need a built-in brake on runaway failure loops.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2478572"/>
            <a:ext cx="3538728" cy="2368296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The source notes schedulers can auto-disable after about 10 consecutive failed runs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2478572"/>
            <a:ext cx="3538728" cy="2368296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This prevents repeated failure from continuing unchecked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2478572"/>
            <a:ext cx="3538728" cy="236829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It protects both capacity and operator attention</a:t>
            </a:r>
          </a:p>
        </p:txBody>
      </p:sp>
      <p:pic>
        <p:nvPicPr>
          <p:cNvPr id="7" name="icon_Picture 6" descr="warning-lock-open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Failure Safeguards Show Fabric Treats Reliability as Part of the Product Design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Operational controls matter because preventing repeated bad runs is as important as enabling successful ones.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Without safeguard | Jobs can continue failing and consuming attention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With safeguard | Repeated failures trigger an automatic stop after about 10 runs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Practical effect | Operators can intervene before waste compounds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error-circle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Git Integration Matters Because Analytics Assets Need the Same Delivery Discipline as Code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57969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becomes more enterprise-ready when deployment and versioning can follow repeatable engineering practices.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86908"/>
            <a:ext cx="5486400" cy="127101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cites Git integration and .schedules files</a:t>
            </a:r>
          </a:p>
        </p:txBody>
      </p:sp>
      <p:pic>
        <p:nvPicPr>
          <p:cNvPr id="5" name="design_icon_Picture 4" descr="code-24-regular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78348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86908"/>
            <a:ext cx="5486400" cy="127101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connects scheduling and asset changes to source-controlled workflows</a:t>
            </a:r>
          </a:p>
        </p:txBody>
      </p:sp>
      <p:pic>
        <p:nvPicPr>
          <p:cNvPr id="7" name="design_icon_Picture 6" descr="code-24-regular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78348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13956"/>
            <a:ext cx="5486400" cy="127101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supports more disciplined deployment and review</a:t>
            </a:r>
          </a:p>
        </p:txBody>
      </p:sp>
      <p:pic>
        <p:nvPicPr>
          <p:cNvPr id="9" name="design_icon_Picture 8" descr="code-24-regular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405396"/>
            <a:ext cx="310896" cy="310896"/>
          </a:xfrm>
          <a:prstGeom prst="rect">
            <a:avLst/>
          </a:prstGeom>
        </p:spPr>
      </p:pic>
      <p:pic>
        <p:nvPicPr>
          <p:cNvPr id="10" name="icon_Picture 9" descr="navigation-24-regular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Schedule Deployment Support Turns Time-Based Workflows Into Deployable Assets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CI/CD story is stronger because schedules are not treated as manual-only runtime settings.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explicitly mentions schedule deployment support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upload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helps teams move timing logic across environments more consistently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upload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reduces the risk of undocumented manual configuration drift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upload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upload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Portal and API Administration Expand Fabric Beyond Click-Only Operations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Administrative flexibility matters because enterprise operating models need both human and automated control paths.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references portal/API administration</a:t>
            </a:r>
          </a:p>
        </p:txBody>
      </p:sp>
      <p:pic>
        <p:nvPicPr>
          <p:cNvPr id="5" name="design_icon_Picture 4" descr="wrench-settings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APIs enable automation and repeatability at scale</a:t>
            </a:r>
          </a:p>
        </p:txBody>
      </p:sp>
      <p:pic>
        <p:nvPicPr>
          <p:cNvPr id="7" name="design_icon_Picture 6" descr="wrench-settings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improves fit with managed service and platform teams</a:t>
            </a:r>
          </a:p>
        </p:txBody>
      </p:sp>
      <p:pic>
        <p:nvPicPr>
          <p:cNvPr id="9" name="design_icon_Picture 8" descr="wrench-settings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wrench-settings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Known-Issues Workflows Matter Because Transparency Helps Teams Operate With Realistic Expectations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platform becomes easier to trust when known limitations are surfaced as part of the operating model rather than hidden.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mentions built-in known-issues workflows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info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Operational teams benefit from visible issue tracking and guidance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info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supports more realistic planning and support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info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info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Help and Support Paths Are Part of Enterprise Operability, Not Peripheral Extras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 broad platform must guide users through issues and enable escalation when problems affect delivery.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includes help and support in the governance branch</a:t>
            </a:r>
          </a:p>
        </p:txBody>
      </p:sp>
      <p:pic>
        <p:nvPicPr>
          <p:cNvPr id="5" name="design_icon_Picture 4" descr="question-circ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Support paths matter more as more teams share the same platform</a:t>
            </a:r>
          </a:p>
        </p:txBody>
      </p:sp>
      <p:pic>
        <p:nvPicPr>
          <p:cNvPr id="7" name="design_icon_Picture 6" descr="question-circle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reduces the cost of platform-wide learning and issue resolution</a:t>
            </a:r>
          </a:p>
        </p:txBody>
      </p:sp>
      <p:pic>
        <p:nvPicPr>
          <p:cNvPr id="9" name="design_icon_Picture 8" descr="question-circ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question-circle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Notebook Version History GA Shows Fabric Is Improving Native Change Traceability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Version history matters because iterative analytical work needs recoverability and visible change progression.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June 2025 | Notebook version history was cited as generally available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history-dismiss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Built-in checkpoints and tracked changes strengthen change traceability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history-dismiss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supports safer collaborative notebook work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history-dismiss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history-dismiss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T-SQL Notebooks GA Strengthens Governance Across SQL and Notebook Workflows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General availability of T-SQL notebooks matters because it brings structured query work into a more traceable interactive form.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June 2025 | T-SQL notebooks were cited as generally available</a:t>
            </a:r>
          </a:p>
        </p:txBody>
      </p:sp>
      <p:pic>
        <p:nvPicPr>
          <p:cNvPr id="5" name="design_icon_Picture 4" descr="code-24-regular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This helps unify notebook collaboration with SQL-centric work</a:t>
            </a:r>
          </a:p>
        </p:txBody>
      </p:sp>
      <p:pic>
        <p:nvPicPr>
          <p:cNvPr id="7" name="design_icon_Picture 6" descr="code-24-regular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improves continuity between exploratory and structured operations</a:t>
            </a:r>
          </a:p>
        </p:txBody>
      </p:sp>
      <p:pic>
        <p:nvPicPr>
          <p:cNvPr id="9" name="design_icon_Picture 8" descr="code-24-regular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navigation-24-regular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Managed Platform Operations Depend on Clear Tenant-Level Controls for AI Features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Copilot governance matters because enabling AI is an administrative choice tied to settings, regions, and capacity.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2457267"/>
          <a:ext cx="11128248" cy="2736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843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666666"/>
                          </a:solidFill>
                          <a:latin typeface="Meiryo UI"/>
                        </a:rPr>
                        <a:t>Control</a:t>
                      </a:r>
                    </a:p>
                  </a:txBody>
                  <a:tcPr marT="36576" marB="36576" anchor="ctr">
                    <a:solidFill>
                      <a:srgbClr val="E4F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666666"/>
                          </a:solidFill>
                          <a:latin typeface="Meiryo UI"/>
                        </a:rPr>
                        <a:t>Operational implication</a:t>
                      </a:r>
                    </a:p>
                  </a:txBody>
                  <a:tcPr marT="36576" marB="36576" anchor="ctr">
                    <a:solidFill>
                      <a:srgbClr val="E4F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934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Tenant settings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Admins decide whether users can use Copilot and related Azure OpenAI features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34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Capacity and region</a:t>
                      </a:r>
                    </a:p>
                  </a:txBody>
                  <a:tcPr marT="36576" marB="36576" anchor="ctr">
                    <a:solidFill>
                      <a:srgbClr val="FCFF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Meiryo UI"/>
                        </a:rPr>
                        <a:t>F64+, cross-geo processing, and eligible workspaces shape availability</a:t>
                      </a:r>
                    </a:p>
                  </a:txBody>
                  <a:tcPr marT="36576" marB="36576" anchor="ctr">
                    <a:solidFill>
                      <a:srgbClr val="FCF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icon_Picture 4" descr="key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Region Mapping Makes Data Residency a Live Governance Topic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Cross-geo processing matters because Copilot may need to use Azure OpenAI regions outside the user’s default geography.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explains region mapping for Copilot in Fabric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globe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Data residency is prioritized where feasible but not guaranteed to stay in the same geography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globe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makes tenant settings and policy decisions important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globe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globe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Capacity Requirements Keep Copilot Adoption Tied to Deliberate Platform Investment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F64+ requirement matters because AI usage in Fabric is designed as a governed capacity decision, not a free ambient feature.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2834182"/>
            <a:ext cx="3538728" cy="2011680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Minimum requirement cited | F64 or higher capacity, or supported equivalent/trial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2834182"/>
            <a:ext cx="3538728" cy="2011680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The source uses an F64 example to estimate request volume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2834182"/>
            <a:ext cx="3538728" cy="2011680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That links AI rollout to capacity planning and governance</a:t>
            </a:r>
          </a:p>
        </p:txBody>
      </p:sp>
      <p:pic>
        <p:nvPicPr>
          <p:cNvPr id="7" name="icon_Picture 6" descr="calculator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Cost Framing Shows Governance Must Include Consumption Awareness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source’s CU example matters because AI assistance consumes shared capacity and therefore belongs in platform operations.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Example given | ~6.67 CU minutes per Copilot job</a:t>
            </a:r>
          </a:p>
        </p:txBody>
      </p:sp>
      <p:pic>
        <p:nvPicPr>
          <p:cNvPr id="5" name="design_icon_Picture 4" descr="money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F64 example | 64 x 24 CU hours per day equals 1,536 CU hours</a:t>
            </a:r>
          </a:p>
        </p:txBody>
      </p:sp>
      <p:pic>
        <p:nvPicPr>
          <p:cNvPr id="7" name="design_icon_Picture 6" descr="money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Illustrative estimate | Over 13,824 requests before exhausting capacity in the example</a:t>
            </a:r>
          </a:p>
        </p:txBody>
      </p:sp>
      <p:pic>
        <p:nvPicPr>
          <p:cNvPr id="9" name="design_icon_Picture 8" descr="money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money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Security, Compliance, and Governance Messaging Show Fabric Treats Copilot as an Enterprise Feature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8026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1F2937"/>
                </a:solidFill>
                <a:latin typeface="Meiryo UI"/>
              </a:rPr>
              <a:t>The presence of DSPM for AI, eDiscovery guidance, and tenant controls suggests AI is being positioned for regulated environments, not only convenience.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3126242"/>
            <a:ext cx="11274552" cy="78941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references DSPM for AI reporting and review workflows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3126242"/>
            <a:ext cx="73152" cy="78941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shield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21768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957333"/>
            <a:ext cx="11274552" cy="789414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also references eDiscovery search using ItemClass values for Fabric Copilot interactions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957333"/>
            <a:ext cx="73152" cy="789414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shield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4048773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88425"/>
            <a:ext cx="11274552" cy="78941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These signals place AI inside a broader compliance model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88425"/>
            <a:ext cx="73152" cy="78941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shield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79865"/>
            <a:ext cx="219456" cy="219456"/>
          </a:xfrm>
          <a:prstGeom prst="rect">
            <a:avLst/>
          </a:prstGeom>
        </p:spPr>
      </p:pic>
      <p:pic>
        <p:nvPicPr>
          <p:cNvPr id="13" name="icon_Picture 12" descr="shield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eDiscovery Guidance Extends Governance Into Preservation and Review of Copilot Interactions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ability to search and preserve Fabric Copilot interactions matters because AI usage increasingly falls inside compliance workflows.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points users to Microsoft Purview eDiscovery cases</a:t>
            </a:r>
          </a:p>
        </p:txBody>
      </p:sp>
      <p:pic>
        <p:nvPicPr>
          <p:cNvPr id="5" name="design_icon_Picture 4" descr="archive-clock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provides an ItemClass pattern for searching Copilot interactions</a:t>
            </a:r>
          </a:p>
        </p:txBody>
      </p:sp>
      <p:pic>
        <p:nvPicPr>
          <p:cNvPr id="7" name="design_icon_Picture 6" descr="archive-clock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enables review, preservation, and export of relevant interactions</a:t>
            </a:r>
          </a:p>
        </p:txBody>
      </p:sp>
      <p:pic>
        <p:nvPicPr>
          <p:cNvPr id="9" name="design_icon_Picture 8" descr="archive-clock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archive-clock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Governance in Fabric Is Broader Than Security Because It Also Covers Reliability, Delivery, and Transparency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control branch is strong because it spans permissions, schedules, Git, APIs, failure handling, compliance, and support together.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943624"/>
            <a:ext cx="5567324" cy="80321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Access and trust | Roles, sharing, certification, labels</a:t>
            </a:r>
          </a:p>
        </p:txBody>
      </p:sp>
      <p:pic>
        <p:nvPicPr>
          <p:cNvPr id="5" name="design_icon_Picture 4" descr="task-list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403506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943624"/>
            <a:ext cx="5567324" cy="80321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Operational discipline | Scheduling, auto-disable, deployment, APIs</a:t>
            </a:r>
          </a:p>
        </p:txBody>
      </p:sp>
      <p:pic>
        <p:nvPicPr>
          <p:cNvPr id="7" name="design_icon_Picture 6" descr="task-list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403506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74622"/>
            <a:ext cx="5567324" cy="80321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Compliance and support | Region controls, eDiscovery, help, known issues</a:t>
            </a:r>
          </a:p>
        </p:txBody>
      </p:sp>
      <p:pic>
        <p:nvPicPr>
          <p:cNvPr id="9" name="design_icon_Picture 8" descr="task-list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66062"/>
            <a:ext cx="164592" cy="164592"/>
          </a:xfrm>
          <a:prstGeom prst="rect">
            <a:avLst/>
          </a:prstGeom>
        </p:spPr>
      </p:pic>
      <p:pic>
        <p:nvPicPr>
          <p:cNvPr id="10" name="icon_Picture 9" descr="checkmark-lock-24-regular_t_E4FE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Built-In Controls Strengthen Fabric’s Case as a Shared Enterprise Platform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governance model matters because the platform is intended for broad organizational use, not isolated experiments.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Native controls reduce the need for external workarounds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organization-horizontal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Operational safeguards protect platform reliability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organization-horizontal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Compliance hooks improve fit for regulated environments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organization-horizontal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organization-horizontal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2937"/>
                </a:solidFill>
                <a:latin typeface="Meiryo UI"/>
              </a:rPr>
              <a:t>Innovation Matters Because Fabric Is Evolving Across AI, Data Access, and SQL Performance at Once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The final branch shows that Fabric is not static; it is adding capabilities in several strategically important directions simultaneously.</a:t>
            </a:r>
          </a:p>
        </p:txBody>
      </p:sp>
      <p:pic>
        <p:nvPicPr>
          <p:cNvPr id="4" name="icon_Picture 3" descr="brain-sparkle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Is Becoming a Cross-Workload Productivity Layer Inside Fabric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AI assistance matters because it appears across multiple experiences rather than in only one narrow workflow.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Data Factory has workload-specific Copilot support</a:t>
            </a:r>
          </a:p>
        </p:txBody>
      </p:sp>
      <p:pic>
        <p:nvPicPr>
          <p:cNvPr id="5" name="design_icon_Picture 4" descr="bot-spark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SQL analytics endpoint has Copilot preview support</a:t>
            </a:r>
          </a:p>
        </p:txBody>
      </p:sp>
      <p:pic>
        <p:nvPicPr>
          <p:cNvPr id="7" name="design_icon_Picture 6" descr="bot-sparkle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broader Fabric Copilot story includes tenant, region, and capacity controls</a:t>
            </a:r>
          </a:p>
        </p:txBody>
      </p:sp>
      <p:pic>
        <p:nvPicPr>
          <p:cNvPr id="9" name="design_icon_Picture 8" descr="bot-sparkle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bot-sparkle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8280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1F2937"/>
                </a:solidFill>
                <a:latin typeface="Meiryo UI"/>
              </a:rPr>
              <a:t>Copilot’s Capacity Model Shows AI Assistance Is Meant for Scaled Shared Use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44987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source’s CU example implies that Copilot usage is not a novelty feature but a capacity-managed operating workload.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2441448"/>
            <a:ext cx="3538728" cy="2404872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~6.67 CU minutes per job in the cited example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2441448"/>
            <a:ext cx="3538728" cy="2404872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1,536 CU hours per day in the F64 illustration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2441448"/>
            <a:ext cx="3538728" cy="2404872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1F2937"/>
                </a:solidFill>
                <a:latin typeface="Meiryo UI"/>
              </a:rPr>
              <a:t>Over 13,824 requests estimated before daily exhaustion in that example</a:t>
            </a:r>
          </a:p>
        </p:txBody>
      </p:sp>
      <p:pic>
        <p:nvPicPr>
          <p:cNvPr id="7" name="icon_Picture 6" descr="counter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Region Mapping Reveals That Copilot Innovation Is Constrained by Real Infrastructure Geography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AI momentum is meaningful, but it still depends on where Azure OpenAI capacity is available.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explains that Azure OpenAI models are in limited data centers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earth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Cross-geo processing may be needed for some tenants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earth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creates a practical boundary around AI rollout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earth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earth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2331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Mirroring Is a Strategic Innovation Because It Shrinks the Distance Between Operational and Analytical Data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5367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Mirroring matters because it reduces the need for heavy custom integration before operational sources can participate in analytics.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14762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cites built-in mirroring to OneLake</a:t>
            </a:r>
          </a:p>
        </p:txBody>
      </p:sp>
      <p:pic>
        <p:nvPicPr>
          <p:cNvPr id="5" name="design_icon_Picture 4" descr="arrow-sync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0620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14762"/>
            <a:ext cx="5486400" cy="1316736"/>
          </a:xfrm>
          <a:prstGeom prst="roundRect">
            <a:avLst/>
          </a:prstGeom>
          <a:solidFill>
            <a:srgbClr val="F4FFF8">
              <a:alpha val="90000"/>
            </a:srgbClr>
          </a:solidFill>
          <a:ln w="6350">
            <a:solidFill>
              <a:srgbClr val="F4F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July 2025 also cites mirrored Azure Databricks catalogs as generally available</a:t>
            </a:r>
          </a:p>
        </p:txBody>
      </p:sp>
      <p:pic>
        <p:nvPicPr>
          <p:cNvPr id="7" name="design_icon_Picture 6" descr="arrow-sync-24-regular_t_F4FF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0620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87530"/>
            <a:ext cx="5486400" cy="1316736"/>
          </a:xfrm>
          <a:prstGeom prst="roundRect">
            <a:avLst/>
          </a:prstGeom>
          <a:solidFill>
            <a:srgbClr val="F5FFF9">
              <a:alpha val="90000"/>
            </a:srgbClr>
          </a:solidFill>
          <a:ln w="6350">
            <a:solidFill>
              <a:srgbClr val="F5F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broadens how external operational estates can connect to Fabric</a:t>
            </a:r>
          </a:p>
        </p:txBody>
      </p:sp>
      <p:pic>
        <p:nvPicPr>
          <p:cNvPr id="9" name="design_icon_Picture 8" descr="arrow-sync-24-regular_t_F5FF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78970"/>
            <a:ext cx="310896" cy="310896"/>
          </a:xfrm>
          <a:prstGeom prst="rect">
            <a:avLst/>
          </a:prstGeom>
        </p:spPr>
      </p:pic>
      <p:pic>
        <p:nvPicPr>
          <p:cNvPr id="10" name="icon_Picture 9" descr="arrow-sync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Mirrored Azure Databricks Catalogs Show Fabric Is Expanding Interoperability Beyond Microsoft-Native Assets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General availability of mirrored Unity Catalog access in July 2025 matters because it expands Fabric’s reach into adjacent data ecosystems.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July 2025 | Mirrored Azure Databricks catalogs were cited as generally available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globe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feature lets Fabric workloads read data managed by Unity Catalog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globe-add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Firewall-backed storage accounts were also noted as generally available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globe-add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globe-add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Apache Iceberg in OneLake Strengthens Fabric’s Open Data Access Story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Iceberg support matters because open table formats improve interoperability and future flexibility for shared data assets.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highlights Apache Iceberg in OneLake as part of the innovation layer</a:t>
            </a:r>
          </a:p>
        </p:txBody>
      </p:sp>
      <p:pic>
        <p:nvPicPr>
          <p:cNvPr id="5" name="design_icon_Picture 4" descr="archive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2F4FE">
              <a:alpha val="90000"/>
            </a:srgbClr>
          </a:solidFill>
          <a:ln w="6350">
            <a:solidFill>
              <a:srgbClr val="F2F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supports more open access paths around shared storage</a:t>
            </a:r>
          </a:p>
        </p:txBody>
      </p:sp>
      <p:pic>
        <p:nvPicPr>
          <p:cNvPr id="7" name="design_icon_Picture 6" descr="archive-24-regular_t_F2F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5FF">
              <a:alpha val="90000"/>
            </a:srgbClr>
          </a:solidFill>
          <a:ln w="6350">
            <a:solidFill>
              <a:srgbClr val="F2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reinforces the earlier argument that Fabric is not a fully closed platform</a:t>
            </a:r>
          </a:p>
        </p:txBody>
      </p:sp>
      <p:pic>
        <p:nvPicPr>
          <p:cNvPr id="9" name="design_icon_Picture 8" descr="archive-24-regular_t_F2F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archive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Azure Blob Shortcuts Reduce the Friction of Bringing External Storage Into Fabric Workflows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Blob shortcuts matter because they extend OneLake’s reach without forcing immediate physical ingestion of every source.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highlights Azure Blob shortcuts in the open access layer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cloud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complements reference-in-place patterns in the foundation branch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cloud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result is more flexible external data access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cloud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cloud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OPENROWSET and COPY INTO Turn Open Access Into Practical SQL Workflows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Innovation is more valuable when open data access is usable directly from SQL rather than only theoretically supported.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478572"/>
            <a:ext cx="5522976" cy="309926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Open access concept | Lake and external paths should be broadly usable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Practical SQL path | OPENROWSET and COPY INTO work directly with OneLake paths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478572"/>
            <a:ext cx="5522976" cy="309926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Impact | Analysts and engineers gain simpler access patterns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57001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570012"/>
            <a:ext cx="237744" cy="237744"/>
          </a:xfrm>
          <a:prstGeom prst="rect">
            <a:avLst/>
          </a:prstGeom>
        </p:spPr>
      </p:pic>
      <p:pic>
        <p:nvPicPr>
          <p:cNvPr id="8" name="icon_Picture 7" descr="table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Vector Index Improvements Show Fabric Is Adapting SQL Engines for AI-Oriented Retrieval Patterns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07128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Vector-aware improvements matter because modern analytical platforms increasingly need search and retrieval modes beyond classical SQL lookups.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cites vector index improvements</a:t>
            </a:r>
          </a:p>
        </p:txBody>
      </p:sp>
      <p:pic>
        <p:nvPicPr>
          <p:cNvPr id="5" name="design_icon_Picture 4" descr="search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extends SQL engines toward AI-adjacent retrieval patterns</a:t>
            </a:r>
          </a:p>
        </p:txBody>
      </p:sp>
      <p:pic>
        <p:nvPicPr>
          <p:cNvPr id="7" name="design_icon_Picture 6" descr="search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also complements Copilot and broader AI narratives</a:t>
            </a:r>
          </a:p>
        </p:txBody>
      </p:sp>
      <p:pic>
        <p:nvPicPr>
          <p:cNvPr id="9" name="design_icon_Picture 8" descr="search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search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Full-Text Indexing Preview Signals Broader Search Capability Inside Fabric SQL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Full-text indexing matters because users need richer textual search across growing data estates.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478572"/>
            <a:ext cx="11274552" cy="997964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cites full-text indexing preview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search-info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57001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529224"/>
            <a:ext cx="11274552" cy="99796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This broadens access patterns beyond exact-match structured queries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search-info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620664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579875"/>
            <a:ext cx="11274552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also pairs well with vector improvements in the AI era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search-info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671315"/>
            <a:ext cx="219456" cy="219456"/>
          </a:xfrm>
          <a:prstGeom prst="rect">
            <a:avLst/>
          </a:prstGeom>
        </p:spPr>
      </p:pic>
      <p:pic>
        <p:nvPicPr>
          <p:cNvPr id="13" name="icon_Picture 12" descr="search-info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Automatic Index Compaction Shows Fabric Is Improving Performance Through Ongoing Engine Maintenance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Performance innovation matters not only at query time but also in how the platform maintains healthy indexing behavior over time.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The source highlights automatic index compaction</a:t>
            </a:r>
          </a:p>
        </p:txBody>
      </p:sp>
      <p:pic>
        <p:nvPicPr>
          <p:cNvPr id="5" name="design_icon_Picture 4" descr="wrench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reduces manual maintenance burden</a:t>
            </a:r>
          </a:p>
        </p:txBody>
      </p:sp>
      <p:pic>
        <p:nvPicPr>
          <p:cNvPr id="7" name="design_icon_Picture 6" descr="wrench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It supports more sustainable performance at scale</a:t>
            </a:r>
          </a:p>
        </p:txBody>
      </p:sp>
      <p:pic>
        <p:nvPicPr>
          <p:cNvPr id="9" name="design_icon_Picture 8" descr="wrench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wrench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MERGE GA and JSON Aggregates Show SQL Innovation Is Reaching Everyday Analytical Workflows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SQL momentum matters because it improves the daily practicality of data transformation and reporting logic.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867454"/>
            <a:ext cx="5567324" cy="84065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MERGE supports more elegant conditional transformations</a:t>
            </a:r>
          </a:p>
        </p:txBody>
      </p:sp>
      <p:pic>
        <p:nvPicPr>
          <p:cNvPr id="5" name="design_icon_Picture 4" descr="task-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95889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867454"/>
            <a:ext cx="5567324" cy="84065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JSON aggregates improve semi-structured SQL expressiveness</a:t>
            </a:r>
          </a:p>
        </p:txBody>
      </p:sp>
      <p:pic>
        <p:nvPicPr>
          <p:cNvPr id="7" name="design_icon_Picture 6" descr="task-lis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95889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37185"/>
            <a:ext cx="5567324" cy="84065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Together they make Fabric SQL more usable day to day</a:t>
            </a:r>
          </a:p>
        </p:txBody>
      </p:sp>
      <p:pic>
        <p:nvPicPr>
          <p:cNvPr id="9" name="design_icon_Picture 8" descr="task-lis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28625"/>
            <a:ext cx="164592" cy="164592"/>
          </a:xfrm>
          <a:prstGeom prst="rect">
            <a:avLst/>
          </a:prstGeom>
        </p:spPr>
      </p:pic>
      <p:pic>
        <p:nvPicPr>
          <p:cNvPr id="10" name="icon_Picture 9" descr="notebook-24-regular_DDE4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Custom SQL Pools and DOP Feedback Show Performance Innovation Reaches Administration Too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is evolving not only query features but also how administrators manage performance and workload behavior.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834182"/>
            <a:ext cx="5522976" cy="274365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Custom SQL pools | More explicit resource allocation and classifier control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DOP feedback | Smarter parallelism behavior in SQL workloads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834182"/>
            <a:ext cx="5522976" cy="274365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Result | Better balance between flexibility and managed performance</a:t>
            </a:r>
          </a:p>
        </p:txBody>
      </p:sp>
      <p:pic>
        <p:nvPicPr>
          <p:cNvPr id="6" name="design_icon_Picture 5" descr="warning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92562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2925622"/>
            <a:ext cx="237744" cy="237744"/>
          </a:xfrm>
          <a:prstGeom prst="rect">
            <a:avLst/>
          </a:prstGeom>
        </p:spPr>
      </p:pic>
      <p:pic>
        <p:nvPicPr>
          <p:cNvPr id="8" name="icon_Picture 7" descr="settings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Warehouse Snapshots Count as Innovation Because They Add New Time-Based Operating Patterns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Snapshot support matters because it expands how teams can inspect, validate, and recover structured analytical states.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May 2025 preview added 30-day point-in-time warehouse states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history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Snapshots can be queried like warehouses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history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Roll-forward ability adds practical recovery value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history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history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Notebook Version History and T-SQL Notebooks Show Innovation Is Also Improving Developer Experience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 is evolving not only engines but also the day-to-day tooling that engineers and analysts use to work with them.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June 2025 | Notebook version history became GA</a:t>
            </a:r>
          </a:p>
        </p:txBody>
      </p:sp>
      <p:pic>
        <p:nvPicPr>
          <p:cNvPr id="5" name="design_icon_Picture 4" descr="notebook-add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7FFFA">
              <a:alpha val="90000"/>
            </a:srgbClr>
          </a:solidFill>
          <a:ln w="6350">
            <a:solidFill>
              <a:srgbClr val="F7F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June 2025 | T-SQL notebooks became GA</a:t>
            </a:r>
          </a:p>
        </p:txBody>
      </p:sp>
      <p:pic>
        <p:nvPicPr>
          <p:cNvPr id="7" name="design_icon_Picture 6" descr="notebook-add-24-regular_t_F7FF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FFFAFD">
              <a:alpha val="90000"/>
            </a:srgbClr>
          </a:solidFill>
          <a:ln w="6350">
            <a:solidFill>
              <a:srgbClr val="FF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improves workflow continuity across code, SQL, and notebook use</a:t>
            </a:r>
          </a:p>
        </p:txBody>
      </p:sp>
      <p:pic>
        <p:nvPicPr>
          <p:cNvPr id="9" name="design_icon_Picture 8" descr="notebook-add-24-regular_t_FFF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notebook-add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Managed Private Endpoints Show Innovation Includes Secure Connectivity, Not Just New Features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85340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innovation story is stronger because some of the most useful improvements harden production operations rather than only adding visible front-end capabilities.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3100821"/>
            <a:ext cx="11274552" cy="797599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June 2025 | Secure Data Streaming with Managed Private Endpoints was cited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3100821"/>
            <a:ext cx="73152" cy="797599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navigation-24-regular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192261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940530"/>
            <a:ext cx="11274552" cy="797599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enhancement focused on private networking and firewalls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940530"/>
            <a:ext cx="73152" cy="797599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navigation-24-regular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40319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80240"/>
            <a:ext cx="11274552" cy="797599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makes real-time work more enterprise-ready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80240"/>
            <a:ext cx="73152" cy="797599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notebook-24-regular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71680"/>
            <a:ext cx="219456" cy="219456"/>
          </a:xfrm>
          <a:prstGeom prst="rect">
            <a:avLst/>
          </a:prstGeom>
        </p:spPr>
      </p:pic>
      <p:pic>
        <p:nvPicPr>
          <p:cNvPr id="13" name="icon_Picture 12" descr="navigation-24-regular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Copilot for SQL and Copilot for Data Factory Show AI Is Moving Into Workflow-Specific Surfaces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32549"/>
            <a:ext cx="8449056" cy="5359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AI direction is strongest when assistance appears inside concrete tasks rather than as detached chat alone.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685227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Data Factory Copilot supports natural-language flow design</a:t>
            </a:r>
          </a:p>
        </p:txBody>
      </p:sp>
      <p:pic>
        <p:nvPicPr>
          <p:cNvPr id="5" name="design_icon_Picture 4" descr="chat-ad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6667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685227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SQL endpoint Copilot supports query generation and optimization</a:t>
            </a:r>
          </a:p>
        </p:txBody>
      </p:sp>
      <p:pic>
        <p:nvPicPr>
          <p:cNvPr id="7" name="design_icon_Picture 6" descr="chat-add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76667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257995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That puts AI close to actual analytical work</a:t>
            </a:r>
          </a:p>
        </p:txBody>
      </p:sp>
      <p:pic>
        <p:nvPicPr>
          <p:cNvPr id="9" name="design_icon_Picture 8" descr="chat-add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49435"/>
            <a:ext cx="310896" cy="310896"/>
          </a:xfrm>
          <a:prstGeom prst="rect">
            <a:avLst/>
          </a:prstGeom>
        </p:spPr>
      </p:pic>
      <p:pic>
        <p:nvPicPr>
          <p:cNvPr id="10" name="icon_Picture 9" descr="chat-add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No-Code Anomaly Detection Suggests AI and Analytics Are Converging More Deeply Inside Fabric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Fabric’s innovation is not only about copilots; it also includes analytical features that push AI-like capability into mainstream workflows.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834182"/>
            <a:ext cx="11274552" cy="88345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source highlights no-code anomaly detection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834182"/>
            <a:ext cx="73152" cy="883457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brain-circui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292562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764282"/>
            <a:ext cx="11274552" cy="88345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lowers the barrier to more advanced analytical behavior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764282"/>
            <a:ext cx="73152" cy="883457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brain-circui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855722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694382"/>
            <a:ext cx="11274552" cy="88345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It also connects science and real-time branches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694382"/>
            <a:ext cx="73152" cy="883457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brain-circui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785822"/>
            <a:ext cx="219456" cy="219456"/>
          </a:xfrm>
          <a:prstGeom prst="rect">
            <a:avLst/>
          </a:prstGeom>
        </p:spPr>
      </p:pic>
      <p:pic>
        <p:nvPicPr>
          <p:cNvPr id="13" name="icon_Picture 12" descr="brain-circui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Innovation Momentum Is Visible Because the Source Lists Many Material Releases Across 2025 and 2026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release cadence matters because it signals that Fabric is still increasing both depth and interoperability across the stack.</a:t>
            </a:r>
          </a:p>
        </p:txBody>
      </p:sp>
      <p:sp>
        <p:nvSpPr>
          <p:cNvPr id="4" name="design_timeline_spine"/>
          <p:cNvSpPr/>
          <p:nvPr/>
        </p:nvSpPr>
        <p:spPr>
          <a:xfrm>
            <a:off x="1005840" y="2834182"/>
            <a:ext cx="36576" cy="2743200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sign_dot_0"/>
          <p:cNvSpPr/>
          <p:nvPr/>
        </p:nvSpPr>
        <p:spPr>
          <a:xfrm>
            <a:off x="896112" y="3030825"/>
            <a:ext cx="219456" cy="219456"/>
          </a:xfrm>
          <a:prstGeom prst="ellipse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meline_0"/>
          <p:cNvSpPr/>
          <p:nvPr/>
        </p:nvSpPr>
        <p:spPr>
          <a:xfrm>
            <a:off x="1325880" y="2797606"/>
            <a:ext cx="10405872" cy="777395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2025 | Snapshots, Copilot for SQL, notebook history, Eventstream security, Databricks mirroring</a:t>
            </a:r>
          </a:p>
        </p:txBody>
      </p:sp>
      <p:sp>
        <p:nvSpPr>
          <p:cNvPr id="7" name="design_dot_1"/>
          <p:cNvSpPr/>
          <p:nvPr/>
        </p:nvSpPr>
        <p:spPr>
          <a:xfrm>
            <a:off x="896112" y="3945408"/>
            <a:ext cx="219456" cy="219456"/>
          </a:xfrm>
          <a:prstGeom prst="ellipse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meline_1"/>
          <p:cNvSpPr/>
          <p:nvPr/>
        </p:nvSpPr>
        <p:spPr>
          <a:xfrm>
            <a:off x="1325880" y="3712189"/>
            <a:ext cx="10405872" cy="777395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Late 2025 | DATE_BUCKET, MERGE, SQL evolution</a:t>
            </a:r>
          </a:p>
        </p:txBody>
      </p:sp>
      <p:sp>
        <p:nvSpPr>
          <p:cNvPr id="9" name="design_dot_2"/>
          <p:cNvSpPr/>
          <p:nvPr/>
        </p:nvSpPr>
        <p:spPr>
          <a:xfrm>
            <a:off x="896112" y="4859991"/>
            <a:ext cx="219456" cy="219456"/>
          </a:xfrm>
          <a:prstGeom prst="ellipse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meline_2"/>
          <p:cNvSpPr/>
          <p:nvPr/>
        </p:nvSpPr>
        <p:spPr>
          <a:xfrm>
            <a:off x="1325880" y="4626772"/>
            <a:ext cx="10405872" cy="777395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2026 | OPENROWSET/COPY INTO GA, custom SQL pools, broader structured-data depth</a:t>
            </a:r>
          </a:p>
        </p:txBody>
      </p:sp>
      <p:pic>
        <p:nvPicPr>
          <p:cNvPr id="11" name="icon_Picture 10" descr="timeline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Innovation Layer Concentrates on Three Strategic Themes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Recent advances cluster around AI productivity, open access and interoperability, and stronger SQL performance.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AI productivity | Copilot across Data Factory and SQL workflows</a:t>
            </a:r>
          </a:p>
        </p:txBody>
      </p:sp>
      <p:pic>
        <p:nvPicPr>
          <p:cNvPr id="5" name="design_icon_Picture 4" descr="apps-list-24-regular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FFBFE">
              <a:alpha val="90000"/>
            </a:srgbClr>
          </a:solidFill>
          <a:ln w="6350">
            <a:solidFill>
              <a:srgbClr val="FF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Open access | Mirroring, Iceberg, blob shortcuts, direct OneLake SQL access</a:t>
            </a:r>
          </a:p>
        </p:txBody>
      </p:sp>
      <p:pic>
        <p:nvPicPr>
          <p:cNvPr id="7" name="design_icon_Picture 6" descr="apps-list-24-regular_FF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FF5FC">
              <a:alpha val="90000"/>
            </a:srgbClr>
          </a:solidFill>
          <a:ln w="6350">
            <a:solidFill>
              <a:srgbClr val="F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Engine depth | Vector indexing, MERGE, JSON aggregates, custom SQL control</a:t>
            </a:r>
          </a:p>
        </p:txBody>
      </p:sp>
      <p:pic>
        <p:nvPicPr>
          <p:cNvPr id="9" name="design_icon_Picture 8" descr="apps-list-24-regular_FFF5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apps-list-24-regular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Innovation Branch Suggests Fabric Is Expanding Depth as Well as Breadth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platform is not just adding adjacent features; it is strengthening key engines and access models inside the stack.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Breadth grows through mirroring and open access</a:t>
            </a:r>
          </a:p>
        </p:txBody>
      </p:sp>
      <p:pic>
        <p:nvPicPr>
          <p:cNvPr id="5" name="design_icon_Picture 4" descr="task-lis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Depth grows through SQL, indexing, and admin improvements</a:t>
            </a:r>
          </a:p>
        </p:txBody>
      </p:sp>
      <p:pic>
        <p:nvPicPr>
          <p:cNvPr id="7" name="design_icon_Picture 6" descr="task-list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AI grows through embedded Copilot and analytical assistance</a:t>
            </a:r>
          </a:p>
        </p:txBody>
      </p:sp>
      <p:pic>
        <p:nvPicPr>
          <p:cNvPr id="9" name="design_icon_Picture 8" descr="task-lis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checkmark-24-regular_t_FFF3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224735"/>
            <a:ext cx="8193024" cy="1602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937"/>
                </a:solidFill>
                <a:latin typeface="Meiryo UI"/>
              </a:rPr>
              <a:t>The Four MECE Branches Recombine Into One Clear Platform Story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4470410"/>
            <a:ext cx="8193024" cy="11074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800" b="0">
                <a:solidFill>
                  <a:srgbClr val="1F2937"/>
                </a:solidFill>
                <a:latin typeface="Meiryo UI"/>
              </a:rPr>
              <a:t>Fabric’s strongest message is that architecture, workloads, controls, and innovation reinforce each other rather than competing for attention.</a:t>
            </a:r>
          </a:p>
        </p:txBody>
      </p:sp>
      <p:pic>
        <p:nvPicPr>
          <p:cNvPr id="4" name="icon_Picture 3" descr="branch-fork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2598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Platform Advantage Starts With Shared Storage and Shared Operating Patterns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8165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foundation branch showed that OneLake, SaaS delivery, workspaces, and common navigation create the base layer for everything else.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867454"/>
            <a:ext cx="5567324" cy="840654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OneLake keeps assets in a shared home</a:t>
            </a:r>
          </a:p>
        </p:txBody>
      </p:sp>
      <p:pic>
        <p:nvPicPr>
          <p:cNvPr id="5" name="design_icon_Picture 4" descr="task-list-24-regular_t_DCFE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95889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867454"/>
            <a:ext cx="5567324" cy="84065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Workspaces and item patterns support coordinated use</a:t>
            </a:r>
          </a:p>
        </p:txBody>
      </p:sp>
      <p:pic>
        <p:nvPicPr>
          <p:cNvPr id="7" name="design_icon_Picture 6" descr="task-list-24-regular_t_DDE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95889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37185"/>
            <a:ext cx="5567324" cy="84065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That common base reduces repeated setup and integration work</a:t>
            </a:r>
          </a:p>
        </p:txBody>
      </p:sp>
      <p:pic>
        <p:nvPicPr>
          <p:cNvPr id="9" name="design_icon_Picture 8" descr="task-list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28625"/>
            <a:ext cx="164592" cy="164592"/>
          </a:xfrm>
          <a:prstGeom prst="rect">
            <a:avLst/>
          </a:prstGeom>
        </p:spPr>
      </p:pic>
      <p:pic>
        <p:nvPicPr>
          <p:cNvPr id="10" name="icon_Picture 9" descr="cloud-24-regular_t_DCFE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Coverage Advantage Comes From Six Workloads That Span the Core Analytics Journey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execution branch showed that Fabric can credibly cover ingestion, preparation, discovery, real time, warehouse, and database work.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943624"/>
            <a:ext cx="5567324" cy="803217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6 named experiences map to major lifecycle needs</a:t>
            </a:r>
          </a:p>
        </p:txBody>
      </p:sp>
      <p:pic>
        <p:nvPicPr>
          <p:cNvPr id="5" name="design_icon_Picture 4" descr="task-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403506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943624"/>
            <a:ext cx="5567324" cy="80321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Cross-workload continuity matters as much as individual depth</a:t>
            </a:r>
          </a:p>
        </p:txBody>
      </p:sp>
      <p:pic>
        <p:nvPicPr>
          <p:cNvPr id="7" name="design_icon_Picture 6" descr="task-list-24-regular_t_D3D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403506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74622"/>
            <a:ext cx="5567324" cy="80321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Concrete 2025–2026 features reinforce the claim</a:t>
            </a:r>
          </a:p>
        </p:txBody>
      </p:sp>
      <p:pic>
        <p:nvPicPr>
          <p:cNvPr id="9" name="design_icon_Picture 8" descr="task-list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66062"/>
            <a:ext cx="164592" cy="164592"/>
          </a:xfrm>
          <a:prstGeom prst="rect">
            <a:avLst/>
          </a:prstGeom>
        </p:spPr>
      </p:pic>
      <p:pic>
        <p:nvPicPr>
          <p:cNvPr id="10" name="icon_Picture 9" descr="apps-24-regular_t_DDE4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Enterprise Readiness Comes From Built-In Controls Rather Than External Patching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governance branch showed that roles, trust signals, scheduling, deployment, compliance, and support are part of the platform model.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943624"/>
            <a:ext cx="5567324" cy="803217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Permissions and labels shape safe sharing</a:t>
            </a:r>
          </a:p>
        </p:txBody>
      </p:sp>
      <p:pic>
        <p:nvPicPr>
          <p:cNvPr id="5" name="design_icon_Picture 4" descr="task-list-24-regular_t_D3DA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403506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943624"/>
            <a:ext cx="5567324" cy="80321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Scheduling, Git, and APIs support repeatable operations</a:t>
            </a:r>
          </a:p>
        </p:txBody>
      </p:sp>
      <p:pic>
        <p:nvPicPr>
          <p:cNvPr id="7" name="design_icon_Picture 6" descr="task-list-24-regular_t_FFE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403506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74622"/>
            <a:ext cx="5567324" cy="80321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AI governance extends into region, capacity, and eDiscovery control</a:t>
            </a:r>
          </a:p>
        </p:txBody>
      </p:sp>
      <p:pic>
        <p:nvPicPr>
          <p:cNvPr id="9" name="design_icon_Picture 8" descr="task-list-24-regular_t_FFF3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66062"/>
            <a:ext cx="164592" cy="164592"/>
          </a:xfrm>
          <a:prstGeom prst="rect">
            <a:avLst/>
          </a:prstGeom>
        </p:spPr>
      </p:pic>
      <p:pic>
        <p:nvPicPr>
          <p:cNvPr id="10" name="icon_Picture 9" descr="shield-24-regular_t_D3DA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Fabric’s Momentum Matters Because the Platform Is Still Increasing Depth Across Key Layers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innovation branch showed strong forward motion in AI assistance, interoperability, and SQL engine evolution.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943624"/>
            <a:ext cx="5567324" cy="80321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AI productivity is spreading across workflows</a:t>
            </a:r>
          </a:p>
        </p:txBody>
      </p:sp>
      <p:pic>
        <p:nvPicPr>
          <p:cNvPr id="5" name="design_icon_Picture 4" descr="task-list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403506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943624"/>
            <a:ext cx="5567324" cy="80321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Open access is reducing data-boundary friction</a:t>
            </a:r>
          </a:p>
        </p:txBody>
      </p:sp>
      <p:pic>
        <p:nvPicPr>
          <p:cNvPr id="7" name="design_icon_Picture 6" descr="task-list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403506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774622"/>
            <a:ext cx="5567324" cy="803217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SQL and indexing improvements are deepening core engine capability</a:t>
            </a:r>
          </a:p>
        </p:txBody>
      </p:sp>
      <p:pic>
        <p:nvPicPr>
          <p:cNvPr id="9" name="design_icon_Picture 8" descr="task-list-24-regular_t_E4FE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866062"/>
            <a:ext cx="164592" cy="164592"/>
          </a:xfrm>
          <a:prstGeom prst="rect">
            <a:avLst/>
          </a:prstGeom>
        </p:spPr>
      </p:pic>
      <p:pic>
        <p:nvPicPr>
          <p:cNvPr id="10" name="icon_Picture 9" descr="rocket-24-regular_t_FFE4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_number"/>
          <p:cNvSpPr txBox="1"/>
          <p:nvPr/>
        </p:nvSpPr>
        <p:spPr>
          <a:xfrm>
            <a:off x="1371600" y="1307592"/>
            <a:ext cx="9445752" cy="184251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3900" b="1">
                <a:solidFill>
                  <a:srgbClr val="C00070"/>
                </a:solidFill>
                <a:latin typeface="Meiryo UI"/>
              </a:rPr>
              <a:t>The Strongest Strategic Conclusion Is That Fabric Creates Leverage Through Integration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371600" y="3259836"/>
            <a:ext cx="9445752" cy="6407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739" b="0">
                <a:solidFill>
                  <a:srgbClr val="1F2937"/>
                </a:solidFill>
                <a:latin typeface="Meiryo UI"/>
              </a:rPr>
              <a:t>Fabric’s advantage comes from aligning architecture, workloads, controls, and innovation on one platform rather than optimizing any single layer in isolation.</a:t>
            </a:r>
          </a:p>
        </p:txBody>
      </p:sp>
      <p:sp>
        <p:nvSpPr>
          <p:cNvPr id="4" name="body_0"/>
          <p:cNvSpPr/>
          <p:nvPr/>
        </p:nvSpPr>
        <p:spPr>
          <a:xfrm>
            <a:off x="1371600" y="4065148"/>
            <a:ext cx="4652924" cy="698545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1F2937"/>
                </a:solidFill>
                <a:latin typeface="Meiryo UI"/>
              </a:rPr>
              <a:t>1 integrated platform is the recurring theme across all 4 branches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1371600" y="4065148"/>
            <a:ext cx="73152" cy="698545"/>
          </a:xfrm>
          <a:prstGeom prst="rect">
            <a:avLst/>
          </a:prstGeom>
          <a:solidFill>
            <a:srgbClr val="F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6164427" y="4065148"/>
            <a:ext cx="4652924" cy="698545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1F2937"/>
                </a:solidFill>
                <a:latin typeface="Meiryo UI"/>
              </a:rPr>
              <a:t>6 workloads and many 2025–2026 features support the breadth claim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6164427" y="4065148"/>
            <a:ext cx="73152" cy="698545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1371600" y="4787854"/>
            <a:ext cx="4652924" cy="698545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1F2937"/>
                </a:solidFill>
                <a:latin typeface="Meiryo UI"/>
              </a:rPr>
              <a:t>Integration reduces fragmentation, handoff cost, and platform sprawl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1371600" y="4787854"/>
            <a:ext cx="73152" cy="698545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targe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984" y="1274673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Fabric Is Best Read as a Platform Standardization Play Rather Than a Single-Tool Purchase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full deck suggests organizations should evaluate Fabric as an operating model decision, not only as a feature comparison exercise.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2910352"/>
            <a:ext cx="11274552" cy="858931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Shared platform patterns reduce future coordination cost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910352"/>
            <a:ext cx="73152" cy="858931"/>
          </a:xfrm>
          <a:prstGeom prst="rect">
            <a:avLst/>
          </a:prstGeom>
          <a:solidFill>
            <a:srgbClr val="E4F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design_icon_Picture 5" descr="organization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56" y="3001792"/>
            <a:ext cx="219456" cy="219456"/>
          </a:xfrm>
          <a:prstGeom prst="rect">
            <a:avLst/>
          </a:prstGeom>
        </p:spPr>
      </p:pic>
      <p:sp>
        <p:nvSpPr>
          <p:cNvPr id="7" name="bullet_1"/>
          <p:cNvSpPr/>
          <p:nvPr/>
        </p:nvSpPr>
        <p:spPr>
          <a:xfrm>
            <a:off x="457200" y="3814630"/>
            <a:ext cx="11274552" cy="858931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Workload breadth reduces the need for adjacent point products</a:t>
            </a:r>
          </a:p>
        </p:txBody>
      </p:sp>
      <p:sp>
        <p:nvSpPr>
          <p:cNvPr id="8" name="design_stripe_1"/>
          <p:cNvSpPr/>
          <p:nvPr/>
        </p:nvSpPr>
        <p:spPr>
          <a:xfrm>
            <a:off x="457200" y="3814630"/>
            <a:ext cx="73152" cy="858931"/>
          </a:xfrm>
          <a:prstGeom prst="rect">
            <a:avLst/>
          </a:prstGeom>
          <a:solidFill>
            <a:srgbClr val="DCF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esign_icon_Picture 8" descr="organization-24-regular_t_DCFE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856" y="3906070"/>
            <a:ext cx="219456" cy="219456"/>
          </a:xfrm>
          <a:prstGeom prst="rect">
            <a:avLst/>
          </a:prstGeom>
        </p:spPr>
      </p:pic>
      <p:sp>
        <p:nvSpPr>
          <p:cNvPr id="10" name="bullet_2"/>
          <p:cNvSpPr/>
          <p:nvPr/>
        </p:nvSpPr>
        <p:spPr>
          <a:xfrm>
            <a:off x="457200" y="4718908"/>
            <a:ext cx="11274552" cy="858931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Governance and innovation improve long-term viability</a:t>
            </a:r>
          </a:p>
        </p:txBody>
      </p:sp>
      <p:sp>
        <p:nvSpPr>
          <p:cNvPr id="11" name="design_stripe_2"/>
          <p:cNvSpPr/>
          <p:nvPr/>
        </p:nvSpPr>
        <p:spPr>
          <a:xfrm>
            <a:off x="457200" y="4718908"/>
            <a:ext cx="73152" cy="858931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design_icon_Picture 11" descr="organization-24-regular_t_DDE4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56" y="4810348"/>
            <a:ext cx="219456" cy="219456"/>
          </a:xfrm>
          <a:prstGeom prst="rect">
            <a:avLst/>
          </a:prstGeom>
        </p:spPr>
      </p:pic>
      <p:pic>
        <p:nvPicPr>
          <p:cNvPr id="13" name="icon_Picture 12" descr="organization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Best Use of This 150-Slide Storyboard Is to Tailor It by Audience and Decision Stage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extended storyboard is designed to be trimmed, emphasized, and customized before PPTX rendering rather than used as a fixed final deck.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478572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Executives may keep the synthesis and strategy-heavy slides</a:t>
            </a:r>
          </a:p>
        </p:txBody>
      </p:sp>
      <p:pic>
        <p:nvPicPr>
          <p:cNvPr id="5" name="design_icon_Picture 4" descr="design-ideas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5700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478572"/>
            <a:ext cx="5486400" cy="1316736"/>
          </a:xfrm>
          <a:prstGeom prst="roundRect">
            <a:avLst/>
          </a:prstGeom>
          <a:solidFill>
            <a:srgbClr val="F5F7FF">
              <a:alpha val="90000"/>
            </a:srgbClr>
          </a:solidFill>
          <a:ln w="6350"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Architects may keep the platform, interoperability, and control detail</a:t>
            </a:r>
          </a:p>
        </p:txBody>
      </p:sp>
      <p:pic>
        <p:nvPicPr>
          <p:cNvPr id="7" name="design_icon_Picture 6" descr="design-ideas-24-regular_t_F5F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700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051340"/>
            <a:ext cx="5486400" cy="1316736"/>
          </a:xfrm>
          <a:prstGeom prst="roundRect">
            <a:avLst/>
          </a:prstGeom>
          <a:solidFill>
            <a:srgbClr val="F2FFF7">
              <a:alpha val="90000"/>
            </a:srgbClr>
          </a:solidFill>
          <a:ln w="6350">
            <a:solidFill>
              <a:srgbClr val="F2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Practitioners may keep the workload and feature-depth slides</a:t>
            </a:r>
          </a:p>
        </p:txBody>
      </p:sp>
      <p:pic>
        <p:nvPicPr>
          <p:cNvPr id="9" name="design_icon_Picture 8" descr="design-ideas-24-regular_t_F2F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142780"/>
            <a:ext cx="310896" cy="310896"/>
          </a:xfrm>
          <a:prstGeom prst="rect">
            <a:avLst/>
          </a:prstGeom>
        </p:spPr>
      </p:pic>
      <p:pic>
        <p:nvPicPr>
          <p:cNvPr id="10" name="icon_Picture 9" descr="design-ideas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40664" y="457200"/>
            <a:ext cx="10707624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An Executive Summary Can Now Compress the 150-Slide Story Into Four Sentences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526042"/>
            <a:ext cx="10707624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long-form deck supports a simple executive view: coherent platform, broad execution, strong controls, and visible momentum.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2478572"/>
            <a:ext cx="7882127" cy="997964"/>
          </a:xfrm>
          <a:prstGeom prst="roundRect">
            <a:avLst/>
          </a:prstGeom>
          <a:solidFill>
            <a:srgbClr val="DDE4FE">
              <a:alpha val="90000"/>
            </a:srgbClr>
          </a:solidFill>
          <a:ln w="6350">
            <a:solidFill>
              <a:srgbClr val="DDE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Platform | OneLake and common operating patterns create coherence</a:t>
            </a:r>
          </a:p>
        </p:txBody>
      </p:sp>
      <p:sp>
        <p:nvSpPr>
          <p:cNvPr id="5" name="design_stripe_0"/>
          <p:cNvSpPr/>
          <p:nvPr/>
        </p:nvSpPr>
        <p:spPr>
          <a:xfrm>
            <a:off x="457200" y="2478572"/>
            <a:ext cx="73152" cy="997964"/>
          </a:xfrm>
          <a:prstGeom prst="rect">
            <a:avLst/>
          </a:prstGeom>
          <a:solidFill>
            <a:srgbClr val="DD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dy_1"/>
          <p:cNvSpPr/>
          <p:nvPr/>
        </p:nvSpPr>
        <p:spPr>
          <a:xfrm>
            <a:off x="457200" y="3529224"/>
            <a:ext cx="7882127" cy="997964"/>
          </a:xfrm>
          <a:prstGeom prst="roundRect">
            <a:avLst/>
          </a:prstGeom>
          <a:solidFill>
            <a:srgbClr val="D3DAFD">
              <a:alpha val="90000"/>
            </a:srgbClr>
          </a:solidFill>
          <a:ln w="6350">
            <a:solidFill>
              <a:srgbClr val="D3D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Execution | 6 experiences span the analytics lifecycle</a:t>
            </a:r>
          </a:p>
        </p:txBody>
      </p:sp>
      <p:sp>
        <p:nvSpPr>
          <p:cNvPr id="7" name="design_stripe_1"/>
          <p:cNvSpPr/>
          <p:nvPr/>
        </p:nvSpPr>
        <p:spPr>
          <a:xfrm>
            <a:off x="457200" y="3529224"/>
            <a:ext cx="73152" cy="997964"/>
          </a:xfrm>
          <a:prstGeom prst="rect">
            <a:avLst/>
          </a:prstGeom>
          <a:solidFill>
            <a:srgbClr val="D3D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dy_2"/>
          <p:cNvSpPr/>
          <p:nvPr/>
        </p:nvSpPr>
        <p:spPr>
          <a:xfrm>
            <a:off x="457200" y="4579875"/>
            <a:ext cx="7882127" cy="997964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0972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Controls and momentum | Governance is built in and innovation is active</a:t>
            </a:r>
          </a:p>
        </p:txBody>
      </p:sp>
      <p:sp>
        <p:nvSpPr>
          <p:cNvPr id="9" name="design_stripe_2"/>
          <p:cNvSpPr/>
          <p:nvPr/>
        </p:nvSpPr>
        <p:spPr>
          <a:xfrm>
            <a:off x="457200" y="4579875"/>
            <a:ext cx="73152" cy="997964"/>
          </a:xfrm>
          <a:prstGeom prst="rect">
            <a:avLst/>
          </a:prstGeom>
          <a:solidFill>
            <a:srgbClr val="FF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_Picture 9" descr="list-24-regular_t_DDE4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424281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Leader Can Use the Deck as a Decision Aid for Standardization, Adoption, and Governance Planning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866381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The storyboard is most valuable when it informs how broadly to adopt Fabric, where to start, and what controls to put in place.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2727472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Standardization decision | Judge the value of one integrated platform</a:t>
            </a:r>
          </a:p>
        </p:txBody>
      </p:sp>
      <p:pic>
        <p:nvPicPr>
          <p:cNvPr id="5" name="design_icon_Picture 4" descr="lightbulb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18912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2727472"/>
            <a:ext cx="5486400" cy="1316736"/>
          </a:xfrm>
          <a:prstGeom prst="roundRect">
            <a:avLst/>
          </a:prstGeom>
          <a:solidFill>
            <a:srgbClr val="FFF7FC">
              <a:alpha val="90000"/>
            </a:srgbClr>
          </a:solidFill>
          <a:ln w="6350">
            <a:solidFill>
              <a:srgbClr val="FF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Adoption decision | Choose which workload branches matter most first</a:t>
            </a:r>
          </a:p>
        </p:txBody>
      </p:sp>
      <p:pic>
        <p:nvPicPr>
          <p:cNvPr id="7" name="design_icon_Picture 6" descr="lightbulb-24-regular_t_FFF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818912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4300240"/>
            <a:ext cx="5486400" cy="1316736"/>
          </a:xfrm>
          <a:prstGeom prst="roundRect">
            <a:avLst/>
          </a:prstGeom>
          <a:solidFill>
            <a:srgbClr val="EEF1FE">
              <a:alpha val="90000"/>
            </a:srgbClr>
          </a:solidFill>
          <a:ln w="6350">
            <a:solidFill>
              <a:srgbClr val="EE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493776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1F2937"/>
                </a:solidFill>
                <a:latin typeface="Meiryo UI"/>
              </a:rPr>
              <a:t>Governance decision | Plan roles, AI controls, schedules, and deployment</a:t>
            </a:r>
          </a:p>
        </p:txBody>
      </p:sp>
      <p:pic>
        <p:nvPicPr>
          <p:cNvPr id="9" name="design_icon_Picture 8" descr="lightbulb-24-regular_t_EEF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91680"/>
            <a:ext cx="310896" cy="310896"/>
          </a:xfrm>
          <a:prstGeom prst="rect">
            <a:avLst/>
          </a:prstGeom>
        </p:spPr>
      </p:pic>
      <p:pic>
        <p:nvPicPr>
          <p:cNvPr id="10" name="icon_Picture 9" descr="lightbulb-24-regular_t_D3DA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887968" cy="133602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A Technical Team Can Use the Deck as a Shared Reference Across Architecture and Delivery Roles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957821"/>
            <a:ext cx="8887968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Because the deck separates platform, execution, controls, and innovation, it gives mixed teams a common language for planning.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2910352"/>
            <a:ext cx="5522976" cy="2667487"/>
          </a:xfrm>
          <a:prstGeom prst="roundRect">
            <a:avLst/>
          </a:prstGeom>
          <a:solidFill>
            <a:srgbClr val="FFE4F6">
              <a:alpha val="90000"/>
            </a:srgbClr>
          </a:solidFill>
          <a:ln w="6350">
            <a:solidFill>
              <a:srgbClr val="FF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Architects can focus on OneLake, mirroring, and platform coherence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Data teams can focus on engineering, factory, science, and warehouse depth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2910352"/>
            <a:ext cx="5522976" cy="2667487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F2937"/>
                </a:solidFill>
                <a:latin typeface="Meiryo U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1F2937"/>
                </a:solidFill>
                <a:latin typeface="Meiryo UI"/>
              </a:rPr>
              <a:t>• </a:t>
            </a:r>
            <a:r>
              <a:rPr sz="1300" b="0">
                <a:solidFill>
                  <a:srgbClr val="1F2937"/>
                </a:solidFill>
                <a:latin typeface="Meiryo UI"/>
              </a:rPr>
              <a:t>Platform teams can focus on governance, APIs, capacity, and AI control</a:t>
            </a:r>
          </a:p>
        </p:txBody>
      </p:sp>
      <p:pic>
        <p:nvPicPr>
          <p:cNvPr id="6" name="design_icon_Picture 5" descr="warning-24-regular_t_FFE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3001792"/>
            <a:ext cx="237744" cy="237744"/>
          </a:xfrm>
          <a:prstGeom prst="rect">
            <a:avLst/>
          </a:prstGeom>
        </p:spPr>
      </p:pic>
      <p:pic>
        <p:nvPicPr>
          <p:cNvPr id="7" name="design_icon_Picture 6" descr="checkmark-24-regular_t_FFF3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3001792"/>
            <a:ext cx="237744" cy="237744"/>
          </a:xfrm>
          <a:prstGeom prst="rect">
            <a:avLst/>
          </a:prstGeom>
        </p:spPr>
      </p:pic>
      <p:pic>
        <p:nvPicPr>
          <p:cNvPr id="8" name="icon_Picture 7" descr="people-24-regular_t_FFE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8449056" cy="904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937"/>
                </a:solidFill>
                <a:latin typeface="Meiryo UI"/>
              </a:rPr>
              <a:t>The Deck Is Ready for Refinement but Should Not Trigger Rendering Yet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685800" y="1526042"/>
            <a:ext cx="8449056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490" b="0">
                <a:solidFill>
                  <a:srgbClr val="1F2937"/>
                </a:solidFill>
                <a:latin typeface="Meiryo UI"/>
              </a:rPr>
              <a:t>Prestaging is complete when the story is in the slide panel and still open for copy edits, audience tuning, and image attachment.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3511844"/>
            <a:ext cx="5567324" cy="1015436"/>
          </a:xfrm>
          <a:prstGeom prst="roundRect">
            <a:avLst/>
          </a:prstGeom>
          <a:solidFill>
            <a:srgbClr val="FFF3FA">
              <a:alpha val="90000"/>
            </a:srgbClr>
          </a:solidFill>
          <a:ln w="6350">
            <a:solidFill>
              <a:srgbClr val="FF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150-slide scenario is now structured in the workspace panel</a:t>
            </a:r>
          </a:p>
        </p:txBody>
      </p:sp>
      <p:pic>
        <p:nvPicPr>
          <p:cNvPr id="5" name="design_icon_Picture 4" descr="task-list-24-regular_t_FFF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3603284"/>
            <a:ext cx="164592" cy="164592"/>
          </a:xfrm>
          <a:prstGeom prst="rect">
            <a:avLst/>
          </a:prstGeom>
        </p:spPr>
      </p:pic>
      <p:sp>
        <p:nvSpPr>
          <p:cNvPr id="6" name="summary_1"/>
          <p:cNvSpPr/>
          <p:nvPr/>
        </p:nvSpPr>
        <p:spPr>
          <a:xfrm>
            <a:off x="6164427" y="3511844"/>
            <a:ext cx="5567324" cy="1015436"/>
          </a:xfrm>
          <a:prstGeom prst="roundRect">
            <a:avLst/>
          </a:prstGeom>
          <a:solidFill>
            <a:srgbClr val="E4FEEF">
              <a:alpha val="90000"/>
            </a:srgbClr>
          </a:solidFill>
          <a:ln w="6350">
            <a:solidFill>
              <a:srgbClr val="E4F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The chosen framework remains MECE throughout</a:t>
            </a:r>
          </a:p>
        </p:txBody>
      </p:sp>
      <p:pic>
        <p:nvPicPr>
          <p:cNvPr id="7" name="design_icon_Picture 6" descr="task-list-24-regular_t_E4FE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19" y="3603284"/>
            <a:ext cx="164592" cy="164592"/>
          </a:xfrm>
          <a:prstGeom prst="rect">
            <a:avLst/>
          </a:prstGeom>
        </p:spPr>
      </p:pic>
      <p:sp>
        <p:nvSpPr>
          <p:cNvPr id="8" name="summary_2"/>
          <p:cNvSpPr/>
          <p:nvPr/>
        </p:nvSpPr>
        <p:spPr>
          <a:xfrm>
            <a:off x="457200" y="4562403"/>
            <a:ext cx="5567324" cy="1015436"/>
          </a:xfrm>
          <a:prstGeom prst="roundRect">
            <a:avLst/>
          </a:prstGeom>
          <a:solidFill>
            <a:srgbClr val="DCFEE9">
              <a:alpha val="90000"/>
            </a:srgbClr>
          </a:solidFill>
          <a:ln w="6350">
            <a:solidFill>
              <a:srgbClr val="DCF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55448" rIns="128016" bIns="91440" rtlCol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F2937"/>
                </a:solidFill>
                <a:latin typeface="Meiryo UI"/>
              </a:rPr>
              <a:t>Next refinement can happen before any PPTX generation step</a:t>
            </a:r>
          </a:p>
        </p:txBody>
      </p:sp>
      <p:pic>
        <p:nvPicPr>
          <p:cNvPr id="9" name="design_icon_Picture 8" descr="task-list-24-regular_t_DCFE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492" y="4653843"/>
            <a:ext cx="164592" cy="164592"/>
          </a:xfrm>
          <a:prstGeom prst="rect">
            <a:avLst/>
          </a:prstGeom>
        </p:spPr>
      </p:pic>
      <p:pic>
        <p:nvPicPr>
          <p:cNvPr id="10" name="icon_Picture 9" descr="edit-24-regular_t_FFF3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2403683"/>
            <a:ext cx="8193024" cy="98041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1F2937"/>
                </a:solidFill>
                <a:latin typeface="Meiryo UI"/>
              </a:rPr>
              <a:t>Fabric’s Full Story Is Now Staged as a Detailed MECE Slide Scenario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33271" y="3913266"/>
            <a:ext cx="8193024" cy="58677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739" b="0">
                <a:solidFill>
                  <a:srgbClr val="1F2937"/>
                </a:solidFill>
                <a:latin typeface="Meiryo UI"/>
              </a:rPr>
              <a:t>The workspace now contains a complete 150-slide preliminary storyline that can be refined, shortened, or moved into rendering later.</a:t>
            </a:r>
          </a:p>
        </p:txBody>
      </p:sp>
      <p:pic>
        <p:nvPicPr>
          <p:cNvPr id="4" name="icon_Picture 3" descr="checkmark-24-regular_t_E4F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11370</Words>
  <Application>Microsoft Office PowerPoint</Application>
  <PresentationFormat>Widescreen</PresentationFormat>
  <Paragraphs>898</Paragraphs>
  <Slides>150</Slides>
  <Notes>150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4" baseType="lpstr">
      <vt:lpstr>Meiryo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 Organizes End-to-End Analytics Into Four Distinct Capability Blocks</dc:title>
  <dc:subject/>
  <dc:creator/>
  <cp:keywords/>
  <dc:description>generated using python-pptx</dc:description>
  <cp:lastModifiedBy>Taeho Kim</cp:lastModifiedBy>
  <cp:revision>1</cp:revision>
  <dcterms:created xsi:type="dcterms:W3CDTF">2026-04-20T09:23:00Z</dcterms:created>
  <dcterms:modified xsi:type="dcterms:W3CDTF">2026-04-20T09:24:44Z</dcterms:modified>
  <cp:category/>
</cp:coreProperties>
</file>