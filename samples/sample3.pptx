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problem of fragmented analytics estates: multiple engines, duplicated pipelines, and expensive handoffs. Position Fabric as Microsoft’s answer: a unified SaaS platform where storage, compute, and governance reinforce one another.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this slide as the issue tree for the full deck. It frames the rest of the presentation as three non-overlapping branches that together explain the Fabric proposition.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executive summary before the deep dive. It tells the audience what to look for in the rest of the deck and why the three branches matter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first MECE branch here. The next set of slides explains why the foundation changes how teams move data, collaborate, and operate analytics assets.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Emphasize that OneLake is not optional plumbing in the background; it is the center of the architecture. This matters because common storage is what turns multiple experiences into a platform.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portability slide inside the architecture branch. The message is that openness supports both interoperability and long-term maintainability.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Translate the technical storage point into business impact. The audience should hear this as a reduction in delay, duplication, and operational friction.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about speed to adoption, not only architecture. Automatic provisioning matters because it removes one of the common reasons platform rollouts stall 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the wording managerial here: the win is operating model simplification. This is one of the key reasons executives consider standardizing on a platform rather than best-of-breed tools.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mirroring as a shortcut from operational systems into the shared foundation. It is important because it expands Fabric beyond purely greenfield lakehouse use cases.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 credibility slide for hybrid estates. It signals that Fabric is not only for customers willing to abandon every adjacent tool immediately.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translates product capability into operating resilience. Point-in-time access is especially relevant for enterprise teams that need control, auditability, and safer change management.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humanizes the architecture branch. Shared foundations only matter if business and technical users can actually navigate them without excessive platform ceremony.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the platform-core branch by reconnecting the details to the executive thesis. The question is not whether each feature exists, but whether together they create a simpler analytics 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second MECE branch here. The following slides move from the overall map to specific workload and developer-productivity capabilities.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the bridge between conceptual lifecycle and concrete products. It helps audiences understand that Fabric is trying to organize the full journey, not only a subset of workloads.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this slide tightly connected to adoption reality. Ingest breadth is less glamorous than AI features, but it is often what determines whether a platform can standardize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 detail slide that breaks ingestion into concrete operating modes. It helps the audience see that Fabric is not assuming every source follows the same freshness and movement 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focuses on proximity between engineering and consumption. The audience should hear that Fabric is trying to compress the distance between raw data work and analytical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not a deep ML capability slide; it is a platform integration slide. The message is that scientific work benefits when it does not need a separate data movement pattern to begin.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this slide to broaden the platform from batch analytics to time-sensitive use cases. It reinforces the claim that Fabric is trying to unify analytics modes, not only analytics teams.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bridge to the SQL-heavy detail slides that follow. It tells warehouse-oriented audiences that Fabric is not only a lakehouse or notebook 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Position this as portfolio depth rather than as a full OLTP replacement claim. The purpose is to show that Fabric is widening the set of workloads customers can consolidate.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an important portfolio signal slide. It shows Microsoft is not only adding capabilities but also rationalizing overlapping surfaces around Fabric.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Turn the product release into an operations-friendly takeaway. Enterprise adoption improves when metadata actions can be automated instead of performed manually in the 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highlights developer workflow maturity. It is especially relevant for teams that worry notebooks become hard to govern once they reach production-like usage.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this slide to show SQL is not limited to classic editor experiences. The platform is converging SQL work with more collaborative analytical authoring patterns.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 practical interoperability slide. It shows the platform is investing in the seams between experiences, which is where many supposedly unified tools still break down.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about maturity rather than flashy innovation. Small SQL ergonomics features often make a disproportionate difference to migration confidence and developer acceptance.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closes the user-experience branch by showing the platform is evolving both interface and engine layers. It reinforces that product breadth is being deepened, not merely expanded sideways.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final MECE branch here. The following slides shift from capability breadth to the controls required to run that breadth responsibly at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Treat the workspace as the anchor object for the governance model. Much of the platform’s manageability depends on workspaces being the right unit of ownership and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turns permissions into a usability benefit. Enterprise platforms often fail when access is either too coarse or too operationally painful to manage.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trust-discovery slide. The point is not only that governance exists, but that users can see and use it when choosing assets inside a large shared environment.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this in business terms: reliable automation should not depend on a human account. Workspace identities move Fabric closer to enterprise-grade service-to-service patterns.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about control evidence, not only control design. Auditable identity events help security and platform teams prove what happened and investigate anomalies faster.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the warning language as a sign of seriousness. When platforms publish explicit cautions, it usually means the identity layer is powerful enough to cause real outages if mishandled.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governance-to-delivery bridge. Enterprise teams care not only about building assets, but also about moving them safely through repeatable promotion paths.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 out this slide because it reflects mature control thinking. Integration security is often undermined by mismatched policies between systems, and Fabric is trying to avoid that trap.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ties day-to-day operations to platform maturity. Mature platforms support manual convenience for small teams and automatable control for larger governed estates.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Many analytics platforms fail to externalize operational settings cleanly. This capability matters because deployment consistency depends on treating schedules as part of the managed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Translate this slide as operational hygiene by design. It is a small feature, but it signals that Fabric is trying to reduce noisy failures in production environments.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realism slide for the governance branch. A credible platform story includes the constraints customers must architect around, not only the capabilities Microsoft wants to highlight.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an important link between workload breadth and governance depth. Streaming only becomes enterprise-usable when connectivity patterns satisfy real network and security constraints.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the governance branch with concrete proof that controls are still advancing. Security features arriving later in the timeline matter because they reduce hesitation for production adoption.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closing evidence branch as momentum rather than a fourth MECE branch. This section helps the audience interpret whether Fabric’s current gaps are likely to close over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timeline as strategic momentum. Buyers are more comfortable standardizing when a platform shows a durable delivery cadence rather than a one-time launch spike.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separates platform momentum from platform readiness. The audience should hear that Fabric is not only expanding, but also stabilizing key pieces needed for production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the evidence section with an adoption discipline message. Platform enthusiasm is useful, but enterprise standardization still depends on clear boundaries between preview learning and production commitments.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with a balanced recommendation rather than unconditional hype. Fabric is most compelling when organizations treat it as a governed platform standard, not merely another tool to add beside existing sprawl.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30.png"/><Relationship Id="rId6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24.png"/><Relationship Id="rId4" Type="http://schemas.openxmlformats.org/officeDocument/2006/relationships/image" Target="../media/image35.png"/><Relationship Id="rId5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Relationship Id="rId5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Relationship Id="rId4" Type="http://schemas.openxmlformats.org/officeDocument/2006/relationships/image" Target="../media/image43.png"/><Relationship Id="rId5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Relationship Id="rId4" Type="http://schemas.openxmlformats.org/officeDocument/2006/relationships/image" Target="../media/image46.png"/><Relationship Id="rId5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24.png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image" Target="../media/image50.png"/><Relationship Id="rId4" Type="http://schemas.openxmlformats.org/officeDocument/2006/relationships/image" Target="../media/image51.png"/><Relationship Id="rId5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image" Target="../media/image52.png"/><Relationship Id="rId4" Type="http://schemas.openxmlformats.org/officeDocument/2006/relationships/image" Target="../media/image22.png"/><Relationship Id="rId5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image" Target="../media/image54.png"/><Relationship Id="rId4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Relationship Id="rId4" Type="http://schemas.openxmlformats.org/officeDocument/2006/relationships/image" Target="../media/image57.png"/><Relationship Id="rId5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image" Target="../media/image59.png"/><Relationship Id="rId4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Relationship Id="rId3" Type="http://schemas.openxmlformats.org/officeDocument/2006/relationships/image" Target="../media/image62.png"/><Relationship Id="rId4" Type="http://schemas.openxmlformats.org/officeDocument/2006/relationships/image" Target="../media/image63.png"/><Relationship Id="rId5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image" Target="../media/image65.png"/><Relationship Id="rId4" Type="http://schemas.openxmlformats.org/officeDocument/2006/relationships/image" Target="../media/image66.png"/><Relationship Id="rId5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Relationship Id="rId3" Type="http://schemas.openxmlformats.org/officeDocument/2006/relationships/image" Target="../media/image68.png"/><Relationship Id="rId4" Type="http://schemas.openxmlformats.org/officeDocument/2006/relationships/image" Target="../media/image69.png"/><Relationship Id="rId5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Relationship Id="rId3" Type="http://schemas.openxmlformats.org/officeDocument/2006/relationships/image" Target="../media/image71.png"/><Relationship Id="rId4" Type="http://schemas.openxmlformats.org/officeDocument/2006/relationships/image" Target="../media/image72.png"/><Relationship Id="rId5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Relationship Id="rId3" Type="http://schemas.openxmlformats.org/officeDocument/2006/relationships/image" Target="../media/image74.png"/><Relationship Id="rId4" Type="http://schemas.openxmlformats.org/officeDocument/2006/relationships/image" Target="../media/image75.png"/><Relationship Id="rId5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Relationship Id="rId3" Type="http://schemas.openxmlformats.org/officeDocument/2006/relationships/image" Target="../media/image47.png"/><Relationship Id="rId4" Type="http://schemas.openxmlformats.org/officeDocument/2006/relationships/image" Target="../media/image77.png"/><Relationship Id="rId5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png"/><Relationship Id="rId4" Type="http://schemas.openxmlformats.org/officeDocument/2006/relationships/image" Target="../media/image52.png"/><Relationship Id="rId5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png"/><Relationship Id="rId3" Type="http://schemas.openxmlformats.org/officeDocument/2006/relationships/image" Target="../media/image79.png"/><Relationship Id="rId4" Type="http://schemas.openxmlformats.org/officeDocument/2006/relationships/image" Target="../media/image80.png"/><Relationship Id="rId5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png"/><Relationship Id="rId3" Type="http://schemas.openxmlformats.org/officeDocument/2006/relationships/image" Target="../media/image82.png"/><Relationship Id="rId4" Type="http://schemas.openxmlformats.org/officeDocument/2006/relationships/image" Target="../media/image83.png"/><Relationship Id="rId5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Relationship Id="rId3" Type="http://schemas.openxmlformats.org/officeDocument/2006/relationships/image" Target="../media/image85.png"/><Relationship Id="rId4" Type="http://schemas.openxmlformats.org/officeDocument/2006/relationships/image" Target="../media/image86.png"/><Relationship Id="rId5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7.pn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Relationship Id="rId3" Type="http://schemas.openxmlformats.org/officeDocument/2006/relationships/image" Target="../media/image47.png"/><Relationship Id="rId4" Type="http://schemas.openxmlformats.org/officeDocument/2006/relationships/image" Target="../media/image88.png"/><Relationship Id="rId5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Relationship Id="rId4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89.png"/><Relationship Id="rId6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0.pn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1.pn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2.png"/><Relationship Id="rId3" Type="http://schemas.openxmlformats.org/officeDocument/2006/relationships/image" Target="../media/image93.png"/><Relationship Id="rId4" Type="http://schemas.openxmlformats.org/officeDocument/2006/relationships/image" Target="../media/image94.png"/><Relationship Id="rId5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5.png"/><Relationship Id="rId3" Type="http://schemas.openxmlformats.org/officeDocument/2006/relationships/image" Target="../media/image29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6.png"/><Relationship Id="rId3" Type="http://schemas.openxmlformats.org/officeDocument/2006/relationships/notesSlide" Target="../notesSlides/notesSlide5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-microsoft-fabric-consolidates-analytics-sprawl-into-one-gove-816a5cee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94192" y="2353791"/>
            <a:ext cx="3337560" cy="1877377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457200" y="1852300"/>
            <a:ext cx="7708392" cy="90425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12000"/>
              </a:lnSpc>
            </a:pPr>
            <a:r>
              <a:rPr sz="2700" b="1">
                <a:solidFill>
                  <a:srgbClr val="1F2937"/>
                </a:solidFill>
                <a:latin typeface="Meiryo UI"/>
              </a:rPr>
              <a:t>Microsoft Fabric consolidates analytics sprawl into one governed SaaS platform</a:t>
            </a:r>
          </a:p>
        </p:txBody>
      </p:sp>
      <p:sp>
        <p:nvSpPr>
          <p:cNvPr id="4" name="key_message"/>
          <p:cNvSpPr txBox="1"/>
          <p:nvPr/>
        </p:nvSpPr>
        <p:spPr>
          <a:xfrm>
            <a:off x="457200" y="3566525"/>
            <a:ext cx="7708392" cy="58677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32000"/>
              </a:lnSpc>
            </a:pPr>
            <a:r>
              <a:rPr sz="1639" b="0">
                <a:solidFill>
                  <a:srgbClr val="1F2937"/>
                </a:solidFill>
                <a:latin typeface="Meiryo UI"/>
              </a:rPr>
              <a:t>Fabric’s core promise is that 1 shared platform can replace fragmented data and analytics stacks without sacrificing enterprise control.</a:t>
            </a:r>
          </a:p>
        </p:txBody>
      </p:sp>
      <p:sp>
        <p:nvSpPr>
          <p:cNvPr id="5" name="chip_0"/>
          <p:cNvSpPr/>
          <p:nvPr/>
        </p:nvSpPr>
        <p:spPr>
          <a:xfrm>
            <a:off x="457200" y="4963180"/>
            <a:ext cx="2459736" cy="614659"/>
          </a:xfrm>
          <a:prstGeom prst="roundRect">
            <a:avLst/>
          </a:prstGeom>
          <a:solidFill>
            <a:srgbClr val="D3DAFD">
              <a:alpha val="90000"/>
            </a:srgbClr>
          </a:solidFill>
          <a:ln w="6350">
            <a:solidFill>
              <a:srgbClr val="D3DA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rmAutofit/>
          </a:bodyPr>
          <a:lstStyle/>
          <a:p>
            <a:pPr algn="ctr">
              <a:lnSpc>
                <a:spcPct val="116000"/>
              </a:lnSpc>
            </a:pPr>
            <a:r>
              <a:rPr sz="1100" b="0">
                <a:solidFill>
                  <a:srgbClr val="1F2937"/>
                </a:solidFill>
                <a:latin typeface="Meiryo UI"/>
              </a:rPr>
              <a:t>1 SaaS platform spans ingestion, storage, transformation, analytics, and reporting-adjacent workflows</a:t>
            </a:r>
          </a:p>
        </p:txBody>
      </p:sp>
      <p:sp>
        <p:nvSpPr>
          <p:cNvPr id="6" name="chip_1"/>
          <p:cNvSpPr/>
          <p:nvPr/>
        </p:nvSpPr>
        <p:spPr>
          <a:xfrm>
            <a:off x="3081528" y="4963180"/>
            <a:ext cx="2459736" cy="614659"/>
          </a:xfrm>
          <a:prstGeom prst="roundRect">
            <a:avLst/>
          </a:prstGeom>
          <a:solidFill>
            <a:srgbClr val="FFE4F6">
              <a:alpha val="90000"/>
            </a:srgbClr>
          </a:solidFill>
          <a:ln w="6350">
            <a:solidFill>
              <a:srgbClr val="FFE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rmAutofit/>
          </a:bodyPr>
          <a:lstStyle/>
          <a:p>
            <a:pPr algn="ctr">
              <a:lnSpc>
                <a:spcPct val="116000"/>
              </a:lnSpc>
            </a:pPr>
            <a:r>
              <a:rPr sz="1100" b="0">
                <a:solidFill>
                  <a:srgbClr val="1F2937"/>
                </a:solidFill>
                <a:latin typeface="Meiryo UI"/>
              </a:rPr>
              <a:t>6 integrated experiences sit on a shared foundation instead of isolated point tools</a:t>
            </a:r>
          </a:p>
        </p:txBody>
      </p:sp>
      <p:sp>
        <p:nvSpPr>
          <p:cNvPr id="7" name="chip_2"/>
          <p:cNvSpPr/>
          <p:nvPr/>
        </p:nvSpPr>
        <p:spPr>
          <a:xfrm>
            <a:off x="5705856" y="4963180"/>
            <a:ext cx="2459736" cy="614659"/>
          </a:xfrm>
          <a:prstGeom prst="roundRect">
            <a:avLst/>
          </a:prstGeom>
          <a:solidFill>
            <a:srgbClr val="FFF3FA">
              <a:alpha val="90000"/>
            </a:srgbClr>
          </a:solidFill>
          <a:ln w="6350">
            <a:solidFill>
              <a:srgbClr val="FFF3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rmAutofit/>
          </a:bodyPr>
          <a:lstStyle/>
          <a:p>
            <a:pPr algn="ctr">
              <a:lnSpc>
                <a:spcPct val="116000"/>
              </a:lnSpc>
            </a:pPr>
            <a:r>
              <a:rPr sz="1100" b="0">
                <a:solidFill>
                  <a:srgbClr val="1F2937"/>
                </a:solidFill>
                <a:latin typeface="Meiryo UI"/>
              </a:rPr>
              <a:t>OneLake is the common data layer that keeps assets reusable across workloads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85800" y="457200"/>
            <a:ext cx="8714232" cy="1336029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937"/>
                </a:solidFill>
                <a:latin typeface="Meiryo UI"/>
              </a:rPr>
              <a:t>Fabric’s value decomposes cleanly into platform core, user experiences, and governed operations</a:t>
            </a:r>
          </a:p>
        </p:txBody>
      </p:sp>
      <p:sp>
        <p:nvSpPr>
          <p:cNvPr id="3" name="key_message"/>
          <p:cNvSpPr txBox="1"/>
          <p:nvPr/>
        </p:nvSpPr>
        <p:spPr>
          <a:xfrm>
            <a:off x="685800" y="1957821"/>
            <a:ext cx="8714232" cy="80266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32000"/>
              </a:lnSpc>
            </a:pPr>
            <a:r>
              <a:rPr sz="1550" b="0">
                <a:solidFill>
                  <a:srgbClr val="1F2937"/>
                </a:solidFill>
                <a:latin typeface="Meiryo UI"/>
              </a:rPr>
              <a:t>A MECE view makes the platform easier to assess because it separates what Fabric is built on, what users do inside it, and how enterprises keep it under control.</a:t>
            </a:r>
          </a:p>
        </p:txBody>
      </p:sp>
      <p:sp>
        <p:nvSpPr>
          <p:cNvPr id="4" name="body_0"/>
          <p:cNvSpPr/>
          <p:nvPr/>
        </p:nvSpPr>
        <p:spPr>
          <a:xfrm>
            <a:off x="457200" y="3126242"/>
            <a:ext cx="7882127" cy="789414"/>
          </a:xfrm>
          <a:prstGeom prst="roundRect">
            <a:avLst/>
          </a:prstGeom>
          <a:solidFill>
            <a:srgbClr val="DDE4FE">
              <a:alpha val="90000"/>
            </a:srgbClr>
          </a:solidFill>
          <a:ln w="6350">
            <a:solidFill>
              <a:srgbClr val="DDE4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28016" tIns="109728" bIns="91440">
            <a:normAutofit/>
          </a:bodyPr>
          <a:lstStyle/>
          <a:p>
            <a:pPr algn="l">
              <a:lnSpc>
                <a:spcPct val="118000"/>
              </a:lnSpc>
            </a:pPr>
            <a:r>
              <a:rPr sz="1320" b="1">
                <a:solidFill>
                  <a:srgbClr val="1F2937"/>
                </a:solidFill>
                <a:latin typeface="Meiryo UI"/>
              </a:rPr>
              <a:t>Platform core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150" b="0">
                <a:solidFill>
                  <a:srgbClr val="1F2937"/>
                </a:solidFill>
                <a:latin typeface="Meiryo UI"/>
              </a:rPr>
              <a:t>OneLake, shared compute, shared tenancy, and managed platform services</a:t>
            </a:r>
          </a:p>
        </p:txBody>
      </p:sp>
      <p:sp>
        <p:nvSpPr>
          <p:cNvPr id="5" name="design_stripe_0"/>
          <p:cNvSpPr/>
          <p:nvPr/>
        </p:nvSpPr>
        <p:spPr>
          <a:xfrm>
            <a:off x="457200" y="3126242"/>
            <a:ext cx="73152" cy="789414"/>
          </a:xfrm>
          <a:prstGeom prst="rect">
            <a:avLst/>
          </a:prstGeom>
          <a:solidFill>
            <a:srgbClr val="DDE4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dy_1"/>
          <p:cNvSpPr/>
          <p:nvPr/>
        </p:nvSpPr>
        <p:spPr>
          <a:xfrm>
            <a:off x="457200" y="3957333"/>
            <a:ext cx="7882127" cy="789414"/>
          </a:xfrm>
          <a:prstGeom prst="roundRect">
            <a:avLst/>
          </a:prstGeom>
          <a:solidFill>
            <a:srgbClr val="D3DAFD">
              <a:alpha val="90000"/>
            </a:srgbClr>
          </a:solidFill>
          <a:ln w="6350">
            <a:solidFill>
              <a:srgbClr val="D3DA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28016" tIns="109728" bIns="91440">
            <a:normAutofit/>
          </a:bodyPr>
          <a:lstStyle/>
          <a:p>
            <a:pPr algn="l">
              <a:lnSpc>
                <a:spcPct val="118000"/>
              </a:lnSpc>
            </a:pPr>
            <a:r>
              <a:rPr sz="1320" b="1">
                <a:solidFill>
                  <a:srgbClr val="1F2937"/>
                </a:solidFill>
                <a:latin typeface="Meiryo UI"/>
              </a:rPr>
              <a:t>User experiences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150" b="0">
                <a:solidFill>
                  <a:srgbClr val="1F2937"/>
                </a:solidFill>
                <a:latin typeface="Meiryo UI"/>
              </a:rPr>
              <a:t>6 integrated experiences that cover the major analytics lifecycle</a:t>
            </a:r>
          </a:p>
        </p:txBody>
      </p:sp>
      <p:sp>
        <p:nvSpPr>
          <p:cNvPr id="7" name="design_stripe_1"/>
          <p:cNvSpPr/>
          <p:nvPr/>
        </p:nvSpPr>
        <p:spPr>
          <a:xfrm>
            <a:off x="457200" y="3957333"/>
            <a:ext cx="73152" cy="789414"/>
          </a:xfrm>
          <a:prstGeom prst="rect">
            <a:avLst/>
          </a:prstGeom>
          <a:solidFill>
            <a:srgbClr val="D3DA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body_2"/>
          <p:cNvSpPr/>
          <p:nvPr/>
        </p:nvSpPr>
        <p:spPr>
          <a:xfrm>
            <a:off x="457200" y="4788425"/>
            <a:ext cx="7882127" cy="789414"/>
          </a:xfrm>
          <a:prstGeom prst="roundRect">
            <a:avLst/>
          </a:prstGeom>
          <a:solidFill>
            <a:srgbClr val="FFE4F6">
              <a:alpha val="90000"/>
            </a:srgbClr>
          </a:solidFill>
          <a:ln w="6350">
            <a:solidFill>
              <a:srgbClr val="FFE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28016" tIns="109728" bIns="91440">
            <a:normAutofit/>
          </a:bodyPr>
          <a:lstStyle/>
          <a:p>
            <a:pPr algn="l">
              <a:lnSpc>
                <a:spcPct val="118000"/>
              </a:lnSpc>
            </a:pPr>
            <a:r>
              <a:rPr sz="1320" b="1">
                <a:solidFill>
                  <a:srgbClr val="1F2937"/>
                </a:solidFill>
                <a:latin typeface="Meiryo UI"/>
              </a:rPr>
              <a:t>Governed operations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150" b="0">
                <a:solidFill>
                  <a:srgbClr val="1F2937"/>
                </a:solidFill>
                <a:latin typeface="Meiryo UI"/>
              </a:rPr>
              <a:t>workspaces, identities, sharing, Git, schedules, security, and auditing</a:t>
            </a:r>
          </a:p>
        </p:txBody>
      </p:sp>
      <p:sp>
        <p:nvSpPr>
          <p:cNvPr id="9" name="design_stripe_2"/>
          <p:cNvSpPr/>
          <p:nvPr/>
        </p:nvSpPr>
        <p:spPr>
          <a:xfrm>
            <a:off x="457200" y="4788425"/>
            <a:ext cx="73152" cy="789414"/>
          </a:xfrm>
          <a:prstGeom prst="rect">
            <a:avLst/>
          </a:prstGeom>
          <a:solidFill>
            <a:srgbClr val="FFE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icon_Picture 9" descr="branch-24-regular_t_DDE4F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22992" y="54864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85800" y="457200"/>
            <a:ext cx="8449056" cy="125986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937"/>
                </a:solidFill>
                <a:latin typeface="Meiryo UI"/>
              </a:rPr>
              <a:t>The platform story is strongest when architecture, workloads, and controls reinforce one another</a:t>
            </a:r>
          </a:p>
        </p:txBody>
      </p:sp>
      <p:sp>
        <p:nvSpPr>
          <p:cNvPr id="3" name="key_message"/>
          <p:cNvSpPr txBox="1"/>
          <p:nvPr/>
        </p:nvSpPr>
        <p:spPr>
          <a:xfrm>
            <a:off x="685800" y="1881652"/>
            <a:ext cx="8449056" cy="853409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32000"/>
              </a:lnSpc>
            </a:pPr>
            <a:r>
              <a:rPr sz="1550" b="0">
                <a:solidFill>
                  <a:srgbClr val="1F2937"/>
                </a:solidFill>
                <a:latin typeface="Meiryo UI"/>
              </a:rPr>
              <a:t>Fabric is compelling not because of any one feature, but because architecture, product breadth, and governance are designed to work as one system.</a:t>
            </a:r>
          </a:p>
        </p:txBody>
      </p:sp>
      <p:sp>
        <p:nvSpPr>
          <p:cNvPr id="4" name="summary_0"/>
          <p:cNvSpPr/>
          <p:nvPr/>
        </p:nvSpPr>
        <p:spPr>
          <a:xfrm>
            <a:off x="457200" y="4134093"/>
            <a:ext cx="5567324" cy="709601"/>
          </a:xfrm>
          <a:prstGeom prst="roundRect">
            <a:avLst/>
          </a:prstGeom>
          <a:solidFill>
            <a:srgbClr val="D3DAFD">
              <a:alpha val="90000"/>
            </a:srgbClr>
          </a:solidFill>
          <a:ln w="6350">
            <a:solidFill>
              <a:srgbClr val="D3DA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155448" bIns="91440">
            <a:normAutofit/>
          </a:bodyPr>
          <a:lstStyle/>
          <a:p>
            <a:pPr algn="l">
              <a:lnSpc>
                <a:spcPct val="118000"/>
              </a:lnSpc>
            </a:pPr>
            <a:r>
              <a:rPr sz="1320" b="1">
                <a:solidFill>
                  <a:srgbClr val="1F2937"/>
                </a:solidFill>
                <a:latin typeface="Meiryo UI"/>
              </a:rPr>
              <a:t>Architecture: OneLake and shared services reduce movement, duplication, and integration overhead</a:t>
            </a:r>
          </a:p>
        </p:txBody>
      </p:sp>
      <p:pic>
        <p:nvPicPr>
          <p:cNvPr id="5" name="design_icon_Picture 4" descr="task-list-24-regular_t_D3DA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8492" y="4225533"/>
            <a:ext cx="164592" cy="164592"/>
          </a:xfrm>
          <a:prstGeom prst="rect">
            <a:avLst/>
          </a:prstGeom>
        </p:spPr>
      </p:pic>
      <p:sp>
        <p:nvSpPr>
          <p:cNvPr id="6" name="summary_1"/>
          <p:cNvSpPr/>
          <p:nvPr/>
        </p:nvSpPr>
        <p:spPr>
          <a:xfrm>
            <a:off x="6164427" y="4134093"/>
            <a:ext cx="5567324" cy="709601"/>
          </a:xfrm>
          <a:prstGeom prst="roundRect">
            <a:avLst/>
          </a:prstGeom>
          <a:solidFill>
            <a:srgbClr val="FFE4F6">
              <a:alpha val="90000"/>
            </a:srgbClr>
          </a:solidFill>
          <a:ln w="6350">
            <a:solidFill>
              <a:srgbClr val="FFE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155448" bIns="91440">
            <a:normAutofit/>
          </a:bodyPr>
          <a:lstStyle/>
          <a:p>
            <a:pPr algn="l">
              <a:lnSpc>
                <a:spcPct val="118000"/>
              </a:lnSpc>
            </a:pPr>
            <a:r>
              <a:rPr sz="1320" b="1">
                <a:solidFill>
                  <a:srgbClr val="1F2937"/>
                </a:solidFill>
                <a:latin typeface="Meiryo UI"/>
              </a:rPr>
              <a:t>Workloads: 6 experiences cover engineering, science, real-time, warehousing, and databases in one environment</a:t>
            </a:r>
          </a:p>
        </p:txBody>
      </p:sp>
      <p:pic>
        <p:nvPicPr>
          <p:cNvPr id="7" name="design_icon_Picture 6" descr="task-list-24-regular_t_FFE4F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5719" y="4225533"/>
            <a:ext cx="164592" cy="164592"/>
          </a:xfrm>
          <a:prstGeom prst="rect">
            <a:avLst/>
          </a:prstGeom>
        </p:spPr>
      </p:pic>
      <p:sp>
        <p:nvSpPr>
          <p:cNvPr id="8" name="summary_2"/>
          <p:cNvSpPr/>
          <p:nvPr/>
        </p:nvSpPr>
        <p:spPr>
          <a:xfrm>
            <a:off x="457200" y="4868238"/>
            <a:ext cx="5567324" cy="709601"/>
          </a:xfrm>
          <a:prstGeom prst="roundRect">
            <a:avLst/>
          </a:prstGeom>
          <a:solidFill>
            <a:srgbClr val="FFF3FA">
              <a:alpha val="90000"/>
            </a:srgbClr>
          </a:solidFill>
          <a:ln w="6350">
            <a:solidFill>
              <a:srgbClr val="FFF3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155448" bIns="91440">
            <a:normAutofit/>
          </a:bodyPr>
          <a:lstStyle/>
          <a:p>
            <a:pPr algn="l">
              <a:lnSpc>
                <a:spcPct val="118000"/>
              </a:lnSpc>
            </a:pPr>
            <a:r>
              <a:rPr sz="1320" b="1">
                <a:solidFill>
                  <a:srgbClr val="1F2937"/>
                </a:solidFill>
                <a:latin typeface="Meiryo UI"/>
              </a:rPr>
              <a:t>Controls: workspaces, labels, auditing, schedules, and CI/CD move governance into the platform layer</a:t>
            </a:r>
          </a:p>
        </p:txBody>
      </p:sp>
      <p:pic>
        <p:nvPicPr>
          <p:cNvPr id="9" name="design_icon_Picture 8" descr="task-list-24-regular_t_FFF3F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8492" y="4959678"/>
            <a:ext cx="164592" cy="164592"/>
          </a:xfrm>
          <a:prstGeom prst="rect">
            <a:avLst/>
          </a:prstGeom>
        </p:spPr>
      </p:pic>
      <p:pic>
        <p:nvPicPr>
          <p:cNvPr id="10" name="icon_Picture 9" descr="arrow-up-24-regular_t_D3DAF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85832" y="68580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1033271" y="2078705"/>
            <a:ext cx="8193024" cy="160276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12000"/>
              </a:lnSpc>
            </a:pPr>
            <a:r>
              <a:rPr sz="3300" b="1">
                <a:solidFill>
                  <a:srgbClr val="1F2937"/>
                </a:solidFill>
                <a:latin typeface="Meiryo UI"/>
              </a:rPr>
              <a:t>Platform core removes handoffs by standardizing storage, compute, and tenancy</a:t>
            </a:r>
          </a:p>
        </p:txBody>
      </p:sp>
      <p:sp>
        <p:nvSpPr>
          <p:cNvPr id="3" name="key_message"/>
          <p:cNvSpPr txBox="1"/>
          <p:nvPr/>
        </p:nvSpPr>
        <p:spPr>
          <a:xfrm>
            <a:off x="1033271" y="4178259"/>
            <a:ext cx="8193024" cy="139958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32000"/>
              </a:lnSpc>
            </a:pPr>
            <a:r>
              <a:rPr sz="1800" b="0">
                <a:solidFill>
                  <a:srgbClr val="1F2937"/>
                </a:solidFill>
                <a:latin typeface="Meiryo UI"/>
              </a:rPr>
              <a:t>Fabric’s architectural foundation matters because shared storage and shared services make workload breadth operationally usable rather than merely broad.</a:t>
            </a:r>
          </a:p>
        </p:txBody>
      </p:sp>
      <p:pic>
        <p:nvPicPr>
          <p:cNvPr id="4" name="icon_Picture 3" descr="database-24-regular_t_FFE4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4432" y="45720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85800" y="457200"/>
            <a:ext cx="8449056" cy="90425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937"/>
                </a:solidFill>
                <a:latin typeface="Meiryo UI"/>
              </a:rPr>
              <a:t>OneLake becomes the single data layer for every Fabric workload</a:t>
            </a:r>
          </a:p>
        </p:txBody>
      </p:sp>
      <p:sp>
        <p:nvSpPr>
          <p:cNvPr id="3" name="key_message"/>
          <p:cNvSpPr txBox="1"/>
          <p:nvPr/>
        </p:nvSpPr>
        <p:spPr>
          <a:xfrm>
            <a:off x="685800" y="1526042"/>
            <a:ext cx="8449056" cy="58677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32000"/>
              </a:lnSpc>
            </a:pPr>
            <a:r>
              <a:rPr sz="1490" b="0">
                <a:solidFill>
                  <a:srgbClr val="1F2937"/>
                </a:solidFill>
                <a:latin typeface="Meiryo UI"/>
              </a:rPr>
              <a:t>Fabric’s strongest architectural move is making OneLake the default shared store so data can be reused without multiplying storage silos.</a:t>
            </a:r>
          </a:p>
        </p:txBody>
      </p:sp>
      <p:sp>
        <p:nvSpPr>
          <p:cNvPr id="4" name="bullet_0"/>
          <p:cNvSpPr/>
          <p:nvPr/>
        </p:nvSpPr>
        <p:spPr>
          <a:xfrm>
            <a:off x="457200" y="2478572"/>
            <a:ext cx="11274552" cy="997964"/>
          </a:xfrm>
          <a:prstGeom prst="roundRect">
            <a:avLst/>
          </a:prstGeom>
          <a:solidFill>
            <a:srgbClr val="FFF3FA">
              <a:alpha val="90000"/>
            </a:srgbClr>
          </a:solidFill>
          <a:ln w="6350">
            <a:solidFill>
              <a:srgbClr val="FFF3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28016" tIns="164592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00" b="1">
                <a:solidFill>
                  <a:srgbClr val="1F2937"/>
                </a:solidFill>
                <a:latin typeface="Meiryo UI"/>
              </a:rPr>
              <a:t>OneLake is provisioned automatically with every Fabric tenant</a:t>
            </a:r>
          </a:p>
        </p:txBody>
      </p:sp>
      <p:sp>
        <p:nvSpPr>
          <p:cNvPr id="5" name="design_stripe_0"/>
          <p:cNvSpPr/>
          <p:nvPr/>
        </p:nvSpPr>
        <p:spPr>
          <a:xfrm>
            <a:off x="457200" y="2478572"/>
            <a:ext cx="73152" cy="997964"/>
          </a:xfrm>
          <a:prstGeom prst="rect">
            <a:avLst/>
          </a:prstGeom>
          <a:solidFill>
            <a:srgbClr val="FF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design_icon_Picture 5" descr="database-24-regular_t_FFF3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20856" y="2570012"/>
            <a:ext cx="219456" cy="219456"/>
          </a:xfrm>
          <a:prstGeom prst="rect">
            <a:avLst/>
          </a:prstGeom>
        </p:spPr>
      </p:pic>
      <p:sp>
        <p:nvSpPr>
          <p:cNvPr id="7" name="bullet_1"/>
          <p:cNvSpPr/>
          <p:nvPr/>
        </p:nvSpPr>
        <p:spPr>
          <a:xfrm>
            <a:off x="457200" y="3529224"/>
            <a:ext cx="11274552" cy="997964"/>
          </a:xfrm>
          <a:prstGeom prst="roundRect">
            <a:avLst/>
          </a:prstGeom>
          <a:solidFill>
            <a:srgbClr val="E4FEEF">
              <a:alpha val="90000"/>
            </a:srgbClr>
          </a:solidFill>
          <a:ln w="6350">
            <a:solidFill>
              <a:srgbClr val="E4FE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28016" tIns="164592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00" b="1">
                <a:solidFill>
                  <a:srgbClr val="1F2937"/>
                </a:solidFill>
                <a:latin typeface="Meiryo UI"/>
              </a:rPr>
              <a:t>Every Fabric workload reads from and writes to the same organizational lake</a:t>
            </a:r>
          </a:p>
        </p:txBody>
      </p:sp>
      <p:sp>
        <p:nvSpPr>
          <p:cNvPr id="8" name="design_stripe_1"/>
          <p:cNvSpPr/>
          <p:nvPr/>
        </p:nvSpPr>
        <p:spPr>
          <a:xfrm>
            <a:off x="457200" y="3529224"/>
            <a:ext cx="73152" cy="997964"/>
          </a:xfrm>
          <a:prstGeom prst="rect">
            <a:avLst/>
          </a:prstGeom>
          <a:solidFill>
            <a:srgbClr val="E4F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design_icon_Picture 8" descr="database-24-regular_t_E4FEE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0856" y="3620664"/>
            <a:ext cx="219456" cy="219456"/>
          </a:xfrm>
          <a:prstGeom prst="rect">
            <a:avLst/>
          </a:prstGeom>
        </p:spPr>
      </p:pic>
      <p:sp>
        <p:nvSpPr>
          <p:cNvPr id="10" name="bullet_2"/>
          <p:cNvSpPr/>
          <p:nvPr/>
        </p:nvSpPr>
        <p:spPr>
          <a:xfrm>
            <a:off x="457200" y="4579875"/>
            <a:ext cx="11274552" cy="997964"/>
          </a:xfrm>
          <a:prstGeom prst="roundRect">
            <a:avLst/>
          </a:prstGeom>
          <a:solidFill>
            <a:srgbClr val="DCFEE9">
              <a:alpha val="90000"/>
            </a:srgbClr>
          </a:solidFill>
          <a:ln w="6350">
            <a:solidFill>
              <a:srgbClr val="DCF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28016" tIns="164592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00" b="1">
                <a:solidFill>
                  <a:srgbClr val="1F2937"/>
                </a:solidFill>
                <a:latin typeface="Meiryo UI"/>
              </a:rPr>
              <a:t>A dataset can move from pipeline to notebook to report while staying in 1 place</a:t>
            </a:r>
          </a:p>
        </p:txBody>
      </p:sp>
      <p:sp>
        <p:nvSpPr>
          <p:cNvPr id="11" name="design_stripe_2"/>
          <p:cNvSpPr/>
          <p:nvPr/>
        </p:nvSpPr>
        <p:spPr>
          <a:xfrm>
            <a:off x="457200" y="4579875"/>
            <a:ext cx="73152" cy="997964"/>
          </a:xfrm>
          <a:prstGeom prst="rect">
            <a:avLst/>
          </a:prstGeom>
          <a:solidFill>
            <a:srgbClr val="DCFE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design_icon_Picture 11" descr="database-24-regular_t_DCFEE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20856" y="4671315"/>
            <a:ext cx="219456" cy="219456"/>
          </a:xfrm>
          <a:prstGeom prst="rect">
            <a:avLst/>
          </a:prstGeom>
        </p:spPr>
      </p:pic>
      <p:pic>
        <p:nvPicPr>
          <p:cNvPr id="13" name="icon_Picture 12" descr="database-24-regular_t_FFF3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85832" y="68580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85800" y="457200"/>
            <a:ext cx="8449056" cy="82808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32000"/>
              </a:lnSpc>
            </a:pPr>
            <a:r>
              <a:rPr sz="2300" b="1">
                <a:solidFill>
                  <a:srgbClr val="1F2937"/>
                </a:solidFill>
                <a:latin typeface="Meiryo UI"/>
              </a:rPr>
              <a:t>Open Delta Parquet storage keeps analytics assets reusable across tools and teams</a:t>
            </a:r>
          </a:p>
        </p:txBody>
      </p:sp>
      <p:sp>
        <p:nvSpPr>
          <p:cNvPr id="3" name="key_message"/>
          <p:cNvSpPr txBox="1"/>
          <p:nvPr/>
        </p:nvSpPr>
        <p:spPr>
          <a:xfrm>
            <a:off x="685800" y="1375349"/>
            <a:ext cx="8449056" cy="58677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32000"/>
              </a:lnSpc>
            </a:pPr>
            <a:r>
              <a:rPr sz="1490" b="0">
                <a:solidFill>
                  <a:srgbClr val="1F2937"/>
                </a:solidFill>
                <a:latin typeface="Meiryo UI"/>
              </a:rPr>
              <a:t>By storing data in open Delta Parquet format, Fabric preserves reuse across workloads instead of trapping data in product-specific silos.</a:t>
            </a:r>
          </a:p>
        </p:txBody>
      </p:sp>
      <p:sp>
        <p:nvSpPr>
          <p:cNvPr id="4" name="card_0"/>
          <p:cNvSpPr/>
          <p:nvPr/>
        </p:nvSpPr>
        <p:spPr>
          <a:xfrm>
            <a:off x="457200" y="2441448"/>
            <a:ext cx="5486400" cy="1536192"/>
          </a:xfrm>
          <a:prstGeom prst="roundRect">
            <a:avLst/>
          </a:prstGeom>
          <a:solidFill>
            <a:srgbClr val="F5FFF9">
              <a:alpha val="90000"/>
            </a:srgbClr>
          </a:solidFill>
          <a:ln w="6350">
            <a:solidFill>
              <a:srgbClr val="F5FF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520842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50" b="1">
                <a:solidFill>
                  <a:srgbClr val="1F2937"/>
                </a:solidFill>
                <a:latin typeface="Meiryo UI"/>
              </a:rPr>
              <a:t>OneLake stores data in open Delta Parquet rather than a closed proprietary format</a:t>
            </a:r>
          </a:p>
        </p:txBody>
      </p:sp>
      <p:pic>
        <p:nvPicPr>
          <p:cNvPr id="5" name="design_icon_Picture 4" descr="table-24-regular_t_F5FF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" y="2532888"/>
            <a:ext cx="337962" cy="337962"/>
          </a:xfrm>
          <a:prstGeom prst="rect">
            <a:avLst/>
          </a:prstGeom>
        </p:spPr>
      </p:pic>
      <p:sp>
        <p:nvSpPr>
          <p:cNvPr id="6" name="card_1"/>
          <p:cNvSpPr/>
          <p:nvPr/>
        </p:nvSpPr>
        <p:spPr>
          <a:xfrm>
            <a:off x="6236208" y="2441448"/>
            <a:ext cx="5486400" cy="1536192"/>
          </a:xfrm>
          <a:prstGeom prst="roundRect">
            <a:avLst/>
          </a:prstGeom>
          <a:solidFill>
            <a:srgbClr val="F4FFF8">
              <a:alpha val="90000"/>
            </a:srgbClr>
          </a:solidFill>
          <a:ln w="6350">
            <a:solidFill>
              <a:srgbClr val="F4F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520842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50" b="1">
                <a:solidFill>
                  <a:srgbClr val="1F2937"/>
                </a:solidFill>
                <a:latin typeface="Meiryo UI"/>
              </a:rPr>
              <a:t>The same underlying data can support engineering, SQL analytics, and reporting workflows</a:t>
            </a:r>
          </a:p>
        </p:txBody>
      </p:sp>
      <p:pic>
        <p:nvPicPr>
          <p:cNvPr id="7" name="design_icon_Picture 6" descr="table-24-regular_t_F4FFF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4224" y="2532888"/>
            <a:ext cx="337962" cy="337962"/>
          </a:xfrm>
          <a:prstGeom prst="rect">
            <a:avLst/>
          </a:prstGeom>
        </p:spPr>
      </p:pic>
      <p:sp>
        <p:nvSpPr>
          <p:cNvPr id="8" name="card_2"/>
          <p:cNvSpPr/>
          <p:nvPr/>
        </p:nvSpPr>
        <p:spPr>
          <a:xfrm>
            <a:off x="457200" y="4233672"/>
            <a:ext cx="5486400" cy="1536192"/>
          </a:xfrm>
          <a:prstGeom prst="roundRect">
            <a:avLst/>
          </a:prstGeom>
          <a:solidFill>
            <a:srgbClr val="F5FFF9">
              <a:alpha val="90000"/>
            </a:srgbClr>
          </a:solidFill>
          <a:ln w="6350">
            <a:solidFill>
              <a:srgbClr val="F5FF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520842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50" b="1">
                <a:solidFill>
                  <a:srgbClr val="1F2937"/>
                </a:solidFill>
                <a:latin typeface="Meiryo UI"/>
              </a:rPr>
              <a:t>Open storage lowers the penalty for switching between 2 or more workload styles on the same dataset</a:t>
            </a:r>
          </a:p>
        </p:txBody>
      </p:sp>
      <p:pic>
        <p:nvPicPr>
          <p:cNvPr id="9" name="design_icon_Picture 8" descr="table-24-regular_t_F5FF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" y="4325112"/>
            <a:ext cx="337962" cy="337962"/>
          </a:xfrm>
          <a:prstGeom prst="rect">
            <a:avLst/>
          </a:prstGeom>
        </p:spPr>
      </p:pic>
      <p:pic>
        <p:nvPicPr>
          <p:cNvPr id="10" name="icon_Picture 9" descr="table-24-regular_t_E4FEE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85832" y="68580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85800" y="457200"/>
            <a:ext cx="8887968" cy="90425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937"/>
                </a:solidFill>
                <a:latin typeface="Meiryo UI"/>
              </a:rPr>
              <a:t>Keeping data in one place removes handoffs across the end-to-end lifecycle</a:t>
            </a:r>
          </a:p>
        </p:txBody>
      </p:sp>
      <p:sp>
        <p:nvSpPr>
          <p:cNvPr id="3" name="key_message"/>
          <p:cNvSpPr txBox="1"/>
          <p:nvPr/>
        </p:nvSpPr>
        <p:spPr>
          <a:xfrm>
            <a:off x="685800" y="1526042"/>
            <a:ext cx="8887968" cy="58677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32000"/>
              </a:lnSpc>
            </a:pPr>
            <a:r>
              <a:rPr sz="1490" b="0">
                <a:solidFill>
                  <a:srgbClr val="1F2937"/>
                </a:solidFill>
                <a:latin typeface="Meiryo UI"/>
              </a:rPr>
              <a:t>Fabric reduces time-to-insight because data does not need to be copied between separate engines as teams ingest, refine, analyze, and visualize it.</a:t>
            </a:r>
          </a:p>
        </p:txBody>
      </p:sp>
      <p:sp>
        <p:nvSpPr>
          <p:cNvPr id="4" name="card_0"/>
          <p:cNvSpPr/>
          <p:nvPr/>
        </p:nvSpPr>
        <p:spPr>
          <a:xfrm>
            <a:off x="457200" y="2478572"/>
            <a:ext cx="2606040" cy="1773936"/>
          </a:xfrm>
          <a:prstGeom prst="roundRect">
            <a:avLst/>
          </a:prstGeom>
          <a:solidFill>
            <a:srgbClr val="F2FFF7">
              <a:alpha val="90000"/>
            </a:srgbClr>
          </a:solidFill>
          <a:ln w="6350">
            <a:solidFill>
              <a:srgbClr val="F2FF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429768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50" b="1">
                <a:solidFill>
                  <a:srgbClr val="1F2937"/>
                </a:solidFill>
                <a:latin typeface="Meiryo UI"/>
              </a:rPr>
              <a:t>Source documentation describes 6 lifecycle stages on a single shared foundation</a:t>
            </a:r>
          </a:p>
        </p:txBody>
      </p:sp>
      <p:sp>
        <p:nvSpPr>
          <p:cNvPr id="5" name="design_card_header_0"/>
          <p:cNvSpPr/>
          <p:nvPr/>
        </p:nvSpPr>
        <p:spPr>
          <a:xfrm>
            <a:off x="457200" y="2478572"/>
            <a:ext cx="2606040" cy="274320"/>
          </a:xfrm>
          <a:prstGeom prst="rect">
            <a:avLst/>
          </a:prstGeom>
          <a:solidFill>
            <a:srgbClr val="F2FFF7">
              <a:alpha val="9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design_icon_Picture 5" descr="sparkle-24-regular_t_1F29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0667" y="2536179"/>
            <a:ext cx="159105" cy="159105"/>
          </a:xfrm>
          <a:prstGeom prst="rect">
            <a:avLst/>
          </a:prstGeom>
        </p:spPr>
      </p:pic>
      <p:sp>
        <p:nvSpPr>
          <p:cNvPr id="7" name="card_1"/>
          <p:cNvSpPr/>
          <p:nvPr/>
        </p:nvSpPr>
        <p:spPr>
          <a:xfrm>
            <a:off x="3337560" y="2478572"/>
            <a:ext cx="2606040" cy="1773936"/>
          </a:xfrm>
          <a:prstGeom prst="roundRect">
            <a:avLst/>
          </a:prstGeom>
          <a:solidFill>
            <a:srgbClr val="F5F7FF">
              <a:alpha val="90000"/>
            </a:srgbClr>
          </a:solidFill>
          <a:ln w="6350">
            <a:solidFill>
              <a:srgbClr val="F5F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429768" bIns="91440">
            <a:normAutofit/>
          </a:bodyPr>
          <a:lstStyle/>
          <a:p>
            <a:pPr algn="l">
              <a:lnSpc>
                <a:spcPct val="118000"/>
              </a:lnSpc>
            </a:pPr>
            <a:r>
              <a:rPr sz="1370" b="1">
                <a:solidFill>
                  <a:srgbClr val="1F2937"/>
                </a:solidFill>
                <a:latin typeface="Meiryo UI"/>
              </a:rPr>
              <a:t>Data can be ingested through pipelines, refined in notebooks, and visualized without relocating storage</a:t>
            </a:r>
          </a:p>
        </p:txBody>
      </p:sp>
      <p:sp>
        <p:nvSpPr>
          <p:cNvPr id="8" name="design_card_header_1"/>
          <p:cNvSpPr/>
          <p:nvPr/>
        </p:nvSpPr>
        <p:spPr>
          <a:xfrm>
            <a:off x="3337560" y="2478572"/>
            <a:ext cx="2606040" cy="274320"/>
          </a:xfrm>
          <a:prstGeom prst="rect">
            <a:avLst/>
          </a:prstGeom>
          <a:solidFill>
            <a:srgbClr val="F5F7FF">
              <a:alpha val="9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design_icon_Picture 8" descr="sparkle-24-regular_t_1F29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1027" y="2536179"/>
            <a:ext cx="159105" cy="159105"/>
          </a:xfrm>
          <a:prstGeom prst="rect">
            <a:avLst/>
          </a:prstGeom>
        </p:spPr>
      </p:pic>
      <p:sp>
        <p:nvSpPr>
          <p:cNvPr id="10" name="card_2"/>
          <p:cNvSpPr/>
          <p:nvPr/>
        </p:nvSpPr>
        <p:spPr>
          <a:xfrm>
            <a:off x="6217920" y="2478572"/>
            <a:ext cx="2606040" cy="1773936"/>
          </a:xfrm>
          <a:prstGeom prst="roundRect">
            <a:avLst/>
          </a:prstGeom>
          <a:solidFill>
            <a:srgbClr val="F2FFF7">
              <a:alpha val="90000"/>
            </a:srgbClr>
          </a:solidFill>
          <a:ln w="6350">
            <a:solidFill>
              <a:srgbClr val="F2FF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429768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50" b="1">
                <a:solidFill>
                  <a:srgbClr val="1F2937"/>
                </a:solidFill>
                <a:latin typeface="Meiryo UI"/>
              </a:rPr>
              <a:t>Fewer copies mean fewer reconciliations, fewer lineage breaks, and lower integration overhead</a:t>
            </a:r>
          </a:p>
        </p:txBody>
      </p:sp>
      <p:sp>
        <p:nvSpPr>
          <p:cNvPr id="11" name="design_card_header_2"/>
          <p:cNvSpPr/>
          <p:nvPr/>
        </p:nvSpPr>
        <p:spPr>
          <a:xfrm>
            <a:off x="6217920" y="2478572"/>
            <a:ext cx="2606040" cy="274320"/>
          </a:xfrm>
          <a:prstGeom prst="rect">
            <a:avLst/>
          </a:prstGeom>
          <a:solidFill>
            <a:srgbClr val="F2FFF7">
              <a:alpha val="9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design_icon_Picture 11" descr="sparkle-24-regular_t_1F29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1387" y="2536179"/>
            <a:ext cx="159105" cy="15910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85800" y="457200"/>
            <a:ext cx="8449056" cy="90425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937"/>
                </a:solidFill>
                <a:latin typeface="Meiryo UI"/>
              </a:rPr>
              <a:t>Automatic OneLake provisioning makes the platform usable from the first tenant setup</a:t>
            </a:r>
          </a:p>
        </p:txBody>
      </p:sp>
      <p:sp>
        <p:nvSpPr>
          <p:cNvPr id="3" name="key_message"/>
          <p:cNvSpPr txBox="1"/>
          <p:nvPr/>
        </p:nvSpPr>
        <p:spPr>
          <a:xfrm>
            <a:off x="685800" y="1526042"/>
            <a:ext cx="8449056" cy="853409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32000"/>
              </a:lnSpc>
            </a:pPr>
            <a:r>
              <a:rPr sz="1550" b="0">
                <a:solidFill>
                  <a:srgbClr val="1F2937"/>
                </a:solidFill>
                <a:latin typeface="Meiryo UI"/>
              </a:rPr>
              <a:t>Fabric reduces initial platform friction because the shared lake is created automatically rather than requiring a separate storage program before work can begin.</a:t>
            </a:r>
          </a:p>
        </p:txBody>
      </p:sp>
      <p:sp>
        <p:nvSpPr>
          <p:cNvPr id="4" name="bullet_0"/>
          <p:cNvSpPr/>
          <p:nvPr/>
        </p:nvSpPr>
        <p:spPr>
          <a:xfrm>
            <a:off x="457200" y="2745211"/>
            <a:ext cx="11274552" cy="912106"/>
          </a:xfrm>
          <a:prstGeom prst="roundRect">
            <a:avLst/>
          </a:prstGeom>
          <a:solidFill>
            <a:srgbClr val="DDE4FE">
              <a:alpha val="90000"/>
            </a:srgbClr>
          </a:solidFill>
          <a:ln w="6350">
            <a:solidFill>
              <a:srgbClr val="DDE4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28016" tIns="164592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00" b="1">
                <a:solidFill>
                  <a:srgbClr val="1F2937"/>
                </a:solidFill>
                <a:latin typeface="Meiryo UI"/>
              </a:rPr>
              <a:t>OneLake is provisioned automatically with each Fabric tenant</a:t>
            </a:r>
          </a:p>
        </p:txBody>
      </p:sp>
      <p:sp>
        <p:nvSpPr>
          <p:cNvPr id="5" name="design_stripe_0"/>
          <p:cNvSpPr/>
          <p:nvPr/>
        </p:nvSpPr>
        <p:spPr>
          <a:xfrm>
            <a:off x="457200" y="2745211"/>
            <a:ext cx="73152" cy="912106"/>
          </a:xfrm>
          <a:prstGeom prst="rect">
            <a:avLst/>
          </a:prstGeom>
          <a:solidFill>
            <a:srgbClr val="DDE4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design_icon_Picture 5" descr="play-circle-24-regular_t_DDE4F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20856" y="2836651"/>
            <a:ext cx="219456" cy="219456"/>
          </a:xfrm>
          <a:prstGeom prst="rect">
            <a:avLst/>
          </a:prstGeom>
        </p:spPr>
      </p:pic>
      <p:sp>
        <p:nvSpPr>
          <p:cNvPr id="7" name="bullet_1"/>
          <p:cNvSpPr/>
          <p:nvPr/>
        </p:nvSpPr>
        <p:spPr>
          <a:xfrm>
            <a:off x="457200" y="3705472"/>
            <a:ext cx="11274552" cy="912106"/>
          </a:xfrm>
          <a:prstGeom prst="roundRect">
            <a:avLst/>
          </a:prstGeom>
          <a:solidFill>
            <a:srgbClr val="D3DAFD">
              <a:alpha val="90000"/>
            </a:srgbClr>
          </a:solidFill>
          <a:ln w="6350">
            <a:solidFill>
              <a:srgbClr val="D3DA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28016" tIns="164592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00" b="1">
                <a:solidFill>
                  <a:srgbClr val="1F2937"/>
                </a:solidFill>
                <a:latin typeface="Meiryo UI"/>
              </a:rPr>
              <a:t>Teams do not need a separate lake bootstrap phase to start using shared storage</a:t>
            </a:r>
          </a:p>
        </p:txBody>
      </p:sp>
      <p:sp>
        <p:nvSpPr>
          <p:cNvPr id="8" name="design_stripe_1"/>
          <p:cNvSpPr/>
          <p:nvPr/>
        </p:nvSpPr>
        <p:spPr>
          <a:xfrm>
            <a:off x="457200" y="3705472"/>
            <a:ext cx="73152" cy="912106"/>
          </a:xfrm>
          <a:prstGeom prst="rect">
            <a:avLst/>
          </a:prstGeom>
          <a:solidFill>
            <a:srgbClr val="D3DA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design_icon_Picture 8" descr="play-circle-24-regular_t_D3DAF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0856" y="3796912"/>
            <a:ext cx="219456" cy="219456"/>
          </a:xfrm>
          <a:prstGeom prst="rect">
            <a:avLst/>
          </a:prstGeom>
        </p:spPr>
      </p:pic>
      <p:sp>
        <p:nvSpPr>
          <p:cNvPr id="10" name="bullet_2"/>
          <p:cNvSpPr/>
          <p:nvPr/>
        </p:nvSpPr>
        <p:spPr>
          <a:xfrm>
            <a:off x="457200" y="4665733"/>
            <a:ext cx="11274552" cy="912106"/>
          </a:xfrm>
          <a:prstGeom prst="roundRect">
            <a:avLst/>
          </a:prstGeom>
          <a:solidFill>
            <a:srgbClr val="FFE4F6">
              <a:alpha val="90000"/>
            </a:srgbClr>
          </a:solidFill>
          <a:ln w="6350">
            <a:solidFill>
              <a:srgbClr val="FFE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28016" tIns="164592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00" b="1">
                <a:solidFill>
                  <a:srgbClr val="1F2937"/>
                </a:solidFill>
                <a:latin typeface="Meiryo UI"/>
              </a:rPr>
              <a:t>The default setup supports faster onboarding into 1 consistent operating model</a:t>
            </a:r>
          </a:p>
        </p:txBody>
      </p:sp>
      <p:sp>
        <p:nvSpPr>
          <p:cNvPr id="11" name="design_stripe_2"/>
          <p:cNvSpPr/>
          <p:nvPr/>
        </p:nvSpPr>
        <p:spPr>
          <a:xfrm>
            <a:off x="457200" y="4665733"/>
            <a:ext cx="73152" cy="912106"/>
          </a:xfrm>
          <a:prstGeom prst="rect">
            <a:avLst/>
          </a:prstGeom>
          <a:solidFill>
            <a:srgbClr val="FFE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design_icon_Picture 11" descr="play-circle-24-regular_t_FFE4F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20856" y="4757173"/>
            <a:ext cx="219456" cy="219456"/>
          </a:xfrm>
          <a:prstGeom prst="rect">
            <a:avLst/>
          </a:prstGeom>
        </p:spPr>
      </p:pic>
      <p:pic>
        <p:nvPicPr>
          <p:cNvPr id="13" name="icon_Picture 12" descr="play-circle-24-regular_t_DDE4F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85832" y="68580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85800" y="457200"/>
            <a:ext cx="8449056" cy="90425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937"/>
                </a:solidFill>
                <a:latin typeface="Meiryo UI"/>
              </a:rPr>
              <a:t>Shared compute turns multiple workloads into one managed operating model</a:t>
            </a:r>
          </a:p>
        </p:txBody>
      </p:sp>
      <p:sp>
        <p:nvSpPr>
          <p:cNvPr id="3" name="key_message"/>
          <p:cNvSpPr txBox="1"/>
          <p:nvPr/>
        </p:nvSpPr>
        <p:spPr>
          <a:xfrm>
            <a:off x="685800" y="1434602"/>
            <a:ext cx="8449056" cy="80266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32000"/>
              </a:lnSpc>
            </a:pPr>
            <a:r>
              <a:rPr sz="1550" b="0">
                <a:solidFill>
                  <a:srgbClr val="1F2937"/>
                </a:solidFill>
                <a:latin typeface="Meiryo UI"/>
              </a:rPr>
              <a:t>Fabric’s shared compute story reduces the burden of stitching together separate platforms because services are delivered as one SaaS environment.</a:t>
            </a:r>
          </a:p>
        </p:txBody>
      </p:sp>
      <p:sp>
        <p:nvSpPr>
          <p:cNvPr id="4" name="card_0"/>
          <p:cNvSpPr/>
          <p:nvPr/>
        </p:nvSpPr>
        <p:spPr>
          <a:xfrm>
            <a:off x="457200" y="2511582"/>
            <a:ext cx="5486400" cy="1581912"/>
          </a:xfrm>
          <a:prstGeom prst="roundRect">
            <a:avLst/>
          </a:prstGeom>
          <a:solidFill>
            <a:srgbClr val="EEF1FE">
              <a:alpha val="90000"/>
            </a:srgbClr>
          </a:solidFill>
          <a:ln w="6350">
            <a:solidFill>
              <a:srgbClr val="EEF1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530900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50" b="1">
                <a:solidFill>
                  <a:srgbClr val="1F2937"/>
                </a:solidFill>
                <a:latin typeface="Meiryo UI"/>
              </a:rPr>
              <a:t>The platform is positioned as 1 SaaS service rather than a stack of separately operated products</a:t>
            </a:r>
          </a:p>
        </p:txBody>
      </p:sp>
      <p:pic>
        <p:nvPicPr>
          <p:cNvPr id="5" name="design_icon_Picture 4" descr="server-24-regular_t_EEF1F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" y="2603022"/>
            <a:ext cx="348020" cy="348020"/>
          </a:xfrm>
          <a:prstGeom prst="rect">
            <a:avLst/>
          </a:prstGeom>
        </p:spPr>
      </p:pic>
      <p:sp>
        <p:nvSpPr>
          <p:cNvPr id="6" name="card_1"/>
          <p:cNvSpPr/>
          <p:nvPr/>
        </p:nvSpPr>
        <p:spPr>
          <a:xfrm>
            <a:off x="6236208" y="2511582"/>
            <a:ext cx="5486400" cy="1581912"/>
          </a:xfrm>
          <a:prstGeom prst="roundRect">
            <a:avLst/>
          </a:prstGeom>
          <a:solidFill>
            <a:srgbClr val="FFF7FC">
              <a:alpha val="90000"/>
            </a:srgbClr>
          </a:solidFill>
          <a:ln w="6350">
            <a:solidFill>
              <a:srgbClr val="FFF7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530900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50" b="1">
                <a:solidFill>
                  <a:srgbClr val="1F2937"/>
                </a:solidFill>
                <a:latin typeface="Meiryo UI"/>
              </a:rPr>
              <a:t>Shared services let teams move between experiences without re-architecting the estate each time</a:t>
            </a:r>
          </a:p>
        </p:txBody>
      </p:sp>
      <p:pic>
        <p:nvPicPr>
          <p:cNvPr id="7" name="design_icon_Picture 6" descr="server-24-regular_t_FFF7F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4224" y="2603022"/>
            <a:ext cx="348020" cy="348020"/>
          </a:xfrm>
          <a:prstGeom prst="rect">
            <a:avLst/>
          </a:prstGeom>
        </p:spPr>
      </p:pic>
      <p:sp>
        <p:nvSpPr>
          <p:cNvPr id="8" name="card_2"/>
          <p:cNvSpPr/>
          <p:nvPr/>
        </p:nvSpPr>
        <p:spPr>
          <a:xfrm>
            <a:off x="457200" y="4349526"/>
            <a:ext cx="5486400" cy="1581912"/>
          </a:xfrm>
          <a:prstGeom prst="roundRect">
            <a:avLst/>
          </a:prstGeom>
          <a:solidFill>
            <a:srgbClr val="EEF1FE">
              <a:alpha val="90000"/>
            </a:srgbClr>
          </a:solidFill>
          <a:ln w="6350">
            <a:solidFill>
              <a:srgbClr val="EEF1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530900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50" b="1">
                <a:solidFill>
                  <a:srgbClr val="1F2937"/>
                </a:solidFill>
                <a:latin typeface="Meiryo UI"/>
              </a:rPr>
              <a:t>The result is lower integration overhead than a fragmented multi-tool design</a:t>
            </a:r>
          </a:p>
        </p:txBody>
      </p:sp>
      <p:pic>
        <p:nvPicPr>
          <p:cNvPr id="9" name="design_icon_Picture 8" descr="server-24-regular_t_EEF1F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" y="4440966"/>
            <a:ext cx="348020" cy="348020"/>
          </a:xfrm>
          <a:prstGeom prst="rect">
            <a:avLst/>
          </a:prstGeom>
        </p:spPr>
      </p:pic>
      <p:pic>
        <p:nvPicPr>
          <p:cNvPr id="10" name="icon_Picture 9" descr="server-24-regular_t_D3DAF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85832" y="68580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85800" y="457200"/>
            <a:ext cx="8449056" cy="90425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937"/>
                </a:solidFill>
                <a:latin typeface="Meiryo UI"/>
              </a:rPr>
              <a:t>Mirroring creates zero-ETL style access to operational data inside OneLake</a:t>
            </a:r>
          </a:p>
        </p:txBody>
      </p:sp>
      <p:sp>
        <p:nvSpPr>
          <p:cNvPr id="3" name="key_message"/>
          <p:cNvSpPr txBox="1"/>
          <p:nvPr/>
        </p:nvSpPr>
        <p:spPr>
          <a:xfrm>
            <a:off x="685800" y="1526042"/>
            <a:ext cx="8449056" cy="58677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32000"/>
              </a:lnSpc>
            </a:pPr>
            <a:r>
              <a:rPr sz="1490" b="0">
                <a:solidFill>
                  <a:srgbClr val="1F2937"/>
                </a:solidFill>
                <a:latin typeface="Meiryo UI"/>
              </a:rPr>
              <a:t>Built-in mirroring strengthens Fabric’s platform claim because operational data can be exposed in OneLake without traditional full-copy ETL patterns.</a:t>
            </a:r>
          </a:p>
        </p:txBody>
      </p:sp>
      <p:sp>
        <p:nvSpPr>
          <p:cNvPr id="4" name="comparison_left"/>
          <p:cNvSpPr/>
          <p:nvPr/>
        </p:nvSpPr>
        <p:spPr>
          <a:xfrm>
            <a:off x="457200" y="2478572"/>
            <a:ext cx="5522976" cy="3099267"/>
          </a:xfrm>
          <a:prstGeom prst="roundRect">
            <a:avLst/>
          </a:prstGeom>
          <a:solidFill>
            <a:srgbClr val="FFE4F6">
              <a:alpha val="90000"/>
            </a:srgbClr>
          </a:solidFill>
          <a:ln w="6350">
            <a:solidFill>
              <a:srgbClr val="FFE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155448" bIns="91440">
            <a:normAutofit/>
          </a:bodyPr>
          <a:lstStyle/>
          <a:p>
            <a:pPr algn="l">
              <a:lnSpc>
                <a:spcPct val="120000"/>
              </a:lnSpc>
            </a:pPr>
            <a:r>
              <a:rPr sz="1550" b="1">
                <a:solidFill>
                  <a:srgbClr val="1F2937"/>
                </a:solidFill>
                <a:latin typeface="Meiryo UI"/>
              </a:rPr>
              <a:t>Before</a:t>
            </a:r>
          </a:p>
          <a:p>
            <a:pPr algn="l">
              <a:lnSpc>
                <a:spcPct val="120000"/>
              </a:lnSpc>
              <a:spcBef>
                <a:spcPts val="300"/>
              </a:spcBef>
            </a:pPr>
            <a:r>
              <a:rPr sz="1300" b="1">
                <a:solidFill>
                  <a:srgbClr val="1F2937"/>
                </a:solidFill>
                <a:latin typeface="Meiryo UI"/>
              </a:rPr>
              <a:t>• </a:t>
            </a:r>
            <a:r>
              <a:rPr sz="1300" b="0">
                <a:solidFill>
                  <a:srgbClr val="1F2937"/>
                </a:solidFill>
                <a:latin typeface="Meiryo UI"/>
              </a:rPr>
              <a:t>Fabric positions mirroring to OneLake as a zero-ETL path for operational data and AI analytics</a:t>
            </a:r>
          </a:p>
          <a:p>
            <a:pPr algn="l">
              <a:lnSpc>
                <a:spcPct val="120000"/>
              </a:lnSpc>
              <a:spcBef>
                <a:spcPts val="300"/>
              </a:spcBef>
            </a:pPr>
            <a:r>
              <a:rPr sz="1300" b="1">
                <a:solidFill>
                  <a:srgbClr val="1F2937"/>
                </a:solidFill>
                <a:latin typeface="Meiryo UI"/>
              </a:rPr>
              <a:t>• </a:t>
            </a:r>
            <a:r>
              <a:rPr sz="1300" b="0">
                <a:solidFill>
                  <a:srgbClr val="1F2937"/>
                </a:solidFill>
                <a:latin typeface="Meiryo UI"/>
              </a:rPr>
              <a:t>Mirroring reduces the need to rebuild ingestion logic just to make source data analytically visible</a:t>
            </a:r>
          </a:p>
        </p:txBody>
      </p:sp>
      <p:sp>
        <p:nvSpPr>
          <p:cNvPr id="5" name="comparison_right"/>
          <p:cNvSpPr/>
          <p:nvPr/>
        </p:nvSpPr>
        <p:spPr>
          <a:xfrm>
            <a:off x="6208776" y="2478572"/>
            <a:ext cx="5522976" cy="3099267"/>
          </a:xfrm>
          <a:prstGeom prst="roundRect">
            <a:avLst/>
          </a:prstGeom>
          <a:solidFill>
            <a:srgbClr val="FFF3FA">
              <a:alpha val="90000"/>
            </a:srgbClr>
          </a:solidFill>
          <a:ln w="6350">
            <a:solidFill>
              <a:srgbClr val="FFF3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155448" bIns="91440">
            <a:normAutofit/>
          </a:bodyPr>
          <a:lstStyle/>
          <a:p>
            <a:pPr algn="l">
              <a:lnSpc>
                <a:spcPct val="120000"/>
              </a:lnSpc>
            </a:pPr>
            <a:r>
              <a:rPr sz="1550" b="1">
                <a:solidFill>
                  <a:srgbClr val="1F2937"/>
                </a:solidFill>
                <a:latin typeface="Meiryo UI"/>
              </a:rPr>
              <a:t>After</a:t>
            </a:r>
          </a:p>
          <a:p>
            <a:pPr algn="l">
              <a:lnSpc>
                <a:spcPct val="120000"/>
              </a:lnSpc>
              <a:spcBef>
                <a:spcPts val="300"/>
              </a:spcBef>
            </a:pPr>
            <a:r>
              <a:rPr sz="1300" b="1">
                <a:solidFill>
                  <a:srgbClr val="1F2937"/>
                </a:solidFill>
                <a:latin typeface="Meiryo UI"/>
              </a:rPr>
              <a:t>• </a:t>
            </a:r>
            <a:r>
              <a:rPr sz="1300" b="0">
                <a:solidFill>
                  <a:srgbClr val="1F2937"/>
                </a:solidFill>
                <a:latin typeface="Meiryo UI"/>
              </a:rPr>
              <a:t>The pattern is especially valuable when teams want analytical reuse without a long migration project</a:t>
            </a:r>
          </a:p>
        </p:txBody>
      </p:sp>
      <p:pic>
        <p:nvPicPr>
          <p:cNvPr id="6" name="design_icon_Picture 5" descr="warning-24-regular_t_FFE4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0992" y="2570012"/>
            <a:ext cx="237744" cy="237744"/>
          </a:xfrm>
          <a:prstGeom prst="rect">
            <a:avLst/>
          </a:prstGeom>
        </p:spPr>
      </p:pic>
      <p:pic>
        <p:nvPicPr>
          <p:cNvPr id="7" name="design_icon_Picture 6" descr="checkmark-24-regular_t_FFF3F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2568" y="2570012"/>
            <a:ext cx="237744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85800" y="457200"/>
            <a:ext cx="8449056" cy="125986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937"/>
                </a:solidFill>
                <a:latin typeface="Meiryo UI"/>
              </a:rPr>
              <a:t>Mirrored Azure Databricks catalogs show Fabric can coexist with non-Microsoft data estates</a:t>
            </a:r>
          </a:p>
        </p:txBody>
      </p:sp>
      <p:sp>
        <p:nvSpPr>
          <p:cNvPr id="3" name="key_message"/>
          <p:cNvSpPr txBox="1"/>
          <p:nvPr/>
        </p:nvSpPr>
        <p:spPr>
          <a:xfrm>
            <a:off x="685800" y="1881652"/>
            <a:ext cx="8449056" cy="80266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32000"/>
              </a:lnSpc>
            </a:pPr>
            <a:r>
              <a:rPr sz="1550" b="0">
                <a:solidFill>
                  <a:srgbClr val="1F2937"/>
                </a:solidFill>
                <a:latin typeface="Meiryo UI"/>
              </a:rPr>
              <a:t>The June 2025 general availability of mirrored Azure Databricks catalogs shows Fabric is positioning itself as a unifying layer even in mixed-platform environments.</a:t>
            </a:r>
          </a:p>
        </p:txBody>
      </p:sp>
      <p:sp>
        <p:nvSpPr>
          <p:cNvPr id="4" name="bullet_0"/>
          <p:cNvSpPr/>
          <p:nvPr/>
        </p:nvSpPr>
        <p:spPr>
          <a:xfrm>
            <a:off x="457200" y="3050072"/>
            <a:ext cx="11274552" cy="813941"/>
          </a:xfrm>
          <a:prstGeom prst="roundRect">
            <a:avLst/>
          </a:prstGeom>
          <a:solidFill>
            <a:srgbClr val="FFF3FA">
              <a:alpha val="90000"/>
            </a:srgbClr>
          </a:solidFill>
          <a:ln w="6350">
            <a:solidFill>
              <a:srgbClr val="FFF3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28016" tIns="164592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00" b="1">
                <a:solidFill>
                  <a:srgbClr val="1F2937"/>
                </a:solidFill>
                <a:latin typeface="Meiryo UI"/>
              </a:rPr>
              <a:t>Mirrored Azure Databricks Unity Catalog support reached GA in June 2025</a:t>
            </a:r>
          </a:p>
        </p:txBody>
      </p:sp>
      <p:sp>
        <p:nvSpPr>
          <p:cNvPr id="5" name="design_stripe_0"/>
          <p:cNvSpPr/>
          <p:nvPr/>
        </p:nvSpPr>
        <p:spPr>
          <a:xfrm>
            <a:off x="457200" y="3050072"/>
            <a:ext cx="73152" cy="813941"/>
          </a:xfrm>
          <a:prstGeom prst="rect">
            <a:avLst/>
          </a:prstGeom>
          <a:solidFill>
            <a:srgbClr val="FF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design_icon_Picture 5" descr="checkmark-24-regular_t_FFF3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20856" y="3141512"/>
            <a:ext cx="219456" cy="219456"/>
          </a:xfrm>
          <a:prstGeom prst="rect">
            <a:avLst/>
          </a:prstGeom>
        </p:spPr>
      </p:pic>
      <p:sp>
        <p:nvSpPr>
          <p:cNvPr id="7" name="bullet_1"/>
          <p:cNvSpPr/>
          <p:nvPr/>
        </p:nvSpPr>
        <p:spPr>
          <a:xfrm>
            <a:off x="457200" y="3906985"/>
            <a:ext cx="11274552" cy="813941"/>
          </a:xfrm>
          <a:prstGeom prst="roundRect">
            <a:avLst/>
          </a:prstGeom>
          <a:solidFill>
            <a:srgbClr val="E4FEEF">
              <a:alpha val="90000"/>
            </a:srgbClr>
          </a:solidFill>
          <a:ln w="6350">
            <a:solidFill>
              <a:srgbClr val="E4FE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28016" tIns="164592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00" b="1">
                <a:solidFill>
                  <a:srgbClr val="1F2937"/>
                </a:solidFill>
                <a:latin typeface="Meiryo UI"/>
              </a:rPr>
              <a:t>Customers can read data managed by Unity Catalog from Fabric workloads</a:t>
            </a:r>
          </a:p>
        </p:txBody>
      </p:sp>
      <p:sp>
        <p:nvSpPr>
          <p:cNvPr id="8" name="design_stripe_1"/>
          <p:cNvSpPr/>
          <p:nvPr/>
        </p:nvSpPr>
        <p:spPr>
          <a:xfrm>
            <a:off x="457200" y="3906985"/>
            <a:ext cx="73152" cy="813941"/>
          </a:xfrm>
          <a:prstGeom prst="rect">
            <a:avLst/>
          </a:prstGeom>
          <a:solidFill>
            <a:srgbClr val="E4F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design_icon_Picture 8" descr="checkmark-24-regular_t_E4FEE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0856" y="3998425"/>
            <a:ext cx="219456" cy="219456"/>
          </a:xfrm>
          <a:prstGeom prst="rect">
            <a:avLst/>
          </a:prstGeom>
        </p:spPr>
      </p:pic>
      <p:sp>
        <p:nvSpPr>
          <p:cNvPr id="10" name="bullet_2"/>
          <p:cNvSpPr/>
          <p:nvPr/>
        </p:nvSpPr>
        <p:spPr>
          <a:xfrm>
            <a:off x="457200" y="4763898"/>
            <a:ext cx="11274552" cy="813941"/>
          </a:xfrm>
          <a:prstGeom prst="roundRect">
            <a:avLst/>
          </a:prstGeom>
          <a:solidFill>
            <a:srgbClr val="DCFEE9">
              <a:alpha val="90000"/>
            </a:srgbClr>
          </a:solidFill>
          <a:ln w="6350">
            <a:solidFill>
              <a:srgbClr val="DCF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28016" tIns="164592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00" b="1">
                <a:solidFill>
                  <a:srgbClr val="1F2937"/>
                </a:solidFill>
                <a:latin typeface="Meiryo UI"/>
              </a:rPr>
              <a:t>Storage accounts behind a firewall are also supported in the GA announcement</a:t>
            </a:r>
          </a:p>
        </p:txBody>
      </p:sp>
      <p:sp>
        <p:nvSpPr>
          <p:cNvPr id="11" name="design_stripe_2"/>
          <p:cNvSpPr/>
          <p:nvPr/>
        </p:nvSpPr>
        <p:spPr>
          <a:xfrm>
            <a:off x="457200" y="4763898"/>
            <a:ext cx="73152" cy="813941"/>
          </a:xfrm>
          <a:prstGeom prst="rect">
            <a:avLst/>
          </a:prstGeom>
          <a:solidFill>
            <a:srgbClr val="DCFE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design_icon_Picture 11" descr="checkmark-24-regular_t_DCFEE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20856" y="4855338"/>
            <a:ext cx="219456" cy="21945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85800" y="457200"/>
            <a:ext cx="8449056" cy="90425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937"/>
                </a:solidFill>
                <a:latin typeface="Meiryo UI"/>
              </a:rPr>
              <a:t>Warehouse snapshots add 30-day point-in-time access to analytical data</a:t>
            </a:r>
          </a:p>
        </p:txBody>
      </p:sp>
      <p:sp>
        <p:nvSpPr>
          <p:cNvPr id="3" name="key_message"/>
          <p:cNvSpPr txBox="1"/>
          <p:nvPr/>
        </p:nvSpPr>
        <p:spPr>
          <a:xfrm>
            <a:off x="685800" y="1526042"/>
            <a:ext cx="8449056" cy="58677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32000"/>
              </a:lnSpc>
            </a:pPr>
            <a:r>
              <a:rPr sz="1490" b="0">
                <a:solidFill>
                  <a:srgbClr val="1F2937"/>
                </a:solidFill>
                <a:latin typeface="Meiryo UI"/>
              </a:rPr>
              <a:t>Fabric strengthens the managed-platform story by giving warehouses point-in-time, read-only access across the prior 30 days.</a:t>
            </a:r>
          </a:p>
        </p:txBody>
      </p:sp>
      <p:sp>
        <p:nvSpPr>
          <p:cNvPr id="4" name="stat_0"/>
          <p:cNvSpPr/>
          <p:nvPr/>
        </p:nvSpPr>
        <p:spPr>
          <a:xfrm>
            <a:off x="457200" y="2478572"/>
            <a:ext cx="3538728" cy="2368296"/>
          </a:xfrm>
          <a:prstGeom prst="roundRect">
            <a:avLst/>
          </a:prstGeom>
          <a:solidFill>
            <a:srgbClr val="E4FEEF">
              <a:alpha val="90000"/>
            </a:srgbClr>
          </a:solidFill>
          <a:ln w="6350">
            <a:solidFill>
              <a:srgbClr val="E4FE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109728" bIns="91440">
            <a:normAutofit/>
          </a:bodyPr>
          <a:lstStyle/>
          <a:p>
            <a:pPr algn="ctr">
              <a:lnSpc>
                <a:spcPct val="122000"/>
              </a:lnSpc>
            </a:pPr>
            <a:r>
              <a:rPr sz="1800" b="1">
                <a:solidFill>
                  <a:srgbClr val="1F2937"/>
                </a:solidFill>
                <a:latin typeface="Meiryo UI"/>
              </a:rPr>
              <a:t>Warehouse snapshots can be created from any point in the past 30 days</a:t>
            </a:r>
          </a:p>
        </p:txBody>
      </p:sp>
      <p:sp>
        <p:nvSpPr>
          <p:cNvPr id="5" name="stat_1"/>
          <p:cNvSpPr/>
          <p:nvPr/>
        </p:nvSpPr>
        <p:spPr>
          <a:xfrm>
            <a:off x="4315968" y="2478572"/>
            <a:ext cx="3538728" cy="2368296"/>
          </a:xfrm>
          <a:prstGeom prst="roundRect">
            <a:avLst/>
          </a:prstGeom>
          <a:solidFill>
            <a:srgbClr val="DCFEE9">
              <a:alpha val="90000"/>
            </a:srgbClr>
          </a:solidFill>
          <a:ln w="6350">
            <a:solidFill>
              <a:srgbClr val="DCF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109728" bIns="91440">
            <a:normAutofit/>
          </a:bodyPr>
          <a:lstStyle/>
          <a:p>
            <a:pPr algn="ctr">
              <a:lnSpc>
                <a:spcPct val="122000"/>
              </a:lnSpc>
            </a:pPr>
            <a:r>
              <a:rPr sz="1800" b="1">
                <a:solidFill>
                  <a:srgbClr val="1F2937"/>
                </a:solidFill>
                <a:latin typeface="Meiryo UI"/>
              </a:rPr>
              <a:t>Snapshots are read-only and can be queried like a warehouse</a:t>
            </a:r>
          </a:p>
        </p:txBody>
      </p:sp>
      <p:sp>
        <p:nvSpPr>
          <p:cNvPr id="6" name="stat_2"/>
          <p:cNvSpPr/>
          <p:nvPr/>
        </p:nvSpPr>
        <p:spPr>
          <a:xfrm>
            <a:off x="8174736" y="2478572"/>
            <a:ext cx="3538728" cy="2368296"/>
          </a:xfrm>
          <a:prstGeom prst="roundRect">
            <a:avLst/>
          </a:prstGeom>
          <a:solidFill>
            <a:srgbClr val="DDE4FE">
              <a:alpha val="90000"/>
            </a:srgbClr>
          </a:solidFill>
          <a:ln w="6350">
            <a:solidFill>
              <a:srgbClr val="DDE4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109728" bIns="91440">
            <a:normAutofit/>
          </a:bodyPr>
          <a:lstStyle/>
          <a:p>
            <a:pPr algn="ctr">
              <a:lnSpc>
                <a:spcPct val="122000"/>
              </a:lnSpc>
            </a:pPr>
            <a:r>
              <a:rPr sz="1800" b="1">
                <a:solidFill>
                  <a:srgbClr val="1F2937"/>
                </a:solidFill>
                <a:latin typeface="Meiryo UI"/>
              </a:rPr>
              <a:t>The feature supports rollback, investigation, and safer analytical operations</a:t>
            </a:r>
          </a:p>
        </p:txBody>
      </p:sp>
      <p:pic>
        <p:nvPicPr>
          <p:cNvPr id="7" name="icon_Picture 6" descr="camera-24-regular_t_E4FE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85832" y="68580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85800" y="457200"/>
            <a:ext cx="8449056" cy="125986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937"/>
                </a:solidFill>
                <a:latin typeface="Meiryo UI"/>
              </a:rPr>
              <a:t>A SaaS home-and-workspace model makes the technical foundation approachable for business teams</a:t>
            </a:r>
          </a:p>
        </p:txBody>
      </p:sp>
      <p:sp>
        <p:nvSpPr>
          <p:cNvPr id="3" name="key_message"/>
          <p:cNvSpPr txBox="1"/>
          <p:nvPr/>
        </p:nvSpPr>
        <p:spPr>
          <a:xfrm>
            <a:off x="685800" y="1790212"/>
            <a:ext cx="8449056" cy="58677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32000"/>
              </a:lnSpc>
            </a:pPr>
            <a:r>
              <a:rPr sz="1490" b="0">
                <a:solidFill>
                  <a:srgbClr val="1F2937"/>
                </a:solidFill>
                <a:latin typeface="Meiryo UI"/>
              </a:rPr>
              <a:t>Fabric’s architecture is easier to adopt because users encounter it through workspaces and recent items rather than raw infrastructure primitives.</a:t>
            </a:r>
          </a:p>
        </p:txBody>
      </p:sp>
      <p:sp>
        <p:nvSpPr>
          <p:cNvPr id="4" name="card_0"/>
          <p:cNvSpPr/>
          <p:nvPr/>
        </p:nvSpPr>
        <p:spPr>
          <a:xfrm>
            <a:off x="457200" y="2651302"/>
            <a:ext cx="5486400" cy="1581912"/>
          </a:xfrm>
          <a:prstGeom prst="roundRect">
            <a:avLst/>
          </a:prstGeom>
          <a:solidFill>
            <a:srgbClr val="F2FFF7">
              <a:alpha val="90000"/>
            </a:srgbClr>
          </a:solidFill>
          <a:ln w="6350">
            <a:solidFill>
              <a:srgbClr val="F2FF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530900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50" b="1">
                <a:solidFill>
                  <a:srgbClr val="1F2937"/>
                </a:solidFill>
                <a:latin typeface="Meiryo UI"/>
              </a:rPr>
              <a:t>Home surfaces recent workspaces, recent items, and favorites inside the SaaS experience</a:t>
            </a:r>
          </a:p>
        </p:txBody>
      </p:sp>
      <p:pic>
        <p:nvPicPr>
          <p:cNvPr id="5" name="design_icon_Picture 4" descr="layout-dynamic-24-regular_t_F2FFF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" y="2742742"/>
            <a:ext cx="348020" cy="348020"/>
          </a:xfrm>
          <a:prstGeom prst="rect">
            <a:avLst/>
          </a:prstGeom>
        </p:spPr>
      </p:pic>
      <p:sp>
        <p:nvSpPr>
          <p:cNvPr id="6" name="card_1"/>
          <p:cNvSpPr/>
          <p:nvPr/>
        </p:nvSpPr>
        <p:spPr>
          <a:xfrm>
            <a:off x="6236208" y="2651302"/>
            <a:ext cx="5486400" cy="1581912"/>
          </a:xfrm>
          <a:prstGeom prst="roundRect">
            <a:avLst/>
          </a:prstGeom>
          <a:solidFill>
            <a:srgbClr val="F5F7FF">
              <a:alpha val="90000"/>
            </a:srgbClr>
          </a:solidFill>
          <a:ln w="6350">
            <a:solidFill>
              <a:srgbClr val="F5F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530900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50" b="1">
                <a:solidFill>
                  <a:srgbClr val="1F2937"/>
                </a:solidFill>
                <a:latin typeface="Meiryo UI"/>
              </a:rPr>
              <a:t>Workspaces act as collaborative containers instead of forcing teams to manage infrastructure directly</a:t>
            </a:r>
          </a:p>
        </p:txBody>
      </p:sp>
      <p:pic>
        <p:nvPicPr>
          <p:cNvPr id="7" name="design_icon_Picture 6" descr="layout-dynamic-24-regular_t_F5F7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4224" y="2742742"/>
            <a:ext cx="348020" cy="348020"/>
          </a:xfrm>
          <a:prstGeom prst="rect">
            <a:avLst/>
          </a:prstGeom>
        </p:spPr>
      </p:pic>
      <p:sp>
        <p:nvSpPr>
          <p:cNvPr id="8" name="card_2"/>
          <p:cNvSpPr/>
          <p:nvPr/>
        </p:nvSpPr>
        <p:spPr>
          <a:xfrm>
            <a:off x="457200" y="4489246"/>
            <a:ext cx="5486400" cy="1581912"/>
          </a:xfrm>
          <a:prstGeom prst="roundRect">
            <a:avLst/>
          </a:prstGeom>
          <a:solidFill>
            <a:srgbClr val="F2FFF7">
              <a:alpha val="90000"/>
            </a:srgbClr>
          </a:solidFill>
          <a:ln w="6350">
            <a:solidFill>
              <a:srgbClr val="F2FF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530900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50" b="1">
                <a:solidFill>
                  <a:srgbClr val="1F2937"/>
                </a:solidFill>
                <a:latin typeface="Meiryo UI"/>
              </a:rPr>
              <a:t>The platform only lists supported content a user can access under their license or subscription</a:t>
            </a:r>
          </a:p>
        </p:txBody>
      </p:sp>
      <p:pic>
        <p:nvPicPr>
          <p:cNvPr id="9" name="design_icon_Picture 8" descr="layout-dynamic-24-regular_t_F2FFF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" y="4580686"/>
            <a:ext cx="348020" cy="348020"/>
          </a:xfrm>
          <a:prstGeom prst="rect">
            <a:avLst/>
          </a:prstGeom>
        </p:spPr>
      </p:pic>
      <p:pic>
        <p:nvPicPr>
          <p:cNvPr id="10" name="icon_Picture 9" descr="layout-dynamic-24-regular_t_DCFEE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85832" y="68580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85800" y="457200"/>
            <a:ext cx="8449056" cy="90425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937"/>
                </a:solidFill>
                <a:latin typeface="Meiryo UI"/>
              </a:rPr>
              <a:t>The platform core matters because reuse is built into storage, compute, and tenancy</a:t>
            </a:r>
          </a:p>
        </p:txBody>
      </p:sp>
      <p:sp>
        <p:nvSpPr>
          <p:cNvPr id="3" name="key_message"/>
          <p:cNvSpPr txBox="1"/>
          <p:nvPr/>
        </p:nvSpPr>
        <p:spPr>
          <a:xfrm>
            <a:off x="685800" y="1526042"/>
            <a:ext cx="8449056" cy="58677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32000"/>
              </a:lnSpc>
            </a:pPr>
            <a:r>
              <a:rPr sz="1490" b="0">
                <a:solidFill>
                  <a:srgbClr val="1F2937"/>
                </a:solidFill>
                <a:latin typeface="Meiryo UI"/>
              </a:rPr>
              <a:t>Fabric’s foundation is attractive because it embeds reuse into the platform itself rather than asking each team to engineer reuse separately.</a:t>
            </a:r>
          </a:p>
        </p:txBody>
      </p:sp>
      <p:sp>
        <p:nvSpPr>
          <p:cNvPr id="4" name="summary_0"/>
          <p:cNvSpPr/>
          <p:nvPr/>
        </p:nvSpPr>
        <p:spPr>
          <a:xfrm>
            <a:off x="457200" y="3511844"/>
            <a:ext cx="5567324" cy="1015436"/>
          </a:xfrm>
          <a:prstGeom prst="roundRect">
            <a:avLst/>
          </a:prstGeom>
          <a:solidFill>
            <a:srgbClr val="DDE4FE">
              <a:alpha val="90000"/>
            </a:srgbClr>
          </a:solidFill>
          <a:ln w="6350">
            <a:solidFill>
              <a:srgbClr val="DDE4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155448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00" b="1">
                <a:solidFill>
                  <a:srgbClr val="1F2937"/>
                </a:solidFill>
                <a:latin typeface="Meiryo UI"/>
              </a:rPr>
              <a:t>OneLake standardizes shared storage across the environment</a:t>
            </a:r>
          </a:p>
        </p:txBody>
      </p:sp>
      <p:pic>
        <p:nvPicPr>
          <p:cNvPr id="5" name="design_icon_Picture 4" descr="task-list-24-regular_t_DDE4F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8492" y="3603284"/>
            <a:ext cx="164592" cy="164592"/>
          </a:xfrm>
          <a:prstGeom prst="rect">
            <a:avLst/>
          </a:prstGeom>
        </p:spPr>
      </p:pic>
      <p:sp>
        <p:nvSpPr>
          <p:cNvPr id="6" name="summary_1"/>
          <p:cNvSpPr/>
          <p:nvPr/>
        </p:nvSpPr>
        <p:spPr>
          <a:xfrm>
            <a:off x="6164427" y="3511844"/>
            <a:ext cx="5567324" cy="1015436"/>
          </a:xfrm>
          <a:prstGeom prst="roundRect">
            <a:avLst/>
          </a:prstGeom>
          <a:solidFill>
            <a:srgbClr val="D3DAFD">
              <a:alpha val="90000"/>
            </a:srgbClr>
          </a:solidFill>
          <a:ln w="6350">
            <a:solidFill>
              <a:srgbClr val="D3DA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155448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00" b="1">
                <a:solidFill>
                  <a:srgbClr val="1F2937"/>
                </a:solidFill>
                <a:latin typeface="Meiryo UI"/>
              </a:rPr>
              <a:t>Shared SaaS services reduce the number of integrations teams must own</a:t>
            </a:r>
          </a:p>
        </p:txBody>
      </p:sp>
      <p:pic>
        <p:nvPicPr>
          <p:cNvPr id="7" name="design_icon_Picture 6" descr="task-list-24-regular_t_D3DAF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5719" y="3603284"/>
            <a:ext cx="164592" cy="164592"/>
          </a:xfrm>
          <a:prstGeom prst="rect">
            <a:avLst/>
          </a:prstGeom>
        </p:spPr>
      </p:pic>
      <p:sp>
        <p:nvSpPr>
          <p:cNvPr id="8" name="summary_2"/>
          <p:cNvSpPr/>
          <p:nvPr/>
        </p:nvSpPr>
        <p:spPr>
          <a:xfrm>
            <a:off x="457200" y="4562403"/>
            <a:ext cx="5567324" cy="1015436"/>
          </a:xfrm>
          <a:prstGeom prst="roundRect">
            <a:avLst/>
          </a:prstGeom>
          <a:solidFill>
            <a:srgbClr val="FFE4F6">
              <a:alpha val="90000"/>
            </a:srgbClr>
          </a:solidFill>
          <a:ln w="6350">
            <a:solidFill>
              <a:srgbClr val="FFE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155448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00" b="1">
                <a:solidFill>
                  <a:srgbClr val="1F2937"/>
                </a:solidFill>
                <a:latin typeface="Meiryo UI"/>
              </a:rPr>
              <a:t>Features such as mirroring and snapshots make the common foundation operationally useful</a:t>
            </a:r>
          </a:p>
        </p:txBody>
      </p:sp>
      <p:pic>
        <p:nvPicPr>
          <p:cNvPr id="9" name="design_icon_Picture 8" descr="task-list-24-regular_t_FFE4F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8492" y="4653843"/>
            <a:ext cx="164592" cy="164592"/>
          </a:xfrm>
          <a:prstGeom prst="rect">
            <a:avLst/>
          </a:prstGeom>
        </p:spPr>
      </p:pic>
      <p:pic>
        <p:nvPicPr>
          <p:cNvPr id="10" name="icon_Picture 9" descr="database-24-regular_t_DDE4F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85832" y="68580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1033271" y="2078705"/>
            <a:ext cx="8193024" cy="160276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12000"/>
              </a:lnSpc>
            </a:pPr>
            <a:r>
              <a:rPr sz="3300" b="1">
                <a:solidFill>
                  <a:srgbClr val="1F2937"/>
                </a:solidFill>
                <a:latin typeface="Meiryo UI"/>
              </a:rPr>
              <a:t>Integrated user experiences cover the analytics journey without constant tool switching</a:t>
            </a:r>
          </a:p>
        </p:txBody>
      </p:sp>
      <p:sp>
        <p:nvSpPr>
          <p:cNvPr id="3" name="key_message"/>
          <p:cNvSpPr txBox="1"/>
          <p:nvPr/>
        </p:nvSpPr>
        <p:spPr>
          <a:xfrm>
            <a:off x="1033271" y="4178259"/>
            <a:ext cx="8193024" cy="139958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32000"/>
              </a:lnSpc>
            </a:pPr>
            <a:r>
              <a:rPr sz="1800" b="0">
                <a:solidFill>
                  <a:srgbClr val="1F2937"/>
                </a:solidFill>
                <a:latin typeface="Meiryo UI"/>
              </a:rPr>
              <a:t>Fabric’s product breadth matters because the platform spans the major analytics journey inside one environment instead of requiring frequent product handoffs.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85800" y="457200"/>
            <a:ext cx="8714232" cy="90425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937"/>
                </a:solidFill>
                <a:latin typeface="Meiryo UI"/>
              </a:rPr>
              <a:t>Six lifecycle stages map naturally to six integrated product experiences</a:t>
            </a:r>
          </a:p>
        </p:txBody>
      </p:sp>
      <p:sp>
        <p:nvSpPr>
          <p:cNvPr id="3" name="key_message"/>
          <p:cNvSpPr txBox="1"/>
          <p:nvPr/>
        </p:nvSpPr>
        <p:spPr>
          <a:xfrm>
            <a:off x="685800" y="1526042"/>
            <a:ext cx="8714232" cy="58677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32000"/>
              </a:lnSpc>
            </a:pPr>
            <a:r>
              <a:rPr sz="1490" b="0">
                <a:solidFill>
                  <a:srgbClr val="1F2937"/>
                </a:solidFill>
                <a:latin typeface="Meiryo UI"/>
              </a:rPr>
              <a:t>Fabric’s workload story is clearer when the audience sees lifecycle coverage and product coverage as two views of the same platform.</a:t>
            </a:r>
          </a:p>
        </p:txBody>
      </p:sp>
      <p:sp>
        <p:nvSpPr>
          <p:cNvPr id="4" name="body_0"/>
          <p:cNvSpPr/>
          <p:nvPr/>
        </p:nvSpPr>
        <p:spPr>
          <a:xfrm>
            <a:off x="457200" y="2478572"/>
            <a:ext cx="7882127" cy="997964"/>
          </a:xfrm>
          <a:prstGeom prst="roundRect">
            <a:avLst/>
          </a:prstGeom>
          <a:solidFill>
            <a:srgbClr val="FFE4F6">
              <a:alpha val="90000"/>
            </a:srgbClr>
          </a:solidFill>
          <a:ln w="6350">
            <a:solidFill>
              <a:srgbClr val="FFE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28016" tIns="109728" bIns="91440">
            <a:normAutofit/>
          </a:bodyPr>
          <a:lstStyle/>
          <a:p>
            <a:pPr algn="l">
              <a:lnSpc>
                <a:spcPct val="118000"/>
              </a:lnSpc>
            </a:pPr>
            <a:r>
              <a:rPr sz="1320" b="1">
                <a:solidFill>
                  <a:srgbClr val="1F2937"/>
                </a:solidFill>
                <a:latin typeface="Meiryo UI"/>
              </a:rPr>
              <a:t>Lifecycle view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150" b="0">
                <a:solidFill>
                  <a:srgbClr val="1F2937"/>
                </a:solidFill>
                <a:latin typeface="Meiryo UI"/>
              </a:rPr>
              <a:t>get data, store data, prepare and transform data, then continue through analysis and consumption</a:t>
            </a:r>
          </a:p>
        </p:txBody>
      </p:sp>
      <p:sp>
        <p:nvSpPr>
          <p:cNvPr id="5" name="design_stripe_0"/>
          <p:cNvSpPr/>
          <p:nvPr/>
        </p:nvSpPr>
        <p:spPr>
          <a:xfrm>
            <a:off x="457200" y="2478572"/>
            <a:ext cx="73152" cy="997964"/>
          </a:xfrm>
          <a:prstGeom prst="rect">
            <a:avLst/>
          </a:prstGeom>
          <a:solidFill>
            <a:srgbClr val="FFE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dy_1"/>
          <p:cNvSpPr/>
          <p:nvPr/>
        </p:nvSpPr>
        <p:spPr>
          <a:xfrm>
            <a:off x="457200" y="3529224"/>
            <a:ext cx="7882127" cy="997964"/>
          </a:xfrm>
          <a:prstGeom prst="roundRect">
            <a:avLst/>
          </a:prstGeom>
          <a:solidFill>
            <a:srgbClr val="FFF3FA">
              <a:alpha val="90000"/>
            </a:srgbClr>
          </a:solidFill>
          <a:ln w="6350">
            <a:solidFill>
              <a:srgbClr val="FFF3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28016" tIns="109728" bIns="91440">
            <a:normAutofit/>
          </a:bodyPr>
          <a:lstStyle/>
          <a:p>
            <a:pPr algn="l">
              <a:lnSpc>
                <a:spcPct val="118000"/>
              </a:lnSpc>
            </a:pPr>
            <a:r>
              <a:rPr sz="1320" b="1">
                <a:solidFill>
                  <a:srgbClr val="1F2937"/>
                </a:solidFill>
                <a:latin typeface="Meiryo UI"/>
              </a:rPr>
              <a:t>Product view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150" b="0">
                <a:solidFill>
                  <a:srgbClr val="1F2937"/>
                </a:solidFill>
                <a:latin typeface="Meiryo UI"/>
              </a:rPr>
              <a:t>Data Engineering, Data Factory, Data Science, Real-Time Intelligence, Data Warehouse, and Databases</a:t>
            </a:r>
          </a:p>
        </p:txBody>
      </p:sp>
      <p:sp>
        <p:nvSpPr>
          <p:cNvPr id="7" name="design_stripe_1"/>
          <p:cNvSpPr/>
          <p:nvPr/>
        </p:nvSpPr>
        <p:spPr>
          <a:xfrm>
            <a:off x="457200" y="3529224"/>
            <a:ext cx="73152" cy="997964"/>
          </a:xfrm>
          <a:prstGeom prst="rect">
            <a:avLst/>
          </a:prstGeom>
          <a:solidFill>
            <a:srgbClr val="FF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body_2"/>
          <p:cNvSpPr/>
          <p:nvPr/>
        </p:nvSpPr>
        <p:spPr>
          <a:xfrm>
            <a:off x="457200" y="4579875"/>
            <a:ext cx="7882127" cy="997964"/>
          </a:xfrm>
          <a:prstGeom prst="roundRect">
            <a:avLst/>
          </a:prstGeom>
          <a:solidFill>
            <a:srgbClr val="E4FEEF">
              <a:alpha val="90000"/>
            </a:srgbClr>
          </a:solidFill>
          <a:ln w="6350">
            <a:solidFill>
              <a:srgbClr val="E4FE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28016" tIns="109728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00" b="1">
                <a:solidFill>
                  <a:srgbClr val="1F2937"/>
                </a:solidFill>
                <a:latin typeface="Meiryo UI"/>
              </a:rPr>
              <a:t>The common foundation lets these two views connect without extra storage boundaries</a:t>
            </a:r>
          </a:p>
        </p:txBody>
      </p:sp>
      <p:sp>
        <p:nvSpPr>
          <p:cNvPr id="9" name="design_stripe_2"/>
          <p:cNvSpPr/>
          <p:nvPr/>
        </p:nvSpPr>
        <p:spPr>
          <a:xfrm>
            <a:off x="457200" y="4579875"/>
            <a:ext cx="73152" cy="997964"/>
          </a:xfrm>
          <a:prstGeom prst="rect">
            <a:avLst/>
          </a:prstGeom>
          <a:solidFill>
            <a:srgbClr val="E4F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icon_Picture 9" descr="branch-24-regular_t_FFE4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22992" y="54864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85800" y="457200"/>
            <a:ext cx="8449056" cy="90425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937"/>
                </a:solidFill>
                <a:latin typeface="Meiryo UI"/>
              </a:rPr>
              <a:t>Data Factory broadens ingestion by connecting Fabric to hundreds of sources</a:t>
            </a:r>
          </a:p>
        </p:txBody>
      </p:sp>
      <p:sp>
        <p:nvSpPr>
          <p:cNvPr id="3" name="key_message"/>
          <p:cNvSpPr txBox="1"/>
          <p:nvPr/>
        </p:nvSpPr>
        <p:spPr>
          <a:xfrm>
            <a:off x="685800" y="1434602"/>
            <a:ext cx="8449056" cy="853409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32000"/>
              </a:lnSpc>
            </a:pPr>
            <a:r>
              <a:rPr sz="1550" b="0">
                <a:solidFill>
                  <a:srgbClr val="1F2937"/>
                </a:solidFill>
                <a:latin typeface="Meiryo UI"/>
              </a:rPr>
              <a:t>Fabric addresses the front door of analytics breadth by supporting source connectivity at large scale rather than assuming data already lives inside the platform.</a:t>
            </a:r>
          </a:p>
        </p:txBody>
      </p:sp>
      <p:sp>
        <p:nvSpPr>
          <p:cNvPr id="4" name="card_0"/>
          <p:cNvSpPr/>
          <p:nvPr/>
        </p:nvSpPr>
        <p:spPr>
          <a:xfrm>
            <a:off x="457200" y="2562331"/>
            <a:ext cx="5486400" cy="1536192"/>
          </a:xfrm>
          <a:prstGeom prst="roundRect">
            <a:avLst/>
          </a:prstGeom>
          <a:solidFill>
            <a:srgbClr val="FFFAFD">
              <a:alpha val="90000"/>
            </a:srgbClr>
          </a:solidFill>
          <a:ln w="6350">
            <a:solidFill>
              <a:srgbClr val="FFFA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520842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50" b="1">
                <a:solidFill>
                  <a:srgbClr val="1F2937"/>
                </a:solidFill>
                <a:latin typeface="Meiryo UI"/>
              </a:rPr>
              <a:t>The source describes bringing data into OneLake from hundreds of sources</a:t>
            </a:r>
          </a:p>
        </p:txBody>
      </p:sp>
      <p:pic>
        <p:nvPicPr>
          <p:cNvPr id="5" name="design_icon_Picture 4" descr="database-24-regular_t_FFFA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" y="2653771"/>
            <a:ext cx="337962" cy="337962"/>
          </a:xfrm>
          <a:prstGeom prst="rect">
            <a:avLst/>
          </a:prstGeom>
        </p:spPr>
      </p:pic>
      <p:sp>
        <p:nvSpPr>
          <p:cNvPr id="6" name="card_1"/>
          <p:cNvSpPr/>
          <p:nvPr/>
        </p:nvSpPr>
        <p:spPr>
          <a:xfrm>
            <a:off x="6236208" y="2562331"/>
            <a:ext cx="5486400" cy="1536192"/>
          </a:xfrm>
          <a:prstGeom prst="roundRect">
            <a:avLst/>
          </a:prstGeom>
          <a:solidFill>
            <a:srgbClr val="F7FFFA">
              <a:alpha val="90000"/>
            </a:srgbClr>
          </a:solidFill>
          <a:ln w="6350">
            <a:solidFill>
              <a:srgbClr val="F7FF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520842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50" b="1">
                <a:solidFill>
                  <a:srgbClr val="1F2937"/>
                </a:solidFill>
                <a:latin typeface="Meiryo UI"/>
              </a:rPr>
              <a:t>This addresses one of the biggest adoption barriers for unified analytics platforms</a:t>
            </a:r>
          </a:p>
        </p:txBody>
      </p:sp>
      <p:pic>
        <p:nvPicPr>
          <p:cNvPr id="7" name="design_icon_Picture 6" descr="database-24-regular_t_F7FFF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4224" y="2653771"/>
            <a:ext cx="337962" cy="337962"/>
          </a:xfrm>
          <a:prstGeom prst="rect">
            <a:avLst/>
          </a:prstGeom>
        </p:spPr>
      </p:pic>
      <p:sp>
        <p:nvSpPr>
          <p:cNvPr id="8" name="card_2"/>
          <p:cNvSpPr/>
          <p:nvPr/>
        </p:nvSpPr>
        <p:spPr>
          <a:xfrm>
            <a:off x="457200" y="4354555"/>
            <a:ext cx="5486400" cy="1536192"/>
          </a:xfrm>
          <a:prstGeom prst="roundRect">
            <a:avLst/>
          </a:prstGeom>
          <a:solidFill>
            <a:srgbClr val="FFFAFD">
              <a:alpha val="90000"/>
            </a:srgbClr>
          </a:solidFill>
          <a:ln w="6350">
            <a:solidFill>
              <a:srgbClr val="FFFA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520842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50" b="1">
                <a:solidFill>
                  <a:srgbClr val="1F2937"/>
                </a:solidFill>
                <a:latin typeface="Meiryo UI"/>
              </a:rPr>
              <a:t>Strong ingestion breadth matters because no platform is unified if source onboarding is narrow</a:t>
            </a:r>
          </a:p>
        </p:txBody>
      </p:sp>
      <p:pic>
        <p:nvPicPr>
          <p:cNvPr id="9" name="design_icon_Picture 8" descr="database-24-regular_t_FFFA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" y="4445995"/>
            <a:ext cx="337962" cy="337962"/>
          </a:xfrm>
          <a:prstGeom prst="rect">
            <a:avLst/>
          </a:prstGeom>
        </p:spPr>
      </p:pic>
      <p:pic>
        <p:nvPicPr>
          <p:cNvPr id="10" name="icon_Picture 9" descr="database-24-regular_t_FFF3F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85832" y="68580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85800" y="457200"/>
            <a:ext cx="8449056" cy="1336029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937"/>
                </a:solidFill>
                <a:latin typeface="Meiryo UI"/>
              </a:rPr>
              <a:t>Real-time, scheduled, replicated, and in-place access cover four distinct intake patterns</a:t>
            </a:r>
          </a:p>
        </p:txBody>
      </p:sp>
      <p:sp>
        <p:nvSpPr>
          <p:cNvPr id="3" name="key_message"/>
          <p:cNvSpPr txBox="1"/>
          <p:nvPr/>
        </p:nvSpPr>
        <p:spPr>
          <a:xfrm>
            <a:off x="685800" y="1957821"/>
            <a:ext cx="8449056" cy="58677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32000"/>
              </a:lnSpc>
            </a:pPr>
            <a:r>
              <a:rPr sz="1490" b="0">
                <a:solidFill>
                  <a:srgbClr val="1F2937"/>
                </a:solidFill>
                <a:latin typeface="Meiryo UI"/>
              </a:rPr>
              <a:t>Fabric’s ingestion model is stronger because it supports 4 materially different ways of getting data into or through the platform.</a:t>
            </a:r>
          </a:p>
        </p:txBody>
      </p:sp>
      <p:sp>
        <p:nvSpPr>
          <p:cNvPr id="4" name="comparison_left"/>
          <p:cNvSpPr/>
          <p:nvPr/>
        </p:nvSpPr>
        <p:spPr>
          <a:xfrm>
            <a:off x="457200" y="2910352"/>
            <a:ext cx="5522976" cy="2667487"/>
          </a:xfrm>
          <a:prstGeom prst="roundRect">
            <a:avLst/>
          </a:prstGeom>
          <a:solidFill>
            <a:srgbClr val="E4FEEF">
              <a:alpha val="90000"/>
            </a:srgbClr>
          </a:solidFill>
          <a:ln w="6350">
            <a:solidFill>
              <a:srgbClr val="E4FE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155448" bIns="91440">
            <a:normAutofit/>
          </a:bodyPr>
          <a:lstStyle/>
          <a:p>
            <a:pPr algn="l">
              <a:lnSpc>
                <a:spcPct val="120000"/>
              </a:lnSpc>
            </a:pPr>
            <a:r>
              <a:rPr sz="1550" b="1">
                <a:solidFill>
                  <a:srgbClr val="1F2937"/>
                </a:solidFill>
                <a:latin typeface="Meiryo UI"/>
              </a:rPr>
              <a:t>Before</a:t>
            </a:r>
          </a:p>
          <a:p>
            <a:pPr algn="l">
              <a:lnSpc>
                <a:spcPct val="120000"/>
              </a:lnSpc>
              <a:spcBef>
                <a:spcPts val="300"/>
              </a:spcBef>
            </a:pPr>
            <a:r>
              <a:rPr sz="1300" b="1">
                <a:solidFill>
                  <a:srgbClr val="1F2937"/>
                </a:solidFill>
                <a:latin typeface="Meiryo UI"/>
              </a:rPr>
              <a:t>• </a:t>
            </a:r>
            <a:r>
              <a:rPr sz="1300" b="0">
                <a:solidFill>
                  <a:srgbClr val="1F2937"/>
                </a:solidFill>
                <a:latin typeface="Meiryo UI"/>
              </a:rPr>
              <a:t>Data can arrive in real time for streaming or event-driven workloads</a:t>
            </a:r>
          </a:p>
          <a:p>
            <a:pPr algn="l">
              <a:lnSpc>
                <a:spcPct val="120000"/>
              </a:lnSpc>
              <a:spcBef>
                <a:spcPts val="300"/>
              </a:spcBef>
            </a:pPr>
            <a:r>
              <a:rPr sz="1300" b="1">
                <a:solidFill>
                  <a:srgbClr val="1F2937"/>
                </a:solidFill>
                <a:latin typeface="Meiryo UI"/>
              </a:rPr>
              <a:t>• </a:t>
            </a:r>
            <a:r>
              <a:rPr sz="1300" b="0">
                <a:solidFill>
                  <a:srgbClr val="1F2937"/>
                </a:solidFill>
                <a:latin typeface="Meiryo UI"/>
              </a:rPr>
              <a:t>It can also arrive on a schedule for recurring refresh patterns</a:t>
            </a:r>
          </a:p>
        </p:txBody>
      </p:sp>
      <p:sp>
        <p:nvSpPr>
          <p:cNvPr id="5" name="comparison_right"/>
          <p:cNvSpPr/>
          <p:nvPr/>
        </p:nvSpPr>
        <p:spPr>
          <a:xfrm>
            <a:off x="6208776" y="2910352"/>
            <a:ext cx="5522976" cy="2667487"/>
          </a:xfrm>
          <a:prstGeom prst="roundRect">
            <a:avLst/>
          </a:prstGeom>
          <a:solidFill>
            <a:srgbClr val="DCFEE9">
              <a:alpha val="90000"/>
            </a:srgbClr>
          </a:solidFill>
          <a:ln w="6350">
            <a:solidFill>
              <a:srgbClr val="DCF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155448" bIns="91440">
            <a:normAutofit/>
          </a:bodyPr>
          <a:lstStyle/>
          <a:p>
            <a:pPr algn="l">
              <a:lnSpc>
                <a:spcPct val="120000"/>
              </a:lnSpc>
            </a:pPr>
            <a:r>
              <a:rPr sz="1550" b="1">
                <a:solidFill>
                  <a:srgbClr val="1F2937"/>
                </a:solidFill>
                <a:latin typeface="Meiryo UI"/>
              </a:rPr>
              <a:t>After</a:t>
            </a:r>
          </a:p>
          <a:p>
            <a:pPr algn="l">
              <a:lnSpc>
                <a:spcPct val="120000"/>
              </a:lnSpc>
              <a:spcBef>
                <a:spcPts val="300"/>
              </a:spcBef>
            </a:pPr>
            <a:r>
              <a:rPr sz="1300" b="1">
                <a:solidFill>
                  <a:srgbClr val="1F2937"/>
                </a:solidFill>
                <a:latin typeface="Meiryo UI"/>
              </a:rPr>
              <a:t>• </a:t>
            </a:r>
            <a:r>
              <a:rPr sz="1300" b="0">
                <a:solidFill>
                  <a:srgbClr val="1F2937"/>
                </a:solidFill>
                <a:latin typeface="Meiryo UI"/>
              </a:rPr>
              <a:t>The source also calls out continuous database replication and in-place external references</a:t>
            </a:r>
          </a:p>
        </p:txBody>
      </p:sp>
      <p:pic>
        <p:nvPicPr>
          <p:cNvPr id="6" name="design_icon_Picture 5" descr="warning-24-regular_t_E4FE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0992" y="3001792"/>
            <a:ext cx="237744" cy="237744"/>
          </a:xfrm>
          <a:prstGeom prst="rect">
            <a:avLst/>
          </a:prstGeom>
        </p:spPr>
      </p:pic>
      <p:pic>
        <p:nvPicPr>
          <p:cNvPr id="7" name="design_icon_Picture 6" descr="checkmark-24-regular_t_DCFE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2568" y="3001792"/>
            <a:ext cx="237744" cy="237744"/>
          </a:xfrm>
          <a:prstGeom prst="rect">
            <a:avLst/>
          </a:prstGeom>
        </p:spPr>
      </p:pic>
      <p:pic>
        <p:nvPicPr>
          <p:cNvPr id="8" name="icon_Picture 7" descr="arrow-right-24-regular_t_E4FEE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85832" y="68580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85800" y="457200"/>
            <a:ext cx="8449056" cy="82808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32000"/>
              </a:lnSpc>
            </a:pPr>
            <a:r>
              <a:rPr sz="2300" b="1">
                <a:solidFill>
                  <a:srgbClr val="1F2937"/>
                </a:solidFill>
                <a:latin typeface="Meiryo UI"/>
              </a:rPr>
              <a:t>Data Engineering keeps transformation work close to the shared lakehouse foundation</a:t>
            </a:r>
          </a:p>
        </p:txBody>
      </p:sp>
      <p:sp>
        <p:nvSpPr>
          <p:cNvPr id="3" name="key_message"/>
          <p:cNvSpPr txBox="1"/>
          <p:nvPr/>
        </p:nvSpPr>
        <p:spPr>
          <a:xfrm>
            <a:off x="685800" y="1449872"/>
            <a:ext cx="8449056" cy="853409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32000"/>
              </a:lnSpc>
            </a:pPr>
            <a:r>
              <a:rPr sz="1550" b="0">
                <a:solidFill>
                  <a:srgbClr val="1F2937"/>
                </a:solidFill>
                <a:latin typeface="Meiryo UI"/>
              </a:rPr>
              <a:t>Fabric improves engineering productivity because transformation can happen near the shared storage layer rather than in a disconnected processing stack.</a:t>
            </a:r>
          </a:p>
        </p:txBody>
      </p:sp>
      <p:sp>
        <p:nvSpPr>
          <p:cNvPr id="4" name="bullet_0"/>
          <p:cNvSpPr/>
          <p:nvPr/>
        </p:nvSpPr>
        <p:spPr>
          <a:xfrm>
            <a:off x="457200" y="2669042"/>
            <a:ext cx="11274552" cy="936632"/>
          </a:xfrm>
          <a:prstGeom prst="roundRect">
            <a:avLst/>
          </a:prstGeom>
          <a:solidFill>
            <a:srgbClr val="DCFEE9">
              <a:alpha val="90000"/>
            </a:srgbClr>
          </a:solidFill>
          <a:ln w="6350">
            <a:solidFill>
              <a:srgbClr val="DCF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28016" tIns="164592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00" b="1">
                <a:solidFill>
                  <a:srgbClr val="1F2937"/>
                </a:solidFill>
                <a:latin typeface="Meiryo UI"/>
              </a:rPr>
              <a:t>The lifecycle description explicitly includes prepare-and-transform work inside the platform</a:t>
            </a:r>
          </a:p>
        </p:txBody>
      </p:sp>
      <p:sp>
        <p:nvSpPr>
          <p:cNvPr id="5" name="design_stripe_0"/>
          <p:cNvSpPr/>
          <p:nvPr/>
        </p:nvSpPr>
        <p:spPr>
          <a:xfrm>
            <a:off x="457200" y="2669042"/>
            <a:ext cx="73152" cy="936632"/>
          </a:xfrm>
          <a:prstGeom prst="rect">
            <a:avLst/>
          </a:prstGeom>
          <a:solidFill>
            <a:srgbClr val="DCFE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design_icon_Picture 5" descr="wrench-24-regular_t_DCFEE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20856" y="2760482"/>
            <a:ext cx="219456" cy="219456"/>
          </a:xfrm>
          <a:prstGeom prst="rect">
            <a:avLst/>
          </a:prstGeom>
        </p:spPr>
      </p:pic>
      <p:sp>
        <p:nvSpPr>
          <p:cNvPr id="7" name="bullet_1"/>
          <p:cNvSpPr/>
          <p:nvPr/>
        </p:nvSpPr>
        <p:spPr>
          <a:xfrm>
            <a:off x="457200" y="3655124"/>
            <a:ext cx="11274552" cy="936632"/>
          </a:xfrm>
          <a:prstGeom prst="roundRect">
            <a:avLst/>
          </a:prstGeom>
          <a:solidFill>
            <a:srgbClr val="DDE4FE">
              <a:alpha val="90000"/>
            </a:srgbClr>
          </a:solidFill>
          <a:ln w="6350">
            <a:solidFill>
              <a:srgbClr val="DDE4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28016" tIns="164592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00" b="1">
                <a:solidFill>
                  <a:srgbClr val="1F2937"/>
                </a:solidFill>
                <a:latin typeface="Meiryo UI"/>
              </a:rPr>
              <a:t>Engineering outputs stay in the same shared data environment used by later analytical steps</a:t>
            </a:r>
          </a:p>
        </p:txBody>
      </p:sp>
      <p:sp>
        <p:nvSpPr>
          <p:cNvPr id="8" name="design_stripe_1"/>
          <p:cNvSpPr/>
          <p:nvPr/>
        </p:nvSpPr>
        <p:spPr>
          <a:xfrm>
            <a:off x="457200" y="3655124"/>
            <a:ext cx="73152" cy="936632"/>
          </a:xfrm>
          <a:prstGeom prst="rect">
            <a:avLst/>
          </a:prstGeom>
          <a:solidFill>
            <a:srgbClr val="DDE4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design_icon_Picture 8" descr="wrench-24-regular_t_DDE4F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0856" y="3746564"/>
            <a:ext cx="219456" cy="219456"/>
          </a:xfrm>
          <a:prstGeom prst="rect">
            <a:avLst/>
          </a:prstGeom>
        </p:spPr>
      </p:pic>
      <p:sp>
        <p:nvSpPr>
          <p:cNvPr id="10" name="bullet_2"/>
          <p:cNvSpPr/>
          <p:nvPr/>
        </p:nvSpPr>
        <p:spPr>
          <a:xfrm>
            <a:off x="457200" y="4641207"/>
            <a:ext cx="11274552" cy="936632"/>
          </a:xfrm>
          <a:prstGeom prst="roundRect">
            <a:avLst/>
          </a:prstGeom>
          <a:solidFill>
            <a:srgbClr val="D3DAFD">
              <a:alpha val="90000"/>
            </a:srgbClr>
          </a:solidFill>
          <a:ln w="6350">
            <a:solidFill>
              <a:srgbClr val="D3DA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28016" tIns="164592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00" b="1">
                <a:solidFill>
                  <a:srgbClr val="1F2937"/>
                </a:solidFill>
                <a:latin typeface="Meiryo UI"/>
              </a:rPr>
              <a:t>This reduces friction between data preparation and downstream SQL or reporting workloads</a:t>
            </a:r>
          </a:p>
        </p:txBody>
      </p:sp>
      <p:sp>
        <p:nvSpPr>
          <p:cNvPr id="11" name="design_stripe_2"/>
          <p:cNvSpPr/>
          <p:nvPr/>
        </p:nvSpPr>
        <p:spPr>
          <a:xfrm>
            <a:off x="457200" y="4641207"/>
            <a:ext cx="73152" cy="936632"/>
          </a:xfrm>
          <a:prstGeom prst="rect">
            <a:avLst/>
          </a:prstGeom>
          <a:solidFill>
            <a:srgbClr val="D3DA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design_icon_Picture 11" descr="wrench-24-regular_t_D3DAF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20856" y="4732647"/>
            <a:ext cx="219456" cy="219456"/>
          </a:xfrm>
          <a:prstGeom prst="rect">
            <a:avLst/>
          </a:prstGeom>
        </p:spPr>
      </p:pic>
      <p:pic>
        <p:nvPicPr>
          <p:cNvPr id="13" name="icon_Picture 12" descr="wrench-24-regular_t_DCFEE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85832" y="68580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85800" y="457200"/>
            <a:ext cx="8449056" cy="90425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937"/>
                </a:solidFill>
                <a:latin typeface="Meiryo UI"/>
              </a:rPr>
              <a:t>Data Science keeps experimentation inside the same governed platform boundary</a:t>
            </a:r>
          </a:p>
        </p:txBody>
      </p:sp>
      <p:sp>
        <p:nvSpPr>
          <p:cNvPr id="3" name="key_message"/>
          <p:cNvSpPr txBox="1"/>
          <p:nvPr/>
        </p:nvSpPr>
        <p:spPr>
          <a:xfrm>
            <a:off x="685800" y="1496049"/>
            <a:ext cx="8449056" cy="853409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32000"/>
              </a:lnSpc>
            </a:pPr>
            <a:r>
              <a:rPr sz="1550" b="0">
                <a:solidFill>
                  <a:srgbClr val="1F2937"/>
                </a:solidFill>
                <a:latin typeface="Meiryo UI"/>
              </a:rPr>
              <a:t>Fabric’s data-science story is stronger when models and notebooks can work on the same shared data assets already used by engineering and analytics teams.</a:t>
            </a:r>
          </a:p>
        </p:txBody>
      </p:sp>
      <p:sp>
        <p:nvSpPr>
          <p:cNvPr id="4" name="card_0"/>
          <p:cNvSpPr/>
          <p:nvPr/>
        </p:nvSpPr>
        <p:spPr>
          <a:xfrm>
            <a:off x="457200" y="2685227"/>
            <a:ext cx="5486400" cy="1316736"/>
          </a:xfrm>
          <a:prstGeom prst="roundRect">
            <a:avLst/>
          </a:prstGeom>
          <a:solidFill>
            <a:srgbClr val="F2F5FF">
              <a:alpha val="90000"/>
            </a:srgbClr>
          </a:solidFill>
          <a:ln w="6350">
            <a:solidFill>
              <a:srgbClr val="F2F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493776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50" b="1">
                <a:solidFill>
                  <a:srgbClr val="1F2937"/>
                </a:solidFill>
                <a:latin typeface="Meiryo UI"/>
              </a:rPr>
              <a:t>Data Science is one of the 6 named Fabric experiences on the shared foundation</a:t>
            </a:r>
          </a:p>
        </p:txBody>
      </p:sp>
      <p:pic>
        <p:nvPicPr>
          <p:cNvPr id="5" name="design_icon_Picture 4" descr="sparkle-24-regular_t_F2F5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" y="2776667"/>
            <a:ext cx="310896" cy="310896"/>
          </a:xfrm>
          <a:prstGeom prst="rect">
            <a:avLst/>
          </a:prstGeom>
        </p:spPr>
      </p:pic>
      <p:sp>
        <p:nvSpPr>
          <p:cNvPr id="6" name="card_1"/>
          <p:cNvSpPr/>
          <p:nvPr/>
        </p:nvSpPr>
        <p:spPr>
          <a:xfrm>
            <a:off x="6236208" y="2685227"/>
            <a:ext cx="5486400" cy="1316736"/>
          </a:xfrm>
          <a:prstGeom prst="roundRect">
            <a:avLst/>
          </a:prstGeom>
          <a:solidFill>
            <a:srgbClr val="F2F4FE">
              <a:alpha val="90000"/>
            </a:srgbClr>
          </a:solidFill>
          <a:ln w="6350">
            <a:solidFill>
              <a:srgbClr val="F2F4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493776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50" b="1">
                <a:solidFill>
                  <a:srgbClr val="1F2937"/>
                </a:solidFill>
                <a:latin typeface="Meiryo UI"/>
              </a:rPr>
              <a:t>Common storage means experiments can start from the same curated assets used elsewhere</a:t>
            </a:r>
          </a:p>
        </p:txBody>
      </p:sp>
      <p:pic>
        <p:nvPicPr>
          <p:cNvPr id="7" name="design_icon_Picture 6" descr="sparkle-24-regular_t_F2F4F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4224" y="2776667"/>
            <a:ext cx="310896" cy="310896"/>
          </a:xfrm>
          <a:prstGeom prst="rect">
            <a:avLst/>
          </a:prstGeom>
        </p:spPr>
      </p:pic>
      <p:sp>
        <p:nvSpPr>
          <p:cNvPr id="8" name="card_2"/>
          <p:cNvSpPr/>
          <p:nvPr/>
        </p:nvSpPr>
        <p:spPr>
          <a:xfrm>
            <a:off x="457200" y="4257995"/>
            <a:ext cx="5486400" cy="1316736"/>
          </a:xfrm>
          <a:prstGeom prst="roundRect">
            <a:avLst/>
          </a:prstGeom>
          <a:solidFill>
            <a:srgbClr val="F2F5FF">
              <a:alpha val="90000"/>
            </a:srgbClr>
          </a:solidFill>
          <a:ln w="6350">
            <a:solidFill>
              <a:srgbClr val="F2F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493776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50" b="1">
                <a:solidFill>
                  <a:srgbClr val="1F2937"/>
                </a:solidFill>
                <a:latin typeface="Meiryo UI"/>
              </a:rPr>
              <a:t>A shared platform reduces the handoff cost between science, engineering, and BI teams</a:t>
            </a:r>
          </a:p>
        </p:txBody>
      </p:sp>
      <p:pic>
        <p:nvPicPr>
          <p:cNvPr id="9" name="design_icon_Picture 8" descr="sparkle-24-regular_t_F2F5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" y="4349435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85800" y="457200"/>
            <a:ext cx="8449056" cy="125986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937"/>
                </a:solidFill>
                <a:latin typeface="Meiryo UI"/>
              </a:rPr>
              <a:t>Real-Time Intelligence makes streaming analytics a first-class workload rather than an add-on</a:t>
            </a:r>
          </a:p>
        </p:txBody>
      </p:sp>
      <p:sp>
        <p:nvSpPr>
          <p:cNvPr id="3" name="key_message"/>
          <p:cNvSpPr txBox="1"/>
          <p:nvPr/>
        </p:nvSpPr>
        <p:spPr>
          <a:xfrm>
            <a:off x="685800" y="1881652"/>
            <a:ext cx="8449056" cy="58677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32000"/>
              </a:lnSpc>
            </a:pPr>
            <a:r>
              <a:rPr sz="1490" b="0">
                <a:solidFill>
                  <a:srgbClr val="1F2937"/>
                </a:solidFill>
                <a:latin typeface="Meiryo UI"/>
              </a:rPr>
              <a:t>Fabric broadens its coverage by bringing event and streaming scenarios into the same governed platform used for batch and SQL analytics.</a:t>
            </a:r>
          </a:p>
        </p:txBody>
      </p:sp>
      <p:sp>
        <p:nvSpPr>
          <p:cNvPr id="4" name="bullet_0"/>
          <p:cNvSpPr/>
          <p:nvPr/>
        </p:nvSpPr>
        <p:spPr>
          <a:xfrm>
            <a:off x="457200" y="2834182"/>
            <a:ext cx="11274552" cy="883457"/>
          </a:xfrm>
          <a:prstGeom prst="roundRect">
            <a:avLst/>
          </a:prstGeom>
          <a:solidFill>
            <a:srgbClr val="D3DAFD">
              <a:alpha val="90000"/>
            </a:srgbClr>
          </a:solidFill>
          <a:ln w="6350">
            <a:solidFill>
              <a:srgbClr val="D3DA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28016" tIns="164592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00" b="1">
                <a:solidFill>
                  <a:srgbClr val="1F2937"/>
                </a:solidFill>
                <a:latin typeface="Meiryo UI"/>
              </a:rPr>
              <a:t>Real-Time Intelligence is explicitly named as one of the 6 integrated experiences</a:t>
            </a:r>
          </a:p>
        </p:txBody>
      </p:sp>
      <p:sp>
        <p:nvSpPr>
          <p:cNvPr id="5" name="design_stripe_0"/>
          <p:cNvSpPr/>
          <p:nvPr/>
        </p:nvSpPr>
        <p:spPr>
          <a:xfrm>
            <a:off x="457200" y="2834182"/>
            <a:ext cx="73152" cy="883457"/>
          </a:xfrm>
          <a:prstGeom prst="rect">
            <a:avLst/>
          </a:prstGeom>
          <a:solidFill>
            <a:srgbClr val="D3DA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design_icon_Picture 5" descr="chart-person-24-regular_t_D3DA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20856" y="2925622"/>
            <a:ext cx="219456" cy="219456"/>
          </a:xfrm>
          <a:prstGeom prst="rect">
            <a:avLst/>
          </a:prstGeom>
        </p:spPr>
      </p:pic>
      <p:sp>
        <p:nvSpPr>
          <p:cNvPr id="7" name="bullet_1"/>
          <p:cNvSpPr/>
          <p:nvPr/>
        </p:nvSpPr>
        <p:spPr>
          <a:xfrm>
            <a:off x="457200" y="3764282"/>
            <a:ext cx="11274552" cy="883457"/>
          </a:xfrm>
          <a:prstGeom prst="roundRect">
            <a:avLst/>
          </a:prstGeom>
          <a:solidFill>
            <a:srgbClr val="FFE4F6">
              <a:alpha val="90000"/>
            </a:srgbClr>
          </a:solidFill>
          <a:ln w="6350">
            <a:solidFill>
              <a:srgbClr val="FFE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28016" tIns="164592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00" b="1">
                <a:solidFill>
                  <a:srgbClr val="1F2937"/>
                </a:solidFill>
                <a:latin typeface="Meiryo UI"/>
              </a:rPr>
              <a:t>This complements the source’s emphasis on real-time data intake patterns</a:t>
            </a:r>
          </a:p>
        </p:txBody>
      </p:sp>
      <p:sp>
        <p:nvSpPr>
          <p:cNvPr id="8" name="design_stripe_1"/>
          <p:cNvSpPr/>
          <p:nvPr/>
        </p:nvSpPr>
        <p:spPr>
          <a:xfrm>
            <a:off x="457200" y="3764282"/>
            <a:ext cx="73152" cy="883457"/>
          </a:xfrm>
          <a:prstGeom prst="rect">
            <a:avLst/>
          </a:prstGeom>
          <a:solidFill>
            <a:srgbClr val="FFE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design_icon_Picture 8" descr="chart-person-24-regular_t_FFE4F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0856" y="3855722"/>
            <a:ext cx="219456" cy="219456"/>
          </a:xfrm>
          <a:prstGeom prst="rect">
            <a:avLst/>
          </a:prstGeom>
        </p:spPr>
      </p:pic>
      <p:sp>
        <p:nvSpPr>
          <p:cNvPr id="10" name="bullet_2"/>
          <p:cNvSpPr/>
          <p:nvPr/>
        </p:nvSpPr>
        <p:spPr>
          <a:xfrm>
            <a:off x="457200" y="4694382"/>
            <a:ext cx="11274552" cy="883457"/>
          </a:xfrm>
          <a:prstGeom prst="roundRect">
            <a:avLst/>
          </a:prstGeom>
          <a:solidFill>
            <a:srgbClr val="FFF3FA">
              <a:alpha val="90000"/>
            </a:srgbClr>
          </a:solidFill>
          <a:ln w="6350">
            <a:solidFill>
              <a:srgbClr val="FFF3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28016" tIns="164592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00" b="1">
                <a:solidFill>
                  <a:srgbClr val="1F2937"/>
                </a:solidFill>
                <a:latin typeface="Meiryo UI"/>
              </a:rPr>
              <a:t>The shared platform matters because streaming insights can land beside batch and historical data</a:t>
            </a:r>
          </a:p>
        </p:txBody>
      </p:sp>
      <p:sp>
        <p:nvSpPr>
          <p:cNvPr id="11" name="design_stripe_2"/>
          <p:cNvSpPr/>
          <p:nvPr/>
        </p:nvSpPr>
        <p:spPr>
          <a:xfrm>
            <a:off x="457200" y="4694382"/>
            <a:ext cx="73152" cy="883457"/>
          </a:xfrm>
          <a:prstGeom prst="rect">
            <a:avLst/>
          </a:prstGeom>
          <a:solidFill>
            <a:srgbClr val="FF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design_icon_Picture 11" descr="chart-person-24-regular_t_FFF3F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20856" y="4785822"/>
            <a:ext cx="219456" cy="219456"/>
          </a:xfrm>
          <a:prstGeom prst="rect">
            <a:avLst/>
          </a:prstGeom>
        </p:spPr>
      </p:pic>
      <p:pic>
        <p:nvPicPr>
          <p:cNvPr id="13" name="icon_Picture 12" descr="chart-person-24-regular_t_D3DA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85832" y="68580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85800" y="457200"/>
            <a:ext cx="8449056" cy="90425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937"/>
                </a:solidFill>
                <a:latin typeface="Meiryo UI"/>
              </a:rPr>
              <a:t>Data Warehouse gives SQL-centric teams a governed analytical core inside Fabric</a:t>
            </a:r>
          </a:p>
        </p:txBody>
      </p:sp>
      <p:sp>
        <p:nvSpPr>
          <p:cNvPr id="3" name="key_message"/>
          <p:cNvSpPr txBox="1"/>
          <p:nvPr/>
        </p:nvSpPr>
        <p:spPr>
          <a:xfrm>
            <a:off x="685800" y="1434602"/>
            <a:ext cx="8449056" cy="80266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32000"/>
              </a:lnSpc>
            </a:pPr>
            <a:r>
              <a:rPr sz="1550" b="0">
                <a:solidFill>
                  <a:srgbClr val="1F2937"/>
                </a:solidFill>
                <a:latin typeface="Meiryo UI"/>
              </a:rPr>
              <a:t>Fabric’s workload breadth becomes more practical when warehouse users can stay in a SQL-native experience without leaving the common platform foundation.</a:t>
            </a:r>
          </a:p>
        </p:txBody>
      </p:sp>
      <p:sp>
        <p:nvSpPr>
          <p:cNvPr id="4" name="card_0"/>
          <p:cNvSpPr/>
          <p:nvPr/>
        </p:nvSpPr>
        <p:spPr>
          <a:xfrm>
            <a:off x="457200" y="2511582"/>
            <a:ext cx="5486400" cy="1581912"/>
          </a:xfrm>
          <a:prstGeom prst="roundRect">
            <a:avLst/>
          </a:prstGeom>
          <a:solidFill>
            <a:srgbClr val="FFF5FC">
              <a:alpha val="90000"/>
            </a:srgbClr>
          </a:solidFill>
          <a:ln w="6350">
            <a:solidFill>
              <a:srgbClr val="FFF5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530900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50" b="1">
                <a:solidFill>
                  <a:srgbClr val="1F2937"/>
                </a:solidFill>
                <a:latin typeface="Meiryo UI"/>
              </a:rPr>
              <a:t>Data Warehouse is one of the 6 anchor experiences in the Fabric portfolio</a:t>
            </a:r>
          </a:p>
        </p:txBody>
      </p:sp>
      <p:pic>
        <p:nvPicPr>
          <p:cNvPr id="5" name="design_icon_Picture 4" descr="table-24-regular_t_FFF5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" y="2603022"/>
            <a:ext cx="348020" cy="348020"/>
          </a:xfrm>
          <a:prstGeom prst="rect">
            <a:avLst/>
          </a:prstGeom>
        </p:spPr>
      </p:pic>
      <p:sp>
        <p:nvSpPr>
          <p:cNvPr id="6" name="card_1"/>
          <p:cNvSpPr/>
          <p:nvPr/>
        </p:nvSpPr>
        <p:spPr>
          <a:xfrm>
            <a:off x="6236208" y="2511582"/>
            <a:ext cx="5486400" cy="1581912"/>
          </a:xfrm>
          <a:prstGeom prst="roundRect">
            <a:avLst/>
          </a:prstGeom>
          <a:solidFill>
            <a:srgbClr val="FFFBFE">
              <a:alpha val="90000"/>
            </a:srgbClr>
          </a:solidFill>
          <a:ln w="6350">
            <a:solidFill>
              <a:srgbClr val="FFF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530900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50" b="1">
                <a:solidFill>
                  <a:srgbClr val="1F2937"/>
                </a:solidFill>
                <a:latin typeface="Meiryo UI"/>
              </a:rPr>
              <a:t>Warehouse functionality benefits from shared storage and adjacent engineering workflows</a:t>
            </a:r>
          </a:p>
        </p:txBody>
      </p:sp>
      <p:pic>
        <p:nvPicPr>
          <p:cNvPr id="7" name="design_icon_Picture 6" descr="table-24-regular_t_FFFBF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4224" y="2603022"/>
            <a:ext cx="348020" cy="348020"/>
          </a:xfrm>
          <a:prstGeom prst="rect">
            <a:avLst/>
          </a:prstGeom>
        </p:spPr>
      </p:pic>
      <p:sp>
        <p:nvSpPr>
          <p:cNvPr id="8" name="card_2"/>
          <p:cNvSpPr/>
          <p:nvPr/>
        </p:nvSpPr>
        <p:spPr>
          <a:xfrm>
            <a:off x="457200" y="4349526"/>
            <a:ext cx="5486400" cy="1581912"/>
          </a:xfrm>
          <a:prstGeom prst="roundRect">
            <a:avLst/>
          </a:prstGeom>
          <a:solidFill>
            <a:srgbClr val="FFF5FC">
              <a:alpha val="90000"/>
            </a:srgbClr>
          </a:solidFill>
          <a:ln w="6350">
            <a:solidFill>
              <a:srgbClr val="FFF5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530900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50" b="1">
                <a:solidFill>
                  <a:srgbClr val="1F2937"/>
                </a:solidFill>
                <a:latin typeface="Meiryo UI"/>
              </a:rPr>
              <a:t>The platform is therefore able to serve both notebook-centric and SQL-centric operating styles</a:t>
            </a:r>
          </a:p>
        </p:txBody>
      </p:sp>
      <p:pic>
        <p:nvPicPr>
          <p:cNvPr id="9" name="design_icon_Picture 8" descr="table-24-regular_t_FFF5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" y="4440966"/>
            <a:ext cx="348020" cy="348020"/>
          </a:xfrm>
          <a:prstGeom prst="rect">
            <a:avLst/>
          </a:prstGeom>
        </p:spPr>
      </p:pic>
      <p:pic>
        <p:nvPicPr>
          <p:cNvPr id="10" name="icon_Picture 9" descr="table-24-regular_t_FFE4F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85832" y="68580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85800" y="457200"/>
            <a:ext cx="8449056" cy="90425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937"/>
                </a:solidFill>
                <a:latin typeface="Meiryo UI"/>
              </a:rPr>
              <a:t>Databases add transactional depth instead of forcing a separate platform purchase</a:t>
            </a:r>
          </a:p>
        </p:txBody>
      </p:sp>
      <p:sp>
        <p:nvSpPr>
          <p:cNvPr id="3" name="key_message"/>
          <p:cNvSpPr txBox="1"/>
          <p:nvPr/>
        </p:nvSpPr>
        <p:spPr>
          <a:xfrm>
            <a:off x="685800" y="1526042"/>
            <a:ext cx="8449056" cy="58677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32000"/>
              </a:lnSpc>
            </a:pPr>
            <a:r>
              <a:rPr sz="1490" b="0">
                <a:solidFill>
                  <a:srgbClr val="1F2937"/>
                </a:solidFill>
                <a:latin typeface="Meiryo UI"/>
              </a:rPr>
              <a:t>By including databases as a first-class experience, Fabric expands from analytical storage into more operationally familiar data patterns.</a:t>
            </a:r>
          </a:p>
        </p:txBody>
      </p:sp>
      <p:sp>
        <p:nvSpPr>
          <p:cNvPr id="4" name="bullet_0"/>
          <p:cNvSpPr/>
          <p:nvPr/>
        </p:nvSpPr>
        <p:spPr>
          <a:xfrm>
            <a:off x="457200" y="2478572"/>
            <a:ext cx="11274552" cy="997964"/>
          </a:xfrm>
          <a:prstGeom prst="roundRect">
            <a:avLst/>
          </a:prstGeom>
          <a:solidFill>
            <a:srgbClr val="FFF3FA">
              <a:alpha val="90000"/>
            </a:srgbClr>
          </a:solidFill>
          <a:ln w="6350">
            <a:solidFill>
              <a:srgbClr val="FFF3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28016" tIns="164592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00" b="1">
                <a:solidFill>
                  <a:srgbClr val="1F2937"/>
                </a:solidFill>
                <a:latin typeface="Meiryo UI"/>
              </a:rPr>
              <a:t>Databases are named alongside the other 5 major Fabric experiences</a:t>
            </a:r>
          </a:p>
        </p:txBody>
      </p:sp>
      <p:sp>
        <p:nvSpPr>
          <p:cNvPr id="5" name="design_stripe_0"/>
          <p:cNvSpPr/>
          <p:nvPr/>
        </p:nvSpPr>
        <p:spPr>
          <a:xfrm>
            <a:off x="457200" y="2478572"/>
            <a:ext cx="73152" cy="997964"/>
          </a:xfrm>
          <a:prstGeom prst="rect">
            <a:avLst/>
          </a:prstGeom>
          <a:solidFill>
            <a:srgbClr val="FF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design_icon_Picture 5" descr="database-24-regular_t_FFF3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20856" y="2570012"/>
            <a:ext cx="219456" cy="219456"/>
          </a:xfrm>
          <a:prstGeom prst="rect">
            <a:avLst/>
          </a:prstGeom>
        </p:spPr>
      </p:pic>
      <p:sp>
        <p:nvSpPr>
          <p:cNvPr id="7" name="bullet_1"/>
          <p:cNvSpPr/>
          <p:nvPr/>
        </p:nvSpPr>
        <p:spPr>
          <a:xfrm>
            <a:off x="457200" y="3529224"/>
            <a:ext cx="11274552" cy="997964"/>
          </a:xfrm>
          <a:prstGeom prst="roundRect">
            <a:avLst/>
          </a:prstGeom>
          <a:solidFill>
            <a:srgbClr val="E4FEEF">
              <a:alpha val="90000"/>
            </a:srgbClr>
          </a:solidFill>
          <a:ln w="6350">
            <a:solidFill>
              <a:srgbClr val="E4FE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28016" tIns="164592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00" b="1">
                <a:solidFill>
                  <a:srgbClr val="1F2937"/>
                </a:solidFill>
                <a:latin typeface="Meiryo UI"/>
              </a:rPr>
              <a:t>This broadens the platform beyond engineering and analytics into database-shaped workloads</a:t>
            </a:r>
          </a:p>
        </p:txBody>
      </p:sp>
      <p:sp>
        <p:nvSpPr>
          <p:cNvPr id="8" name="design_stripe_1"/>
          <p:cNvSpPr/>
          <p:nvPr/>
        </p:nvSpPr>
        <p:spPr>
          <a:xfrm>
            <a:off x="457200" y="3529224"/>
            <a:ext cx="73152" cy="997964"/>
          </a:xfrm>
          <a:prstGeom prst="rect">
            <a:avLst/>
          </a:prstGeom>
          <a:solidFill>
            <a:srgbClr val="E4F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design_icon_Picture 8" descr="database-24-regular_t_E4FEE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0856" y="3620664"/>
            <a:ext cx="219456" cy="219456"/>
          </a:xfrm>
          <a:prstGeom prst="rect">
            <a:avLst/>
          </a:prstGeom>
        </p:spPr>
      </p:pic>
      <p:sp>
        <p:nvSpPr>
          <p:cNvPr id="10" name="bullet_2"/>
          <p:cNvSpPr/>
          <p:nvPr/>
        </p:nvSpPr>
        <p:spPr>
          <a:xfrm>
            <a:off x="457200" y="4579875"/>
            <a:ext cx="11274552" cy="997964"/>
          </a:xfrm>
          <a:prstGeom prst="roundRect">
            <a:avLst/>
          </a:prstGeom>
          <a:solidFill>
            <a:srgbClr val="DCFEE9">
              <a:alpha val="90000"/>
            </a:srgbClr>
          </a:solidFill>
          <a:ln w="6350">
            <a:solidFill>
              <a:srgbClr val="DCF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28016" tIns="164592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00" b="1">
                <a:solidFill>
                  <a:srgbClr val="1F2937"/>
                </a:solidFill>
                <a:latin typeface="Meiryo UI"/>
              </a:rPr>
              <a:t>The inclusion strengthens the claim that Fabric is trying to be a wider data platform, not a narrow reporting stack</a:t>
            </a:r>
          </a:p>
        </p:txBody>
      </p:sp>
      <p:sp>
        <p:nvSpPr>
          <p:cNvPr id="11" name="design_stripe_2"/>
          <p:cNvSpPr/>
          <p:nvPr/>
        </p:nvSpPr>
        <p:spPr>
          <a:xfrm>
            <a:off x="457200" y="4579875"/>
            <a:ext cx="73152" cy="997964"/>
          </a:xfrm>
          <a:prstGeom prst="rect">
            <a:avLst/>
          </a:prstGeom>
          <a:solidFill>
            <a:srgbClr val="DCFE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design_icon_Picture 11" descr="database-24-regular_t_DCFEE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20856" y="4671315"/>
            <a:ext cx="219456" cy="219456"/>
          </a:xfrm>
          <a:prstGeom prst="rect">
            <a:avLst/>
          </a:prstGeom>
        </p:spPr>
      </p:pic>
      <p:pic>
        <p:nvPicPr>
          <p:cNvPr id="13" name="icon_Picture 12" descr="database-24-regular_t_FFF3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85832" y="68580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85800" y="457200"/>
            <a:ext cx="8449056" cy="90425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937"/>
                </a:solidFill>
                <a:latin typeface="Meiryo UI"/>
              </a:rPr>
              <a:t>Redirecting new datamarts to warehouses reduces product overlap in the SQL estate</a:t>
            </a:r>
          </a:p>
        </p:txBody>
      </p:sp>
      <p:sp>
        <p:nvSpPr>
          <p:cNvPr id="3" name="key_message"/>
          <p:cNvSpPr txBox="1"/>
          <p:nvPr/>
        </p:nvSpPr>
        <p:spPr>
          <a:xfrm>
            <a:off x="685800" y="1526042"/>
            <a:ext cx="8449056" cy="853409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32000"/>
              </a:lnSpc>
            </a:pPr>
            <a:r>
              <a:rPr sz="1550" b="0">
                <a:solidFill>
                  <a:srgbClr val="1F2937"/>
                </a:solidFill>
                <a:latin typeface="Meiryo UI"/>
              </a:rPr>
              <a:t>The June 2025 move from new Power BI datamarts toward Fabric Warehouse signals Microsoft’s intent to simplify overlapping analytical SQL products.</a:t>
            </a:r>
          </a:p>
        </p:txBody>
      </p:sp>
      <p:sp>
        <p:nvSpPr>
          <p:cNvPr id="4" name="comparison_left"/>
          <p:cNvSpPr/>
          <p:nvPr/>
        </p:nvSpPr>
        <p:spPr>
          <a:xfrm>
            <a:off x="457200" y="2745211"/>
            <a:ext cx="5522976" cy="2832628"/>
          </a:xfrm>
          <a:prstGeom prst="roundRect">
            <a:avLst/>
          </a:prstGeom>
          <a:solidFill>
            <a:srgbClr val="E4FEEF">
              <a:alpha val="90000"/>
            </a:srgbClr>
          </a:solidFill>
          <a:ln w="6350">
            <a:solidFill>
              <a:srgbClr val="E4FE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155448" bIns="91440">
            <a:normAutofit/>
          </a:bodyPr>
          <a:lstStyle/>
          <a:p>
            <a:pPr algn="l">
              <a:lnSpc>
                <a:spcPct val="120000"/>
              </a:lnSpc>
            </a:pPr>
            <a:r>
              <a:rPr sz="1550" b="1">
                <a:solidFill>
                  <a:srgbClr val="1F2937"/>
                </a:solidFill>
                <a:latin typeface="Meiryo UI"/>
              </a:rPr>
              <a:t>Before</a:t>
            </a:r>
          </a:p>
          <a:p>
            <a:pPr algn="l">
              <a:lnSpc>
                <a:spcPct val="120000"/>
              </a:lnSpc>
              <a:spcBef>
                <a:spcPts val="300"/>
              </a:spcBef>
            </a:pPr>
            <a:r>
              <a:rPr sz="1300" b="1">
                <a:solidFill>
                  <a:srgbClr val="1F2937"/>
                </a:solidFill>
                <a:latin typeface="Meiryo UI"/>
              </a:rPr>
              <a:t>• </a:t>
            </a:r>
            <a:r>
              <a:rPr sz="1300" b="0">
                <a:solidFill>
                  <a:srgbClr val="1F2937"/>
                </a:solidFill>
                <a:latin typeface="Meiryo UI"/>
              </a:rPr>
              <a:t>Beginning June 1, 2025, creating a new Power BI datamart redirects to creating a new Fabric Warehouse</a:t>
            </a:r>
          </a:p>
          <a:p>
            <a:pPr algn="l">
              <a:lnSpc>
                <a:spcPct val="120000"/>
              </a:lnSpc>
              <a:spcBef>
                <a:spcPts val="300"/>
              </a:spcBef>
            </a:pPr>
            <a:r>
              <a:rPr sz="1300" b="1">
                <a:solidFill>
                  <a:srgbClr val="1F2937"/>
                </a:solidFill>
                <a:latin typeface="Meiryo UI"/>
              </a:rPr>
              <a:t>• </a:t>
            </a:r>
            <a:r>
              <a:rPr sz="1300" b="0">
                <a:solidFill>
                  <a:srgbClr val="1F2937"/>
                </a:solidFill>
                <a:latin typeface="Meiryo UI"/>
              </a:rPr>
              <a:t>Existing Power BI datamarts have an upgrade path to warehouse</a:t>
            </a:r>
          </a:p>
        </p:txBody>
      </p:sp>
      <p:sp>
        <p:nvSpPr>
          <p:cNvPr id="5" name="comparison_right"/>
          <p:cNvSpPr/>
          <p:nvPr/>
        </p:nvSpPr>
        <p:spPr>
          <a:xfrm>
            <a:off x="6208776" y="2745211"/>
            <a:ext cx="5522976" cy="2832628"/>
          </a:xfrm>
          <a:prstGeom prst="roundRect">
            <a:avLst/>
          </a:prstGeom>
          <a:solidFill>
            <a:srgbClr val="DCFEE9">
              <a:alpha val="90000"/>
            </a:srgbClr>
          </a:solidFill>
          <a:ln w="6350">
            <a:solidFill>
              <a:srgbClr val="DCF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155448" bIns="91440">
            <a:normAutofit/>
          </a:bodyPr>
          <a:lstStyle/>
          <a:p>
            <a:pPr algn="l">
              <a:lnSpc>
                <a:spcPct val="120000"/>
              </a:lnSpc>
            </a:pPr>
            <a:r>
              <a:rPr sz="1550" b="1">
                <a:solidFill>
                  <a:srgbClr val="1F2937"/>
                </a:solidFill>
                <a:latin typeface="Meiryo UI"/>
              </a:rPr>
              <a:t>After</a:t>
            </a:r>
          </a:p>
          <a:p>
            <a:pPr algn="l">
              <a:lnSpc>
                <a:spcPct val="120000"/>
              </a:lnSpc>
              <a:spcBef>
                <a:spcPts val="300"/>
              </a:spcBef>
            </a:pPr>
            <a:r>
              <a:rPr sz="1300" b="1">
                <a:solidFill>
                  <a:srgbClr val="1F2937"/>
                </a:solidFill>
                <a:latin typeface="Meiryo UI"/>
              </a:rPr>
              <a:t>• </a:t>
            </a:r>
            <a:r>
              <a:rPr sz="1300" b="0">
                <a:solidFill>
                  <a:srgbClr val="1F2937"/>
                </a:solidFill>
                <a:latin typeface="Meiryo UI"/>
              </a:rPr>
              <a:t>This consolidation move supports the broader story of reducing tool fragmentation</a:t>
            </a:r>
          </a:p>
        </p:txBody>
      </p:sp>
      <p:pic>
        <p:nvPicPr>
          <p:cNvPr id="6" name="design_icon_Picture 5" descr="warning-24-regular_t_E4FE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0992" y="2836651"/>
            <a:ext cx="237744" cy="237744"/>
          </a:xfrm>
          <a:prstGeom prst="rect">
            <a:avLst/>
          </a:prstGeom>
        </p:spPr>
      </p:pic>
      <p:pic>
        <p:nvPicPr>
          <p:cNvPr id="7" name="design_icon_Picture 6" descr="checkmark-24-regular_t_DCFE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2568" y="2836651"/>
            <a:ext cx="237744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85800" y="457200"/>
            <a:ext cx="8449056" cy="125986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937"/>
                </a:solidFill>
                <a:latin typeface="Meiryo UI"/>
              </a:rPr>
              <a:t>REST-based SQL endpoint metadata refresh makes downstream orchestration more automatable</a:t>
            </a:r>
          </a:p>
        </p:txBody>
      </p:sp>
      <p:sp>
        <p:nvSpPr>
          <p:cNvPr id="3" name="key_message"/>
          <p:cNvSpPr txBox="1"/>
          <p:nvPr/>
        </p:nvSpPr>
        <p:spPr>
          <a:xfrm>
            <a:off x="685800" y="1881652"/>
            <a:ext cx="8449056" cy="58677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32000"/>
              </a:lnSpc>
            </a:pPr>
            <a:r>
              <a:rPr sz="1490" b="0">
                <a:solidFill>
                  <a:srgbClr val="1F2937"/>
                </a:solidFill>
                <a:latin typeface="Meiryo UI"/>
              </a:rPr>
              <a:t>The July 2025 GA of SQL endpoint metadata refresh via REST API matters because it makes operational SQL workflows easier to script and integrate.</a:t>
            </a:r>
          </a:p>
        </p:txBody>
      </p:sp>
      <p:sp>
        <p:nvSpPr>
          <p:cNvPr id="4" name="bullet_0"/>
          <p:cNvSpPr/>
          <p:nvPr/>
        </p:nvSpPr>
        <p:spPr>
          <a:xfrm>
            <a:off x="457200" y="2834182"/>
            <a:ext cx="11274552" cy="883457"/>
          </a:xfrm>
          <a:prstGeom prst="roundRect">
            <a:avLst/>
          </a:prstGeom>
          <a:solidFill>
            <a:srgbClr val="DCFEE9">
              <a:alpha val="90000"/>
            </a:srgbClr>
          </a:solidFill>
          <a:ln w="6350">
            <a:solidFill>
              <a:srgbClr val="DCF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28016" tIns="164592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00" b="1">
                <a:solidFill>
                  <a:srgbClr val="1F2937"/>
                </a:solidFill>
                <a:latin typeface="Meiryo UI"/>
              </a:rPr>
              <a:t>Refreshing SQL endpoint metadata through REST API became GA in July 2025</a:t>
            </a:r>
          </a:p>
        </p:txBody>
      </p:sp>
      <p:sp>
        <p:nvSpPr>
          <p:cNvPr id="5" name="design_stripe_0"/>
          <p:cNvSpPr/>
          <p:nvPr/>
        </p:nvSpPr>
        <p:spPr>
          <a:xfrm>
            <a:off x="457200" y="2834182"/>
            <a:ext cx="73152" cy="883457"/>
          </a:xfrm>
          <a:prstGeom prst="rect">
            <a:avLst/>
          </a:prstGeom>
          <a:solidFill>
            <a:srgbClr val="DCFE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design_icon_Picture 5" descr="checkmark-24-regular_t_DCFEE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20856" y="2925622"/>
            <a:ext cx="219456" cy="219456"/>
          </a:xfrm>
          <a:prstGeom prst="rect">
            <a:avLst/>
          </a:prstGeom>
        </p:spPr>
      </p:pic>
      <p:sp>
        <p:nvSpPr>
          <p:cNvPr id="7" name="bullet_1"/>
          <p:cNvSpPr/>
          <p:nvPr/>
        </p:nvSpPr>
        <p:spPr>
          <a:xfrm>
            <a:off x="457200" y="3764282"/>
            <a:ext cx="11274552" cy="883457"/>
          </a:xfrm>
          <a:prstGeom prst="roundRect">
            <a:avLst/>
          </a:prstGeom>
          <a:solidFill>
            <a:srgbClr val="DDE4FE">
              <a:alpha val="90000"/>
            </a:srgbClr>
          </a:solidFill>
          <a:ln w="6350">
            <a:solidFill>
              <a:srgbClr val="DDE4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28016" tIns="164592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00" b="1">
                <a:solidFill>
                  <a:srgbClr val="1F2937"/>
                </a:solidFill>
                <a:latin typeface="Meiryo UI"/>
              </a:rPr>
              <a:t>API exposure matters for orchestration, admin tooling, and automated data product workflows</a:t>
            </a:r>
          </a:p>
        </p:txBody>
      </p:sp>
      <p:sp>
        <p:nvSpPr>
          <p:cNvPr id="8" name="design_stripe_1"/>
          <p:cNvSpPr/>
          <p:nvPr/>
        </p:nvSpPr>
        <p:spPr>
          <a:xfrm>
            <a:off x="457200" y="3764282"/>
            <a:ext cx="73152" cy="883457"/>
          </a:xfrm>
          <a:prstGeom prst="rect">
            <a:avLst/>
          </a:prstGeom>
          <a:solidFill>
            <a:srgbClr val="DDE4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design_icon_Picture 8" descr="checkmark-24-regular_t_DDE4F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0856" y="3855722"/>
            <a:ext cx="219456" cy="219456"/>
          </a:xfrm>
          <a:prstGeom prst="rect">
            <a:avLst/>
          </a:prstGeom>
        </p:spPr>
      </p:pic>
      <p:sp>
        <p:nvSpPr>
          <p:cNvPr id="10" name="bullet_2"/>
          <p:cNvSpPr/>
          <p:nvPr/>
        </p:nvSpPr>
        <p:spPr>
          <a:xfrm>
            <a:off x="457200" y="4694382"/>
            <a:ext cx="11274552" cy="883457"/>
          </a:xfrm>
          <a:prstGeom prst="roundRect">
            <a:avLst/>
          </a:prstGeom>
          <a:solidFill>
            <a:srgbClr val="D3DAFD">
              <a:alpha val="90000"/>
            </a:srgbClr>
          </a:solidFill>
          <a:ln w="6350">
            <a:solidFill>
              <a:srgbClr val="D3DA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28016" tIns="164592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00" b="1">
                <a:solidFill>
                  <a:srgbClr val="1F2937"/>
                </a:solidFill>
                <a:latin typeface="Meiryo UI"/>
              </a:rPr>
              <a:t>The feature improves the fit between Fabric SQL assets and external operational processes</a:t>
            </a:r>
          </a:p>
        </p:txBody>
      </p:sp>
      <p:sp>
        <p:nvSpPr>
          <p:cNvPr id="11" name="design_stripe_2"/>
          <p:cNvSpPr/>
          <p:nvPr/>
        </p:nvSpPr>
        <p:spPr>
          <a:xfrm>
            <a:off x="457200" y="4694382"/>
            <a:ext cx="73152" cy="883457"/>
          </a:xfrm>
          <a:prstGeom prst="rect">
            <a:avLst/>
          </a:prstGeom>
          <a:solidFill>
            <a:srgbClr val="D3DA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design_icon_Picture 11" descr="checkmark-24-regular_t_D3DAF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20856" y="4785822"/>
            <a:ext cx="219456" cy="219456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85800" y="457200"/>
            <a:ext cx="8449056" cy="90425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937"/>
                </a:solidFill>
                <a:latin typeface="Meiryo UI"/>
              </a:rPr>
              <a:t>Notebook version history adds built-in change tracking for iterative analytical work</a:t>
            </a:r>
          </a:p>
        </p:txBody>
      </p:sp>
      <p:sp>
        <p:nvSpPr>
          <p:cNvPr id="3" name="key_message"/>
          <p:cNvSpPr txBox="1"/>
          <p:nvPr/>
        </p:nvSpPr>
        <p:spPr>
          <a:xfrm>
            <a:off x="685800" y="1521378"/>
            <a:ext cx="8449056" cy="80266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32000"/>
              </a:lnSpc>
            </a:pPr>
            <a:r>
              <a:rPr sz="1550" b="0">
                <a:solidFill>
                  <a:srgbClr val="1F2937"/>
                </a:solidFill>
                <a:latin typeface="Meiryo UI"/>
              </a:rPr>
              <a:t>The June 2025 GA of notebook version history strengthens collaboration because teams can track, checkpoint, and revisit notebook changes inside Fabric.</a:t>
            </a:r>
          </a:p>
        </p:txBody>
      </p:sp>
      <p:sp>
        <p:nvSpPr>
          <p:cNvPr id="4" name="card_0"/>
          <p:cNvSpPr/>
          <p:nvPr/>
        </p:nvSpPr>
        <p:spPr>
          <a:xfrm>
            <a:off x="457200" y="2685227"/>
            <a:ext cx="5486400" cy="1316736"/>
          </a:xfrm>
          <a:prstGeom prst="roundRect">
            <a:avLst/>
          </a:prstGeom>
          <a:solidFill>
            <a:srgbClr val="F2F5FF">
              <a:alpha val="90000"/>
            </a:srgbClr>
          </a:solidFill>
          <a:ln w="6350">
            <a:solidFill>
              <a:srgbClr val="F2F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493776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50" b="1">
                <a:solidFill>
                  <a:srgbClr val="1F2937"/>
                </a:solidFill>
                <a:latin typeface="Meiryo UI"/>
              </a:rPr>
              <a:t>Notebook version history reached GA in June 2025</a:t>
            </a:r>
          </a:p>
        </p:txBody>
      </p:sp>
      <p:pic>
        <p:nvPicPr>
          <p:cNvPr id="5" name="design_icon_Picture 4" descr="notebook-24-regular_F2F5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" y="2776667"/>
            <a:ext cx="310896" cy="310896"/>
          </a:xfrm>
          <a:prstGeom prst="rect">
            <a:avLst/>
          </a:prstGeom>
        </p:spPr>
      </p:pic>
      <p:sp>
        <p:nvSpPr>
          <p:cNvPr id="6" name="card_1"/>
          <p:cNvSpPr/>
          <p:nvPr/>
        </p:nvSpPr>
        <p:spPr>
          <a:xfrm>
            <a:off x="6236208" y="2685227"/>
            <a:ext cx="5486400" cy="1316736"/>
          </a:xfrm>
          <a:prstGeom prst="roundRect">
            <a:avLst/>
          </a:prstGeom>
          <a:solidFill>
            <a:srgbClr val="F2F4FE">
              <a:alpha val="90000"/>
            </a:srgbClr>
          </a:solidFill>
          <a:ln w="6350">
            <a:solidFill>
              <a:srgbClr val="F2F4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493776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50" b="1">
                <a:solidFill>
                  <a:srgbClr val="1F2937"/>
                </a:solidFill>
                <a:latin typeface="Meiryo UI"/>
              </a:rPr>
              <a:t>The feature includes automatic and manual checkpoints plus tracked changes</a:t>
            </a:r>
          </a:p>
        </p:txBody>
      </p:sp>
      <p:pic>
        <p:nvPicPr>
          <p:cNvPr id="7" name="design_icon_Picture 6" descr="notebook-24-regular_F2F4F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4224" y="2776667"/>
            <a:ext cx="310896" cy="310896"/>
          </a:xfrm>
          <a:prstGeom prst="rect">
            <a:avLst/>
          </a:prstGeom>
        </p:spPr>
      </p:pic>
      <p:sp>
        <p:nvSpPr>
          <p:cNvPr id="8" name="card_2"/>
          <p:cNvSpPr/>
          <p:nvPr/>
        </p:nvSpPr>
        <p:spPr>
          <a:xfrm>
            <a:off x="457200" y="4257995"/>
            <a:ext cx="5486400" cy="1316736"/>
          </a:xfrm>
          <a:prstGeom prst="roundRect">
            <a:avLst/>
          </a:prstGeom>
          <a:solidFill>
            <a:srgbClr val="F2F5FF">
              <a:alpha val="90000"/>
            </a:srgbClr>
          </a:solidFill>
          <a:ln w="6350">
            <a:solidFill>
              <a:srgbClr val="F2F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493776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50" b="1">
                <a:solidFill>
                  <a:srgbClr val="1F2937"/>
                </a:solidFill>
                <a:latin typeface="Meiryo UI"/>
              </a:rPr>
              <a:t>Built-in history lowers the operational risk of notebook-heavy development</a:t>
            </a:r>
          </a:p>
        </p:txBody>
      </p:sp>
      <p:pic>
        <p:nvPicPr>
          <p:cNvPr id="9" name="design_icon_Picture 8" descr="notebook-24-regular_F2F5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" y="4349435"/>
            <a:ext cx="310896" cy="310896"/>
          </a:xfrm>
          <a:prstGeom prst="rect">
            <a:avLst/>
          </a:prstGeom>
        </p:spPr>
      </p:pic>
      <p:pic>
        <p:nvPicPr>
          <p:cNvPr id="10" name="icon_Picture 9" descr="notebook-24-regular_DDE4F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85832" y="68580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85800" y="457200"/>
            <a:ext cx="8449056" cy="90425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937"/>
                </a:solidFill>
                <a:latin typeface="Meiryo UI"/>
              </a:rPr>
              <a:t>T-SQL notebooks make SQL analysis more collaborative and repeatable</a:t>
            </a:r>
          </a:p>
        </p:txBody>
      </p:sp>
      <p:sp>
        <p:nvSpPr>
          <p:cNvPr id="3" name="key_message"/>
          <p:cNvSpPr txBox="1"/>
          <p:nvPr/>
        </p:nvSpPr>
        <p:spPr>
          <a:xfrm>
            <a:off x="685800" y="1526042"/>
            <a:ext cx="8449056" cy="58677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32000"/>
              </a:lnSpc>
            </a:pPr>
            <a:r>
              <a:rPr sz="1490" b="0">
                <a:solidFill>
                  <a:srgbClr val="1F2937"/>
                </a:solidFill>
                <a:latin typeface="Meiryo UI"/>
              </a:rPr>
              <a:t>June 2025 GA for T-SQL notebooks matters because it gives SQL users a more iterative and documentable way to work inside the Fabric platform.</a:t>
            </a:r>
          </a:p>
        </p:txBody>
      </p:sp>
      <p:sp>
        <p:nvSpPr>
          <p:cNvPr id="4" name="bullet_0"/>
          <p:cNvSpPr/>
          <p:nvPr/>
        </p:nvSpPr>
        <p:spPr>
          <a:xfrm>
            <a:off x="457200" y="2478572"/>
            <a:ext cx="11274552" cy="997964"/>
          </a:xfrm>
          <a:prstGeom prst="roundRect">
            <a:avLst/>
          </a:prstGeom>
          <a:solidFill>
            <a:srgbClr val="D3DAFD">
              <a:alpha val="90000"/>
            </a:srgbClr>
          </a:solidFill>
          <a:ln w="6350">
            <a:solidFill>
              <a:srgbClr val="D3DA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28016" tIns="164592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00" b="1">
                <a:solidFill>
                  <a:srgbClr val="1F2937"/>
                </a:solidFill>
                <a:latin typeface="Meiryo UI"/>
              </a:rPr>
              <a:t>T-SQL notebooks reached GA in June 2025</a:t>
            </a:r>
          </a:p>
        </p:txBody>
      </p:sp>
      <p:sp>
        <p:nvSpPr>
          <p:cNvPr id="5" name="design_stripe_0"/>
          <p:cNvSpPr/>
          <p:nvPr/>
        </p:nvSpPr>
        <p:spPr>
          <a:xfrm>
            <a:off x="457200" y="2478572"/>
            <a:ext cx="73152" cy="997964"/>
          </a:xfrm>
          <a:prstGeom prst="rect">
            <a:avLst/>
          </a:prstGeom>
          <a:solidFill>
            <a:srgbClr val="D3DA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design_icon_Picture 5" descr="checkmark-24-regular_t_D3DA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20856" y="2570012"/>
            <a:ext cx="219456" cy="219456"/>
          </a:xfrm>
          <a:prstGeom prst="rect">
            <a:avLst/>
          </a:prstGeom>
        </p:spPr>
      </p:pic>
      <p:sp>
        <p:nvSpPr>
          <p:cNvPr id="7" name="bullet_1"/>
          <p:cNvSpPr/>
          <p:nvPr/>
        </p:nvSpPr>
        <p:spPr>
          <a:xfrm>
            <a:off x="457200" y="3529224"/>
            <a:ext cx="11274552" cy="997964"/>
          </a:xfrm>
          <a:prstGeom prst="roundRect">
            <a:avLst/>
          </a:prstGeom>
          <a:solidFill>
            <a:srgbClr val="FFE4F6">
              <a:alpha val="90000"/>
            </a:srgbClr>
          </a:solidFill>
          <a:ln w="6350">
            <a:solidFill>
              <a:srgbClr val="FFE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28016" tIns="164592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00" b="1">
                <a:solidFill>
                  <a:srgbClr val="1F2937"/>
                </a:solidFill>
                <a:latin typeface="Meiryo UI"/>
              </a:rPr>
              <a:t>The capability extends notebook-style workflows beyond Spark or code-first users</a:t>
            </a:r>
          </a:p>
        </p:txBody>
      </p:sp>
      <p:sp>
        <p:nvSpPr>
          <p:cNvPr id="8" name="design_stripe_1"/>
          <p:cNvSpPr/>
          <p:nvPr/>
        </p:nvSpPr>
        <p:spPr>
          <a:xfrm>
            <a:off x="457200" y="3529224"/>
            <a:ext cx="73152" cy="997964"/>
          </a:xfrm>
          <a:prstGeom prst="rect">
            <a:avLst/>
          </a:prstGeom>
          <a:solidFill>
            <a:srgbClr val="FFE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design_icon_Picture 8" descr="checkmark-24-regular_t_FFE4F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0856" y="3620664"/>
            <a:ext cx="219456" cy="219456"/>
          </a:xfrm>
          <a:prstGeom prst="rect">
            <a:avLst/>
          </a:prstGeom>
        </p:spPr>
      </p:pic>
      <p:sp>
        <p:nvSpPr>
          <p:cNvPr id="10" name="bullet_2"/>
          <p:cNvSpPr/>
          <p:nvPr/>
        </p:nvSpPr>
        <p:spPr>
          <a:xfrm>
            <a:off x="457200" y="4579875"/>
            <a:ext cx="11274552" cy="997964"/>
          </a:xfrm>
          <a:prstGeom prst="roundRect">
            <a:avLst/>
          </a:prstGeom>
          <a:solidFill>
            <a:srgbClr val="FFF3FA">
              <a:alpha val="90000"/>
            </a:srgbClr>
          </a:solidFill>
          <a:ln w="6350">
            <a:solidFill>
              <a:srgbClr val="FFF3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28016" tIns="164592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00" b="1">
                <a:solidFill>
                  <a:srgbClr val="1F2937"/>
                </a:solidFill>
                <a:latin typeface="Meiryo UI"/>
              </a:rPr>
              <a:t>It strengthens Fabric’s position with teams that want SQL analysis plus narrative context in one artifact</a:t>
            </a:r>
          </a:p>
        </p:txBody>
      </p:sp>
      <p:sp>
        <p:nvSpPr>
          <p:cNvPr id="11" name="design_stripe_2"/>
          <p:cNvSpPr/>
          <p:nvPr/>
        </p:nvSpPr>
        <p:spPr>
          <a:xfrm>
            <a:off x="457200" y="4579875"/>
            <a:ext cx="73152" cy="997964"/>
          </a:xfrm>
          <a:prstGeom prst="rect">
            <a:avLst/>
          </a:prstGeom>
          <a:solidFill>
            <a:srgbClr val="FF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design_icon_Picture 11" descr="checkmark-24-regular_t_FFF3F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20856" y="4671315"/>
            <a:ext cx="219456" cy="219456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85800" y="457200"/>
            <a:ext cx="8449056" cy="125986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937"/>
                </a:solidFill>
                <a:latin typeface="Meiryo UI"/>
              </a:rPr>
              <a:t>Spark-to-warehouse interoperability reduces the friction between engineering and BI teams</a:t>
            </a:r>
          </a:p>
        </p:txBody>
      </p:sp>
      <p:sp>
        <p:nvSpPr>
          <p:cNvPr id="3" name="key_message"/>
          <p:cNvSpPr txBox="1"/>
          <p:nvPr/>
        </p:nvSpPr>
        <p:spPr>
          <a:xfrm>
            <a:off x="685800" y="1790212"/>
            <a:ext cx="8449056" cy="347472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32000"/>
              </a:lnSpc>
            </a:pPr>
            <a:r>
              <a:rPr sz="1430" b="0">
                <a:solidFill>
                  <a:srgbClr val="1F2937"/>
                </a:solidFill>
                <a:latin typeface="Meiryo UI"/>
              </a:rPr>
              <a:t>Features such as the Fabric Spark connector and session-scoped distributed temp tables help bridge engineering and warehouse operating styles inside one platform.</a:t>
            </a:r>
          </a:p>
        </p:txBody>
      </p:sp>
      <p:sp>
        <p:nvSpPr>
          <p:cNvPr id="4" name="card_0"/>
          <p:cNvSpPr/>
          <p:nvPr/>
        </p:nvSpPr>
        <p:spPr>
          <a:xfrm>
            <a:off x="457200" y="2441448"/>
            <a:ext cx="5486400" cy="1581912"/>
          </a:xfrm>
          <a:prstGeom prst="roundRect">
            <a:avLst/>
          </a:prstGeom>
          <a:solidFill>
            <a:srgbClr val="FFF5FC">
              <a:alpha val="90000"/>
            </a:srgbClr>
          </a:solidFill>
          <a:ln w="6350">
            <a:solidFill>
              <a:srgbClr val="FFF5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530900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50" b="1">
                <a:solidFill>
                  <a:srgbClr val="1F2937"/>
                </a:solidFill>
                <a:latin typeface="Meiryo UI"/>
              </a:rPr>
              <a:t>The Fabric Spark connector for Fabric Data Warehouse in Spark runtime appeared in April 2025</a:t>
            </a:r>
          </a:p>
        </p:txBody>
      </p:sp>
      <p:pic>
        <p:nvPicPr>
          <p:cNvPr id="5" name="design_icon_Picture 4" descr="sparkle-24-regular_t_FFF5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" y="2532888"/>
            <a:ext cx="348020" cy="348020"/>
          </a:xfrm>
          <a:prstGeom prst="rect">
            <a:avLst/>
          </a:prstGeom>
        </p:spPr>
      </p:pic>
      <p:sp>
        <p:nvSpPr>
          <p:cNvPr id="6" name="card_1"/>
          <p:cNvSpPr/>
          <p:nvPr/>
        </p:nvSpPr>
        <p:spPr>
          <a:xfrm>
            <a:off x="6236208" y="2441448"/>
            <a:ext cx="5486400" cy="1581912"/>
          </a:xfrm>
          <a:prstGeom prst="roundRect">
            <a:avLst/>
          </a:prstGeom>
          <a:solidFill>
            <a:srgbClr val="FFFBFE">
              <a:alpha val="90000"/>
            </a:srgbClr>
          </a:solidFill>
          <a:ln w="6350">
            <a:solidFill>
              <a:srgbClr val="FFF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530900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50" b="1">
                <a:solidFill>
                  <a:srgbClr val="1F2937"/>
                </a:solidFill>
                <a:latin typeface="Meiryo UI"/>
              </a:rPr>
              <a:t>Session-scoped distributed #temp tables also appeared in April 2025</a:t>
            </a:r>
          </a:p>
        </p:txBody>
      </p:sp>
      <p:pic>
        <p:nvPicPr>
          <p:cNvPr id="7" name="design_icon_Picture 6" descr="sparkle-24-regular_t_FFFBF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4224" y="2532888"/>
            <a:ext cx="348020" cy="348020"/>
          </a:xfrm>
          <a:prstGeom prst="rect">
            <a:avLst/>
          </a:prstGeom>
        </p:spPr>
      </p:pic>
      <p:sp>
        <p:nvSpPr>
          <p:cNvPr id="8" name="card_2"/>
          <p:cNvSpPr/>
          <p:nvPr/>
        </p:nvSpPr>
        <p:spPr>
          <a:xfrm>
            <a:off x="457200" y="4279392"/>
            <a:ext cx="5486400" cy="1581912"/>
          </a:xfrm>
          <a:prstGeom prst="roundRect">
            <a:avLst/>
          </a:prstGeom>
          <a:solidFill>
            <a:srgbClr val="FFF5FC">
              <a:alpha val="90000"/>
            </a:srgbClr>
          </a:solidFill>
          <a:ln w="6350">
            <a:solidFill>
              <a:srgbClr val="FFF5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530900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50" b="1">
                <a:solidFill>
                  <a:srgbClr val="1F2937"/>
                </a:solidFill>
                <a:latin typeface="Meiryo UI"/>
              </a:rPr>
              <a:t>Together these features improve the handoff between Spark-based work and warehouse-based consumption</a:t>
            </a:r>
          </a:p>
        </p:txBody>
      </p:sp>
      <p:pic>
        <p:nvPicPr>
          <p:cNvPr id="9" name="design_icon_Picture 8" descr="sparkle-24-regular_t_FFF5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" y="4370831"/>
            <a:ext cx="348020" cy="34802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85800" y="457200"/>
            <a:ext cx="8449056" cy="1336029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937"/>
                </a:solidFill>
                <a:latin typeface="Meiryo UI"/>
              </a:rPr>
              <a:t>JSON aggregates and schema-change commands close important SQL ergonomics gaps</a:t>
            </a:r>
          </a:p>
        </p:txBody>
      </p:sp>
      <p:sp>
        <p:nvSpPr>
          <p:cNvPr id="3" name="key_message"/>
          <p:cNvSpPr txBox="1"/>
          <p:nvPr/>
        </p:nvSpPr>
        <p:spPr>
          <a:xfrm>
            <a:off x="685800" y="1957821"/>
            <a:ext cx="8449056" cy="853409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32000"/>
              </a:lnSpc>
            </a:pPr>
            <a:r>
              <a:rPr sz="1550" b="0">
                <a:solidFill>
                  <a:srgbClr val="1F2937"/>
                </a:solidFill>
                <a:latin typeface="Meiryo UI"/>
              </a:rPr>
              <a:t>May 2025 SQL additions such as JSON aggregates, ALTER TABLE DROP COLUMN, and sp_rename COLUMN make Fabric Warehouse more credible for day-to-day SQL work.</a:t>
            </a:r>
          </a:p>
        </p:txBody>
      </p:sp>
      <p:sp>
        <p:nvSpPr>
          <p:cNvPr id="4" name="bullet_0"/>
          <p:cNvSpPr/>
          <p:nvPr/>
        </p:nvSpPr>
        <p:spPr>
          <a:xfrm>
            <a:off x="457200" y="3176991"/>
            <a:ext cx="11274552" cy="773073"/>
          </a:xfrm>
          <a:prstGeom prst="roundRect">
            <a:avLst/>
          </a:prstGeom>
          <a:solidFill>
            <a:srgbClr val="FFF3FA">
              <a:alpha val="90000"/>
            </a:srgbClr>
          </a:solidFill>
          <a:ln w="6350">
            <a:solidFill>
              <a:srgbClr val="FFF3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28016" tIns="164592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00" b="1">
                <a:solidFill>
                  <a:srgbClr val="1F2937"/>
                </a:solidFill>
                <a:latin typeface="Meiryo UI"/>
              </a:rPr>
              <a:t>JSON_ARRAYAGG and JSON_OBJECTAGG became generally available in May 2025</a:t>
            </a:r>
          </a:p>
        </p:txBody>
      </p:sp>
      <p:sp>
        <p:nvSpPr>
          <p:cNvPr id="5" name="design_stripe_0"/>
          <p:cNvSpPr/>
          <p:nvPr/>
        </p:nvSpPr>
        <p:spPr>
          <a:xfrm>
            <a:off x="457200" y="3176991"/>
            <a:ext cx="73152" cy="773073"/>
          </a:xfrm>
          <a:prstGeom prst="rect">
            <a:avLst/>
          </a:prstGeom>
          <a:solidFill>
            <a:srgbClr val="FF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design_icon_Picture 5" descr="code-24-regular_FFF3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20856" y="3268431"/>
            <a:ext cx="219456" cy="219456"/>
          </a:xfrm>
          <a:prstGeom prst="rect">
            <a:avLst/>
          </a:prstGeom>
        </p:spPr>
      </p:pic>
      <p:sp>
        <p:nvSpPr>
          <p:cNvPr id="7" name="bullet_1"/>
          <p:cNvSpPr/>
          <p:nvPr/>
        </p:nvSpPr>
        <p:spPr>
          <a:xfrm>
            <a:off x="457200" y="3990879"/>
            <a:ext cx="11274552" cy="773073"/>
          </a:xfrm>
          <a:prstGeom prst="roundRect">
            <a:avLst/>
          </a:prstGeom>
          <a:solidFill>
            <a:srgbClr val="E4FEEF">
              <a:alpha val="90000"/>
            </a:srgbClr>
          </a:solidFill>
          <a:ln w="6350">
            <a:solidFill>
              <a:srgbClr val="E4FE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28016" tIns="164592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00" b="1">
                <a:solidFill>
                  <a:srgbClr val="1F2937"/>
                </a:solidFill>
                <a:latin typeface="Meiryo UI"/>
              </a:rPr>
              <a:t>ALTER TABLE DROP COLUMN and sp_rename COLUMN support also arrived in May 2025</a:t>
            </a:r>
          </a:p>
        </p:txBody>
      </p:sp>
      <p:sp>
        <p:nvSpPr>
          <p:cNvPr id="8" name="design_stripe_1"/>
          <p:cNvSpPr/>
          <p:nvPr/>
        </p:nvSpPr>
        <p:spPr>
          <a:xfrm>
            <a:off x="457200" y="3990879"/>
            <a:ext cx="73152" cy="773073"/>
          </a:xfrm>
          <a:prstGeom prst="rect">
            <a:avLst/>
          </a:prstGeom>
          <a:solidFill>
            <a:srgbClr val="E4F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design_icon_Picture 8" descr="code-24-regular_E4FEE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0856" y="4082319"/>
            <a:ext cx="219456" cy="219456"/>
          </a:xfrm>
          <a:prstGeom prst="rect">
            <a:avLst/>
          </a:prstGeom>
        </p:spPr>
      </p:pic>
      <p:sp>
        <p:nvSpPr>
          <p:cNvPr id="10" name="bullet_2"/>
          <p:cNvSpPr/>
          <p:nvPr/>
        </p:nvSpPr>
        <p:spPr>
          <a:xfrm>
            <a:off x="457200" y="4804766"/>
            <a:ext cx="11274552" cy="773073"/>
          </a:xfrm>
          <a:prstGeom prst="roundRect">
            <a:avLst/>
          </a:prstGeom>
          <a:solidFill>
            <a:srgbClr val="DCFEE9">
              <a:alpha val="90000"/>
            </a:srgbClr>
          </a:solidFill>
          <a:ln w="6350">
            <a:solidFill>
              <a:srgbClr val="DCF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28016" tIns="164592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00" b="1">
                <a:solidFill>
                  <a:srgbClr val="1F2937"/>
                </a:solidFill>
                <a:latin typeface="Meiryo UI"/>
              </a:rPr>
              <a:t>These features reduce the number of edge cases where teams must leave the platform for mature SQL tooling</a:t>
            </a:r>
          </a:p>
        </p:txBody>
      </p:sp>
      <p:sp>
        <p:nvSpPr>
          <p:cNvPr id="11" name="design_stripe_2"/>
          <p:cNvSpPr/>
          <p:nvPr/>
        </p:nvSpPr>
        <p:spPr>
          <a:xfrm>
            <a:off x="457200" y="4804766"/>
            <a:ext cx="73152" cy="773073"/>
          </a:xfrm>
          <a:prstGeom prst="rect">
            <a:avLst/>
          </a:prstGeom>
          <a:solidFill>
            <a:srgbClr val="DCFE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design_icon_Picture 11" descr="code-24-regular_DCFEE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20856" y="4896206"/>
            <a:ext cx="219456" cy="219456"/>
          </a:xfrm>
          <a:prstGeom prst="rect">
            <a:avLst/>
          </a:prstGeom>
        </p:spPr>
      </p:pic>
      <p:pic>
        <p:nvPicPr>
          <p:cNvPr id="13" name="icon_Picture 12" descr="code-24-regular_FFF3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85832" y="68580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85800" y="457200"/>
            <a:ext cx="8449056" cy="1336029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937"/>
                </a:solidFill>
                <a:latin typeface="Meiryo UI"/>
              </a:rPr>
              <a:t>Copilot preview and DOP feedback show Fabric is improving both productivity and query behavior</a:t>
            </a:r>
          </a:p>
        </p:txBody>
      </p:sp>
      <p:sp>
        <p:nvSpPr>
          <p:cNvPr id="3" name="key_message"/>
          <p:cNvSpPr txBox="1"/>
          <p:nvPr/>
        </p:nvSpPr>
        <p:spPr>
          <a:xfrm>
            <a:off x="685800" y="1866381"/>
            <a:ext cx="8449056" cy="347472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32000"/>
              </a:lnSpc>
            </a:pPr>
            <a:r>
              <a:rPr sz="1430" b="0">
                <a:solidFill>
                  <a:srgbClr val="1F2937"/>
                </a:solidFill>
                <a:latin typeface="Meiryo UI"/>
              </a:rPr>
              <a:t>The May to July 2025 release stream suggests Fabric is investing at the same time in user productivity and SQL engine optimization.</a:t>
            </a:r>
          </a:p>
        </p:txBody>
      </p:sp>
      <p:sp>
        <p:nvSpPr>
          <p:cNvPr id="4" name="card_0"/>
          <p:cNvSpPr/>
          <p:nvPr/>
        </p:nvSpPr>
        <p:spPr>
          <a:xfrm>
            <a:off x="457200" y="2488173"/>
            <a:ext cx="5486400" cy="1581912"/>
          </a:xfrm>
          <a:prstGeom prst="roundRect">
            <a:avLst/>
          </a:prstGeom>
          <a:solidFill>
            <a:srgbClr val="F5FFF9">
              <a:alpha val="90000"/>
            </a:srgbClr>
          </a:solidFill>
          <a:ln w="6350">
            <a:solidFill>
              <a:srgbClr val="F5FF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530900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50" b="1">
                <a:solidFill>
                  <a:srgbClr val="1F2937"/>
                </a:solidFill>
                <a:latin typeface="Meiryo UI"/>
              </a:rPr>
              <a:t>Copilot for SQL analytics endpoint entered preview in May 2025 to help generate and optimize queries with natural language</a:t>
            </a:r>
          </a:p>
        </p:txBody>
      </p:sp>
      <p:pic>
        <p:nvPicPr>
          <p:cNvPr id="5" name="design_icon_Picture 4" descr="sparkle-24-regular_t_F5FF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" y="2579613"/>
            <a:ext cx="348020" cy="348020"/>
          </a:xfrm>
          <a:prstGeom prst="rect">
            <a:avLst/>
          </a:prstGeom>
        </p:spPr>
      </p:pic>
      <p:sp>
        <p:nvSpPr>
          <p:cNvPr id="6" name="card_1"/>
          <p:cNvSpPr/>
          <p:nvPr/>
        </p:nvSpPr>
        <p:spPr>
          <a:xfrm>
            <a:off x="6236208" y="2488173"/>
            <a:ext cx="5486400" cy="1581912"/>
          </a:xfrm>
          <a:prstGeom prst="roundRect">
            <a:avLst/>
          </a:prstGeom>
          <a:solidFill>
            <a:srgbClr val="F4FFF8">
              <a:alpha val="90000"/>
            </a:srgbClr>
          </a:solidFill>
          <a:ln w="6350">
            <a:solidFill>
              <a:srgbClr val="F4F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530900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50" b="1">
                <a:solidFill>
                  <a:srgbClr val="1F2937"/>
                </a:solidFill>
                <a:latin typeface="Meiryo UI"/>
              </a:rPr>
              <a:t>DOP feedback in SQL database reached GA in July 2025</a:t>
            </a:r>
          </a:p>
        </p:txBody>
      </p:sp>
      <p:pic>
        <p:nvPicPr>
          <p:cNvPr id="7" name="design_icon_Picture 6" descr="sparkle-24-regular_t_F4FFF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4224" y="2579613"/>
            <a:ext cx="348020" cy="348020"/>
          </a:xfrm>
          <a:prstGeom prst="rect">
            <a:avLst/>
          </a:prstGeom>
        </p:spPr>
      </p:pic>
      <p:sp>
        <p:nvSpPr>
          <p:cNvPr id="8" name="card_2"/>
          <p:cNvSpPr/>
          <p:nvPr/>
        </p:nvSpPr>
        <p:spPr>
          <a:xfrm>
            <a:off x="457200" y="4326117"/>
            <a:ext cx="5486400" cy="1581912"/>
          </a:xfrm>
          <a:prstGeom prst="roundRect">
            <a:avLst/>
          </a:prstGeom>
          <a:solidFill>
            <a:srgbClr val="F5FFF9">
              <a:alpha val="90000"/>
            </a:srgbClr>
          </a:solidFill>
          <a:ln w="6350">
            <a:solidFill>
              <a:srgbClr val="F5FF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530900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50" b="1">
                <a:solidFill>
                  <a:srgbClr val="1F2937"/>
                </a:solidFill>
                <a:latin typeface="Meiryo UI"/>
              </a:rPr>
              <a:t>The combination supports both easier authoring and smarter execution</a:t>
            </a:r>
          </a:p>
        </p:txBody>
      </p:sp>
      <p:pic>
        <p:nvPicPr>
          <p:cNvPr id="9" name="design_icon_Picture 8" descr="sparkle-24-regular_t_F5FF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" y="4417557"/>
            <a:ext cx="348020" cy="34802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1033271" y="2224735"/>
            <a:ext cx="8193024" cy="160276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12000"/>
              </a:lnSpc>
            </a:pPr>
            <a:r>
              <a:rPr sz="3300" b="1">
                <a:solidFill>
                  <a:srgbClr val="1F2937"/>
                </a:solidFill>
                <a:latin typeface="Meiryo UI"/>
              </a:rPr>
              <a:t>Governed operations make the unified platform credible for enterprise rollout</a:t>
            </a:r>
          </a:p>
        </p:txBody>
      </p:sp>
      <p:sp>
        <p:nvSpPr>
          <p:cNvPr id="3" name="key_message"/>
          <p:cNvSpPr txBox="1"/>
          <p:nvPr/>
        </p:nvSpPr>
        <p:spPr>
          <a:xfrm>
            <a:off x="1033271" y="4470410"/>
            <a:ext cx="8193024" cy="1107429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32000"/>
              </a:lnSpc>
            </a:pPr>
            <a:r>
              <a:rPr sz="1800" b="0">
                <a:solidFill>
                  <a:srgbClr val="1F2937"/>
                </a:solidFill>
                <a:latin typeface="Meiryo UI"/>
              </a:rPr>
              <a:t>Fabric’s third branch matters because enterprise standardization depends on secure collaboration, operational controls, and auditable change paths.</a:t>
            </a:r>
          </a:p>
        </p:txBody>
      </p:sp>
      <p:pic>
        <p:nvPicPr>
          <p:cNvPr id="4" name="icon_Picture 3" descr="shield-24-regular_t_DCFEE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4432" y="45720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85800" y="457200"/>
            <a:ext cx="8449056" cy="1336029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937"/>
                </a:solidFill>
                <a:latin typeface="Meiryo UI"/>
              </a:rPr>
              <a:t>Workspaces act as the control plane for collaboration, ownership, and lifecycle management</a:t>
            </a:r>
          </a:p>
        </p:txBody>
      </p:sp>
      <p:sp>
        <p:nvSpPr>
          <p:cNvPr id="3" name="key_message"/>
          <p:cNvSpPr txBox="1"/>
          <p:nvPr/>
        </p:nvSpPr>
        <p:spPr>
          <a:xfrm>
            <a:off x="685800" y="1957821"/>
            <a:ext cx="8449056" cy="58677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32000"/>
              </a:lnSpc>
            </a:pPr>
            <a:r>
              <a:rPr sz="1490" b="0">
                <a:solidFill>
                  <a:srgbClr val="1F2937"/>
                </a:solidFill>
                <a:latin typeface="Meiryo UI"/>
              </a:rPr>
              <a:t>Fabric operationalizes governance by making the workspace the central boundary for related items, shared ownership, and access administration.</a:t>
            </a:r>
          </a:p>
        </p:txBody>
      </p:sp>
      <p:sp>
        <p:nvSpPr>
          <p:cNvPr id="4" name="bullet_0"/>
          <p:cNvSpPr/>
          <p:nvPr/>
        </p:nvSpPr>
        <p:spPr>
          <a:xfrm>
            <a:off x="457200" y="2910352"/>
            <a:ext cx="11274552" cy="858931"/>
          </a:xfrm>
          <a:prstGeom prst="roundRect">
            <a:avLst/>
          </a:prstGeom>
          <a:solidFill>
            <a:srgbClr val="DDE4FE">
              <a:alpha val="90000"/>
            </a:srgbClr>
          </a:solidFill>
          <a:ln w="6350">
            <a:solidFill>
              <a:srgbClr val="DDE4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28016" tIns="164592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00" b="1">
                <a:solidFill>
                  <a:srgbClr val="1F2937"/>
                </a:solidFill>
                <a:latin typeface="Meiryo UI"/>
              </a:rPr>
              <a:t>The documentation describes a workspace as a collaborative container for related items</a:t>
            </a:r>
          </a:p>
        </p:txBody>
      </p:sp>
      <p:sp>
        <p:nvSpPr>
          <p:cNvPr id="5" name="design_stripe_0"/>
          <p:cNvSpPr/>
          <p:nvPr/>
        </p:nvSpPr>
        <p:spPr>
          <a:xfrm>
            <a:off x="457200" y="2910352"/>
            <a:ext cx="73152" cy="858931"/>
          </a:xfrm>
          <a:prstGeom prst="rect">
            <a:avLst/>
          </a:prstGeom>
          <a:solidFill>
            <a:srgbClr val="DDE4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design_icon_Picture 5" descr="folder-24-regular_t_DDE4F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20856" y="3001792"/>
            <a:ext cx="219456" cy="219456"/>
          </a:xfrm>
          <a:prstGeom prst="rect">
            <a:avLst/>
          </a:prstGeom>
        </p:spPr>
      </p:pic>
      <p:sp>
        <p:nvSpPr>
          <p:cNvPr id="7" name="bullet_1"/>
          <p:cNvSpPr/>
          <p:nvPr/>
        </p:nvSpPr>
        <p:spPr>
          <a:xfrm>
            <a:off x="457200" y="3814630"/>
            <a:ext cx="11274552" cy="858931"/>
          </a:xfrm>
          <a:prstGeom prst="roundRect">
            <a:avLst/>
          </a:prstGeom>
          <a:solidFill>
            <a:srgbClr val="D3DAFD">
              <a:alpha val="90000"/>
            </a:srgbClr>
          </a:solidFill>
          <a:ln w="6350">
            <a:solidFill>
              <a:srgbClr val="D3DA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28016" tIns="164592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00" b="1">
                <a:solidFill>
                  <a:srgbClr val="1F2937"/>
                </a:solidFill>
                <a:latin typeface="Meiryo UI"/>
              </a:rPr>
              <a:t>Users open and navigate Fabric through workspaces as a primary organizing unit</a:t>
            </a:r>
          </a:p>
        </p:txBody>
      </p:sp>
      <p:sp>
        <p:nvSpPr>
          <p:cNvPr id="8" name="design_stripe_1"/>
          <p:cNvSpPr/>
          <p:nvPr/>
        </p:nvSpPr>
        <p:spPr>
          <a:xfrm>
            <a:off x="457200" y="3814630"/>
            <a:ext cx="73152" cy="858931"/>
          </a:xfrm>
          <a:prstGeom prst="rect">
            <a:avLst/>
          </a:prstGeom>
          <a:solidFill>
            <a:srgbClr val="D3DA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design_icon_Picture 8" descr="folder-24-regular_t_D3DAF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0856" y="3906070"/>
            <a:ext cx="219456" cy="219456"/>
          </a:xfrm>
          <a:prstGeom prst="rect">
            <a:avLst/>
          </a:prstGeom>
        </p:spPr>
      </p:pic>
      <p:sp>
        <p:nvSpPr>
          <p:cNvPr id="10" name="bullet_2"/>
          <p:cNvSpPr/>
          <p:nvPr/>
        </p:nvSpPr>
        <p:spPr>
          <a:xfrm>
            <a:off x="457200" y="4718908"/>
            <a:ext cx="11274552" cy="858931"/>
          </a:xfrm>
          <a:prstGeom prst="roundRect">
            <a:avLst/>
          </a:prstGeom>
          <a:solidFill>
            <a:srgbClr val="FFE4F6">
              <a:alpha val="90000"/>
            </a:srgbClr>
          </a:solidFill>
          <a:ln w="6350">
            <a:solidFill>
              <a:srgbClr val="FFE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28016" tIns="164592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00" b="1">
                <a:solidFill>
                  <a:srgbClr val="1F2937"/>
                </a:solidFill>
                <a:latin typeface="Meiryo UI"/>
              </a:rPr>
              <a:t>This creates a clear governance boundary that is understandable to both admins and end users</a:t>
            </a:r>
          </a:p>
        </p:txBody>
      </p:sp>
      <p:sp>
        <p:nvSpPr>
          <p:cNvPr id="11" name="design_stripe_2"/>
          <p:cNvSpPr/>
          <p:nvPr/>
        </p:nvSpPr>
        <p:spPr>
          <a:xfrm>
            <a:off x="457200" y="4718908"/>
            <a:ext cx="73152" cy="858931"/>
          </a:xfrm>
          <a:prstGeom prst="rect">
            <a:avLst/>
          </a:prstGeom>
          <a:solidFill>
            <a:srgbClr val="FFE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design_icon_Picture 11" descr="folder-24-regular_t_FFE4F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20856" y="4810348"/>
            <a:ext cx="219456" cy="219456"/>
          </a:xfrm>
          <a:prstGeom prst="rect">
            <a:avLst/>
          </a:prstGeom>
        </p:spPr>
      </p:pic>
      <p:pic>
        <p:nvPicPr>
          <p:cNvPr id="13" name="icon_Picture 12" descr="folder-24-regular_t_DDE4F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85832" y="68580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85800" y="457200"/>
            <a:ext cx="8449056" cy="1336029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937"/>
                </a:solidFill>
                <a:latin typeface="Meiryo UI"/>
              </a:rPr>
              <a:t>Role-based access and item-level sharing support both broad and narrow collaboration patterns</a:t>
            </a:r>
          </a:p>
        </p:txBody>
      </p:sp>
      <p:sp>
        <p:nvSpPr>
          <p:cNvPr id="3" name="key_message"/>
          <p:cNvSpPr txBox="1"/>
          <p:nvPr/>
        </p:nvSpPr>
        <p:spPr>
          <a:xfrm>
            <a:off x="685800" y="1866381"/>
            <a:ext cx="8449056" cy="853409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32000"/>
              </a:lnSpc>
            </a:pPr>
            <a:r>
              <a:rPr sz="1550" b="0">
                <a:solidFill>
                  <a:srgbClr val="1F2937"/>
                </a:solidFill>
                <a:latin typeface="Meiryo UI"/>
              </a:rPr>
              <a:t>Fabric is more enterprise-ready because it supports full-workspace roles while also allowing narrower item-level sharing when broader access is unnecessary.</a:t>
            </a:r>
          </a:p>
        </p:txBody>
      </p:sp>
      <p:sp>
        <p:nvSpPr>
          <p:cNvPr id="4" name="card_0"/>
          <p:cNvSpPr/>
          <p:nvPr/>
        </p:nvSpPr>
        <p:spPr>
          <a:xfrm>
            <a:off x="457200" y="2994111"/>
            <a:ext cx="5486400" cy="1316736"/>
          </a:xfrm>
          <a:prstGeom prst="roundRect">
            <a:avLst/>
          </a:prstGeom>
          <a:solidFill>
            <a:srgbClr val="EEF1FE">
              <a:alpha val="90000"/>
            </a:srgbClr>
          </a:solidFill>
          <a:ln w="6350">
            <a:solidFill>
              <a:srgbClr val="EEF1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493776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50" b="1">
                <a:solidFill>
                  <a:srgbClr val="1F2937"/>
                </a:solidFill>
                <a:latin typeface="Meiryo UI"/>
              </a:rPr>
              <a:t>Workspace roles govern broad access across a collaborative container</a:t>
            </a:r>
          </a:p>
        </p:txBody>
      </p:sp>
      <p:pic>
        <p:nvPicPr>
          <p:cNvPr id="5" name="design_icon_Picture 4" descr="key-24-regular_t_EEF1F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" y="3085551"/>
            <a:ext cx="310896" cy="310896"/>
          </a:xfrm>
          <a:prstGeom prst="rect">
            <a:avLst/>
          </a:prstGeom>
        </p:spPr>
      </p:pic>
      <p:sp>
        <p:nvSpPr>
          <p:cNvPr id="6" name="card_1"/>
          <p:cNvSpPr/>
          <p:nvPr/>
        </p:nvSpPr>
        <p:spPr>
          <a:xfrm>
            <a:off x="6236208" y="2994111"/>
            <a:ext cx="5486400" cy="1316736"/>
          </a:xfrm>
          <a:prstGeom prst="roundRect">
            <a:avLst/>
          </a:prstGeom>
          <a:solidFill>
            <a:srgbClr val="FFF7FC">
              <a:alpha val="90000"/>
            </a:srgbClr>
          </a:solidFill>
          <a:ln w="6350">
            <a:solidFill>
              <a:srgbClr val="FFF7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493776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50" b="1">
                <a:solidFill>
                  <a:srgbClr val="1F2937"/>
                </a:solidFill>
                <a:latin typeface="Meiryo UI"/>
              </a:rPr>
              <a:t>Item-level sharing supports colleagues who need access to only 1 narrower artifact</a:t>
            </a:r>
          </a:p>
        </p:txBody>
      </p:sp>
      <p:pic>
        <p:nvPicPr>
          <p:cNvPr id="7" name="design_icon_Picture 6" descr="key-24-regular_t_FFF7F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4224" y="3085551"/>
            <a:ext cx="310896" cy="310896"/>
          </a:xfrm>
          <a:prstGeom prst="rect">
            <a:avLst/>
          </a:prstGeom>
        </p:spPr>
      </p:pic>
      <p:sp>
        <p:nvSpPr>
          <p:cNvPr id="8" name="card_2"/>
          <p:cNvSpPr/>
          <p:nvPr/>
        </p:nvSpPr>
        <p:spPr>
          <a:xfrm>
            <a:off x="457200" y="4566879"/>
            <a:ext cx="5486400" cy="1316736"/>
          </a:xfrm>
          <a:prstGeom prst="roundRect">
            <a:avLst/>
          </a:prstGeom>
          <a:solidFill>
            <a:srgbClr val="EEF1FE">
              <a:alpha val="90000"/>
            </a:srgbClr>
          </a:solidFill>
          <a:ln w="6350">
            <a:solidFill>
              <a:srgbClr val="EEF1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493776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50" b="1">
                <a:solidFill>
                  <a:srgbClr val="1F2937"/>
                </a:solidFill>
                <a:latin typeface="Meiryo UI"/>
              </a:rPr>
              <a:t>The combination allows governance to stay precise instead of forcing over-permissioning</a:t>
            </a:r>
          </a:p>
        </p:txBody>
      </p:sp>
      <p:pic>
        <p:nvPicPr>
          <p:cNvPr id="9" name="design_icon_Picture 8" descr="key-24-regular_t_EEF1F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" y="4658319"/>
            <a:ext cx="310896" cy="310896"/>
          </a:xfrm>
          <a:prstGeom prst="rect">
            <a:avLst/>
          </a:prstGeom>
        </p:spPr>
      </p:pic>
      <p:pic>
        <p:nvPicPr>
          <p:cNvPr id="10" name="icon_Picture 9" descr="key-24-regular_t_D3DAF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85832" y="68580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85800" y="457200"/>
            <a:ext cx="8449056" cy="90425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937"/>
                </a:solidFill>
                <a:latin typeface="Meiryo UI"/>
              </a:rPr>
              <a:t>Labels, certification, and endorsement make trust visible inside the platform</a:t>
            </a:r>
          </a:p>
        </p:txBody>
      </p:sp>
      <p:sp>
        <p:nvSpPr>
          <p:cNvPr id="3" name="key_message"/>
          <p:cNvSpPr txBox="1"/>
          <p:nvPr/>
        </p:nvSpPr>
        <p:spPr>
          <a:xfrm>
            <a:off x="685800" y="1526042"/>
            <a:ext cx="8449056" cy="853409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32000"/>
              </a:lnSpc>
            </a:pPr>
            <a:r>
              <a:rPr sz="1490" b="0">
                <a:solidFill>
                  <a:srgbClr val="1F2937"/>
                </a:solidFill>
                <a:latin typeface="Meiryo UI"/>
              </a:rPr>
              <a:t>Fabric embeds governance into the user experience by surfacing signals such as sensitivity labels, certification, and endorsement rather than hiding trust off-platform.</a:t>
            </a:r>
          </a:p>
        </p:txBody>
      </p:sp>
      <p:sp>
        <p:nvSpPr>
          <p:cNvPr id="4" name="bullet_0"/>
          <p:cNvSpPr/>
          <p:nvPr/>
        </p:nvSpPr>
        <p:spPr>
          <a:xfrm>
            <a:off x="457200" y="2745211"/>
            <a:ext cx="11274552" cy="912106"/>
          </a:xfrm>
          <a:prstGeom prst="roundRect">
            <a:avLst/>
          </a:prstGeom>
          <a:solidFill>
            <a:srgbClr val="FFE4F6">
              <a:alpha val="90000"/>
            </a:srgbClr>
          </a:solidFill>
          <a:ln w="6350">
            <a:solidFill>
              <a:srgbClr val="FFE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28016" tIns="164592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00" b="1">
                <a:solidFill>
                  <a:srgbClr val="1F2937"/>
                </a:solidFill>
                <a:latin typeface="Meiryo UI"/>
              </a:rPr>
              <a:t>The documentation highlights sensitivity labels as a governance enabler</a:t>
            </a:r>
          </a:p>
        </p:txBody>
      </p:sp>
      <p:sp>
        <p:nvSpPr>
          <p:cNvPr id="5" name="design_stripe_0"/>
          <p:cNvSpPr/>
          <p:nvPr/>
        </p:nvSpPr>
        <p:spPr>
          <a:xfrm>
            <a:off x="457200" y="2745211"/>
            <a:ext cx="73152" cy="912106"/>
          </a:xfrm>
          <a:prstGeom prst="rect">
            <a:avLst/>
          </a:prstGeom>
          <a:solidFill>
            <a:srgbClr val="FFE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design_icon_Picture 5" descr="shield-24-regular_t_FFE4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20856" y="2836651"/>
            <a:ext cx="219456" cy="219456"/>
          </a:xfrm>
          <a:prstGeom prst="rect">
            <a:avLst/>
          </a:prstGeom>
        </p:spPr>
      </p:pic>
      <p:sp>
        <p:nvSpPr>
          <p:cNvPr id="7" name="bullet_1"/>
          <p:cNvSpPr/>
          <p:nvPr/>
        </p:nvSpPr>
        <p:spPr>
          <a:xfrm>
            <a:off x="457200" y="3705472"/>
            <a:ext cx="11274552" cy="912106"/>
          </a:xfrm>
          <a:prstGeom prst="roundRect">
            <a:avLst/>
          </a:prstGeom>
          <a:solidFill>
            <a:srgbClr val="FFF3FA">
              <a:alpha val="90000"/>
            </a:srgbClr>
          </a:solidFill>
          <a:ln w="6350">
            <a:solidFill>
              <a:srgbClr val="FFF3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28016" tIns="164592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00" b="1">
                <a:solidFill>
                  <a:srgbClr val="1F2937"/>
                </a:solidFill>
                <a:latin typeface="Meiryo UI"/>
              </a:rPr>
              <a:t>Certification and master-data endorsement help users distinguish trusted assets</a:t>
            </a:r>
          </a:p>
        </p:txBody>
      </p:sp>
      <p:sp>
        <p:nvSpPr>
          <p:cNvPr id="8" name="design_stripe_1"/>
          <p:cNvSpPr/>
          <p:nvPr/>
        </p:nvSpPr>
        <p:spPr>
          <a:xfrm>
            <a:off x="457200" y="3705472"/>
            <a:ext cx="73152" cy="912106"/>
          </a:xfrm>
          <a:prstGeom prst="rect">
            <a:avLst/>
          </a:prstGeom>
          <a:solidFill>
            <a:srgbClr val="FF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design_icon_Picture 8" descr="shield-24-regular_t_FFF3F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0856" y="3796912"/>
            <a:ext cx="219456" cy="219456"/>
          </a:xfrm>
          <a:prstGeom prst="rect">
            <a:avLst/>
          </a:prstGeom>
        </p:spPr>
      </p:pic>
      <p:sp>
        <p:nvSpPr>
          <p:cNvPr id="10" name="bullet_2"/>
          <p:cNvSpPr/>
          <p:nvPr/>
        </p:nvSpPr>
        <p:spPr>
          <a:xfrm>
            <a:off x="457200" y="4665733"/>
            <a:ext cx="11274552" cy="912106"/>
          </a:xfrm>
          <a:prstGeom prst="roundRect">
            <a:avLst/>
          </a:prstGeom>
          <a:solidFill>
            <a:srgbClr val="E4FEEF">
              <a:alpha val="90000"/>
            </a:srgbClr>
          </a:solidFill>
          <a:ln w="6350">
            <a:solidFill>
              <a:srgbClr val="E4FE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28016" tIns="164592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00" b="1">
                <a:solidFill>
                  <a:srgbClr val="1F2937"/>
                </a:solidFill>
                <a:latin typeface="Meiryo UI"/>
              </a:rPr>
              <a:t>Trust signals matter more as 6 experiences create more shared content across teams</a:t>
            </a:r>
          </a:p>
        </p:txBody>
      </p:sp>
      <p:sp>
        <p:nvSpPr>
          <p:cNvPr id="11" name="design_stripe_2"/>
          <p:cNvSpPr/>
          <p:nvPr/>
        </p:nvSpPr>
        <p:spPr>
          <a:xfrm>
            <a:off x="457200" y="4665733"/>
            <a:ext cx="73152" cy="912106"/>
          </a:xfrm>
          <a:prstGeom prst="rect">
            <a:avLst/>
          </a:prstGeom>
          <a:solidFill>
            <a:srgbClr val="E4F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design_icon_Picture 11" descr="shield-24-regular_t_E4FEE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20856" y="4757173"/>
            <a:ext cx="219456" cy="219456"/>
          </a:xfrm>
          <a:prstGeom prst="rect">
            <a:avLst/>
          </a:prstGeom>
        </p:spPr>
      </p:pic>
      <p:pic>
        <p:nvPicPr>
          <p:cNvPr id="13" name="icon_Picture 12" descr="shield-24-regular_t_FFE4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85832" y="68580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85800" y="457200"/>
            <a:ext cx="8449056" cy="1336029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937"/>
                </a:solidFill>
                <a:latin typeface="Meiryo UI"/>
              </a:rPr>
              <a:t>Workspace identities give Fabric artifacts a governed machine identity for enterprise integration</a:t>
            </a:r>
          </a:p>
        </p:txBody>
      </p:sp>
      <p:sp>
        <p:nvSpPr>
          <p:cNvPr id="3" name="key_message"/>
          <p:cNvSpPr txBox="1"/>
          <p:nvPr/>
        </p:nvSpPr>
        <p:spPr>
          <a:xfrm>
            <a:off x="685800" y="1866381"/>
            <a:ext cx="8449056" cy="347472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32000"/>
              </a:lnSpc>
            </a:pPr>
            <a:r>
              <a:rPr sz="1430" b="0">
                <a:solidFill>
                  <a:srgbClr val="1F2937"/>
                </a:solidFill>
                <a:latin typeface="Meiryo UI"/>
              </a:rPr>
              <a:t>Workspace identities matter because they let platform-managed artifacts act securely in external systems without relying on personal user identities.</a:t>
            </a:r>
          </a:p>
        </p:txBody>
      </p:sp>
      <p:sp>
        <p:nvSpPr>
          <p:cNvPr id="4" name="card_0"/>
          <p:cNvSpPr/>
          <p:nvPr/>
        </p:nvSpPr>
        <p:spPr>
          <a:xfrm>
            <a:off x="457200" y="2488173"/>
            <a:ext cx="5486400" cy="1581912"/>
          </a:xfrm>
          <a:prstGeom prst="roundRect">
            <a:avLst/>
          </a:prstGeom>
          <a:solidFill>
            <a:srgbClr val="FFFAFD">
              <a:alpha val="90000"/>
            </a:srgbClr>
          </a:solidFill>
          <a:ln w="6350">
            <a:solidFill>
              <a:srgbClr val="FFFA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530900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50" b="1">
                <a:solidFill>
                  <a:srgbClr val="1F2937"/>
                </a:solidFill>
                <a:latin typeface="Meiryo UI"/>
              </a:rPr>
              <a:t>The documentation includes admin patterns for fabric identities tied to workspaces</a:t>
            </a:r>
          </a:p>
        </p:txBody>
      </p:sp>
      <p:pic>
        <p:nvPicPr>
          <p:cNvPr id="5" name="design_icon_Picture 4" descr="badge-24-regular_t_FFFA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" y="2579613"/>
            <a:ext cx="348020" cy="348020"/>
          </a:xfrm>
          <a:prstGeom prst="rect">
            <a:avLst/>
          </a:prstGeom>
        </p:spPr>
      </p:pic>
      <p:sp>
        <p:nvSpPr>
          <p:cNvPr id="6" name="card_1"/>
          <p:cNvSpPr/>
          <p:nvPr/>
        </p:nvSpPr>
        <p:spPr>
          <a:xfrm>
            <a:off x="6236208" y="2488173"/>
            <a:ext cx="5486400" cy="1581912"/>
          </a:xfrm>
          <a:prstGeom prst="roundRect">
            <a:avLst/>
          </a:prstGeom>
          <a:solidFill>
            <a:srgbClr val="F7FFFA">
              <a:alpha val="90000"/>
            </a:srgbClr>
          </a:solidFill>
          <a:ln w="6350">
            <a:solidFill>
              <a:srgbClr val="F7FF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530900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50" b="1">
                <a:solidFill>
                  <a:srgbClr val="1F2937"/>
                </a:solidFill>
                <a:latin typeface="Meiryo UI"/>
              </a:rPr>
              <a:t>These identities appear in Azure as applications under enterprise applications and app registrations</a:t>
            </a:r>
          </a:p>
        </p:txBody>
      </p:sp>
      <p:pic>
        <p:nvPicPr>
          <p:cNvPr id="7" name="design_icon_Picture 6" descr="badge-24-regular_t_F7FFF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4224" y="2579613"/>
            <a:ext cx="348020" cy="348020"/>
          </a:xfrm>
          <a:prstGeom prst="rect">
            <a:avLst/>
          </a:prstGeom>
        </p:spPr>
      </p:pic>
      <p:sp>
        <p:nvSpPr>
          <p:cNvPr id="8" name="card_2"/>
          <p:cNvSpPr/>
          <p:nvPr/>
        </p:nvSpPr>
        <p:spPr>
          <a:xfrm>
            <a:off x="457200" y="4326117"/>
            <a:ext cx="5486400" cy="1581912"/>
          </a:xfrm>
          <a:prstGeom prst="roundRect">
            <a:avLst/>
          </a:prstGeom>
          <a:solidFill>
            <a:srgbClr val="FFFAFD">
              <a:alpha val="90000"/>
            </a:srgbClr>
          </a:solidFill>
          <a:ln w="6350">
            <a:solidFill>
              <a:srgbClr val="FFFA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530900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50" b="1">
                <a:solidFill>
                  <a:srgbClr val="1F2937"/>
                </a:solidFill>
                <a:latin typeface="Meiryo UI"/>
              </a:rPr>
              <a:t>Machine identity management becomes more important as automation and Git workflows expand</a:t>
            </a:r>
          </a:p>
        </p:txBody>
      </p:sp>
      <p:pic>
        <p:nvPicPr>
          <p:cNvPr id="9" name="design_icon_Picture 8" descr="badge-24-regular_t_FFFA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" y="4417557"/>
            <a:ext cx="348020" cy="348020"/>
          </a:xfrm>
          <a:prstGeom prst="rect">
            <a:avLst/>
          </a:prstGeom>
        </p:spPr>
      </p:pic>
      <p:pic>
        <p:nvPicPr>
          <p:cNvPr id="10" name="icon_Picture 9" descr="badge-24-regular_t_FFF3F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85832" y="68580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85800" y="457200"/>
            <a:ext cx="8449056" cy="82808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32000"/>
              </a:lnSpc>
            </a:pPr>
            <a:r>
              <a:rPr sz="2300" b="1">
                <a:solidFill>
                  <a:srgbClr val="1F2937"/>
                </a:solidFill>
                <a:latin typeface="Meiryo UI"/>
              </a:rPr>
              <a:t>Audit logs make workspace identity lifecycle events traceable end to end</a:t>
            </a:r>
          </a:p>
        </p:txBody>
      </p:sp>
      <p:sp>
        <p:nvSpPr>
          <p:cNvPr id="3" name="key_message"/>
          <p:cNvSpPr txBox="1"/>
          <p:nvPr/>
        </p:nvSpPr>
        <p:spPr>
          <a:xfrm>
            <a:off x="685800" y="1449872"/>
            <a:ext cx="8449056" cy="58677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32000"/>
              </a:lnSpc>
            </a:pPr>
            <a:r>
              <a:rPr sz="1490" b="0">
                <a:solidFill>
                  <a:srgbClr val="1F2937"/>
                </a:solidFill>
                <a:latin typeface="Meiryo UI"/>
              </a:rPr>
              <a:t>Fabric strengthens accountability by exposing auditable events for identity creation, retrieval, deletion, and token access.</a:t>
            </a:r>
          </a:p>
        </p:txBody>
      </p:sp>
      <p:sp>
        <p:nvSpPr>
          <p:cNvPr id="4" name="bullet_0"/>
          <p:cNvSpPr/>
          <p:nvPr/>
        </p:nvSpPr>
        <p:spPr>
          <a:xfrm>
            <a:off x="457200" y="2441448"/>
            <a:ext cx="11274552" cy="1009918"/>
          </a:xfrm>
          <a:prstGeom prst="roundRect">
            <a:avLst/>
          </a:prstGeom>
          <a:solidFill>
            <a:srgbClr val="E4FEEF">
              <a:alpha val="90000"/>
            </a:srgbClr>
          </a:solidFill>
          <a:ln w="6350">
            <a:solidFill>
              <a:srgbClr val="E4FE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28016" tIns="164592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00" b="1">
                <a:solidFill>
                  <a:srgbClr val="1F2937"/>
                </a:solidFill>
                <a:latin typeface="Meiryo UI"/>
              </a:rPr>
              <a:t>Audit-friendly activity names include Created, Retrieved, Deleted, and Retrieved Token for Workspace Identity</a:t>
            </a:r>
          </a:p>
        </p:txBody>
      </p:sp>
      <p:sp>
        <p:nvSpPr>
          <p:cNvPr id="5" name="design_stripe_0"/>
          <p:cNvSpPr/>
          <p:nvPr/>
        </p:nvSpPr>
        <p:spPr>
          <a:xfrm>
            <a:off x="457200" y="2441448"/>
            <a:ext cx="73152" cy="1009918"/>
          </a:xfrm>
          <a:prstGeom prst="rect">
            <a:avLst/>
          </a:prstGeom>
          <a:solidFill>
            <a:srgbClr val="E4F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design_icon_Picture 5" descr="search-24-regular_t_E4FE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20856" y="2532888"/>
            <a:ext cx="219456" cy="219456"/>
          </a:xfrm>
          <a:prstGeom prst="rect">
            <a:avLst/>
          </a:prstGeom>
        </p:spPr>
      </p:pic>
      <p:sp>
        <p:nvSpPr>
          <p:cNvPr id="7" name="bullet_1"/>
          <p:cNvSpPr/>
          <p:nvPr/>
        </p:nvSpPr>
        <p:spPr>
          <a:xfrm>
            <a:off x="457200" y="3504684"/>
            <a:ext cx="11274552" cy="1009918"/>
          </a:xfrm>
          <a:prstGeom prst="roundRect">
            <a:avLst/>
          </a:prstGeom>
          <a:solidFill>
            <a:srgbClr val="DCFEE9">
              <a:alpha val="90000"/>
            </a:srgbClr>
          </a:solidFill>
          <a:ln w="6350">
            <a:solidFill>
              <a:srgbClr val="DCF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28016" tIns="164592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00" b="1">
                <a:solidFill>
                  <a:srgbClr val="1F2937"/>
                </a:solidFill>
                <a:latin typeface="Meiryo UI"/>
              </a:rPr>
              <a:t>These logs can be searched in the audit experience using fabric identity activity names</a:t>
            </a:r>
          </a:p>
        </p:txBody>
      </p:sp>
      <p:sp>
        <p:nvSpPr>
          <p:cNvPr id="8" name="design_stripe_1"/>
          <p:cNvSpPr/>
          <p:nvPr/>
        </p:nvSpPr>
        <p:spPr>
          <a:xfrm>
            <a:off x="457200" y="3504684"/>
            <a:ext cx="73152" cy="1009918"/>
          </a:xfrm>
          <a:prstGeom prst="rect">
            <a:avLst/>
          </a:prstGeom>
          <a:solidFill>
            <a:srgbClr val="DCFE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design_icon_Picture 8" descr="search-24-regular_t_DCFE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0856" y="3596124"/>
            <a:ext cx="219456" cy="219456"/>
          </a:xfrm>
          <a:prstGeom prst="rect">
            <a:avLst/>
          </a:prstGeom>
        </p:spPr>
      </p:pic>
      <p:sp>
        <p:nvSpPr>
          <p:cNvPr id="10" name="bullet_2"/>
          <p:cNvSpPr/>
          <p:nvPr/>
        </p:nvSpPr>
        <p:spPr>
          <a:xfrm>
            <a:off x="457200" y="4567921"/>
            <a:ext cx="11274552" cy="1009918"/>
          </a:xfrm>
          <a:prstGeom prst="roundRect">
            <a:avLst/>
          </a:prstGeom>
          <a:solidFill>
            <a:srgbClr val="DDE4FE">
              <a:alpha val="90000"/>
            </a:srgbClr>
          </a:solidFill>
          <a:ln w="6350">
            <a:solidFill>
              <a:srgbClr val="DDE4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28016" tIns="164592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00" b="1">
                <a:solidFill>
                  <a:srgbClr val="1F2937"/>
                </a:solidFill>
                <a:latin typeface="Meiryo UI"/>
              </a:rPr>
              <a:t>Traceability is essential when machine identities become part of production workflows</a:t>
            </a:r>
          </a:p>
        </p:txBody>
      </p:sp>
      <p:sp>
        <p:nvSpPr>
          <p:cNvPr id="11" name="design_stripe_2"/>
          <p:cNvSpPr/>
          <p:nvPr/>
        </p:nvSpPr>
        <p:spPr>
          <a:xfrm>
            <a:off x="457200" y="4567921"/>
            <a:ext cx="73152" cy="1009918"/>
          </a:xfrm>
          <a:prstGeom prst="rect">
            <a:avLst/>
          </a:prstGeom>
          <a:solidFill>
            <a:srgbClr val="DDE4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design_icon_Picture 11" descr="search-24-regular_t_DDE4F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20856" y="4659361"/>
            <a:ext cx="219456" cy="219456"/>
          </a:xfrm>
          <a:prstGeom prst="rect">
            <a:avLst/>
          </a:prstGeom>
        </p:spPr>
      </p:pic>
      <p:pic>
        <p:nvPicPr>
          <p:cNvPr id="13" name="icon_Picture 12" descr="search-24-regular_t_E4FE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85832" y="68580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85800" y="457200"/>
            <a:ext cx="8449056" cy="1336029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937"/>
                </a:solidFill>
                <a:latin typeface="Meiryo UI"/>
              </a:rPr>
              <a:t>Least-privilege administration is necessary because mismanaging shared identities can break the platform</a:t>
            </a:r>
          </a:p>
        </p:txBody>
      </p:sp>
      <p:sp>
        <p:nvSpPr>
          <p:cNvPr id="3" name="key_message"/>
          <p:cNvSpPr txBox="1"/>
          <p:nvPr/>
        </p:nvSpPr>
        <p:spPr>
          <a:xfrm>
            <a:off x="685800" y="1957364"/>
            <a:ext cx="8449056" cy="853409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32000"/>
              </a:lnSpc>
            </a:pPr>
            <a:r>
              <a:rPr sz="1490" b="0">
                <a:solidFill>
                  <a:srgbClr val="1F2937"/>
                </a:solidFill>
                <a:latin typeface="Meiryo UI"/>
              </a:rPr>
              <a:t>The workspace identity model increases operational power, so Fabric explicitly warns administrators to apply least privilege and avoid modifying managed apps carelessly.</a:t>
            </a:r>
          </a:p>
        </p:txBody>
      </p:sp>
      <p:sp>
        <p:nvSpPr>
          <p:cNvPr id="4" name="comparison_left"/>
          <p:cNvSpPr/>
          <p:nvPr/>
        </p:nvSpPr>
        <p:spPr>
          <a:xfrm>
            <a:off x="457200" y="3176076"/>
            <a:ext cx="5522976" cy="2401763"/>
          </a:xfrm>
          <a:prstGeom prst="roundRect">
            <a:avLst/>
          </a:prstGeom>
          <a:solidFill>
            <a:srgbClr val="DCFEE9">
              <a:alpha val="90000"/>
            </a:srgbClr>
          </a:solidFill>
          <a:ln w="6350">
            <a:solidFill>
              <a:srgbClr val="DCF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155448" bIns="91440">
            <a:normAutofit/>
          </a:bodyPr>
          <a:lstStyle/>
          <a:p>
            <a:pPr algn="l">
              <a:lnSpc>
                <a:spcPct val="120000"/>
              </a:lnSpc>
            </a:pPr>
            <a:r>
              <a:rPr sz="1550" b="1">
                <a:solidFill>
                  <a:srgbClr val="1F2937"/>
                </a:solidFill>
                <a:latin typeface="Meiryo UI"/>
              </a:rPr>
              <a:t>Before</a:t>
            </a:r>
          </a:p>
          <a:p>
            <a:pPr algn="l">
              <a:lnSpc>
                <a:spcPct val="120000"/>
              </a:lnSpc>
              <a:spcBef>
                <a:spcPts val="300"/>
              </a:spcBef>
            </a:pPr>
            <a:r>
              <a:rPr sz="1300" b="1">
                <a:solidFill>
                  <a:srgbClr val="1F2937"/>
                </a:solidFill>
                <a:latin typeface="Meiryo UI"/>
              </a:rPr>
              <a:t>• </a:t>
            </a:r>
            <a:r>
              <a:rPr sz="1300" b="0">
                <a:solidFill>
                  <a:srgbClr val="1F2937"/>
                </a:solidFill>
                <a:latin typeface="Meiryo UI"/>
              </a:rPr>
              <a:t>The documentation warns that modifications to the managed application can stop the workspace identity from working</a:t>
            </a:r>
          </a:p>
          <a:p>
            <a:pPr algn="l">
              <a:lnSpc>
                <a:spcPct val="120000"/>
              </a:lnSpc>
              <a:spcBef>
                <a:spcPts val="300"/>
              </a:spcBef>
            </a:pPr>
            <a:r>
              <a:rPr sz="1300" b="1">
                <a:solidFill>
                  <a:srgbClr val="1F2937"/>
                </a:solidFill>
                <a:latin typeface="Meiryo UI"/>
              </a:rPr>
              <a:t>• </a:t>
            </a:r>
            <a:r>
              <a:rPr sz="1300" b="0">
                <a:solidFill>
                  <a:srgbClr val="1F2937"/>
                </a:solidFill>
                <a:latin typeface="Meiryo UI"/>
              </a:rPr>
              <a:t>It also recommends least-privilege handling of Application Administrator roles</a:t>
            </a:r>
          </a:p>
        </p:txBody>
      </p:sp>
      <p:sp>
        <p:nvSpPr>
          <p:cNvPr id="5" name="comparison_right"/>
          <p:cNvSpPr/>
          <p:nvPr/>
        </p:nvSpPr>
        <p:spPr>
          <a:xfrm>
            <a:off x="6208776" y="3176076"/>
            <a:ext cx="5522976" cy="2401763"/>
          </a:xfrm>
          <a:prstGeom prst="roundRect">
            <a:avLst/>
          </a:prstGeom>
          <a:solidFill>
            <a:srgbClr val="DDE4FE">
              <a:alpha val="90000"/>
            </a:srgbClr>
          </a:solidFill>
          <a:ln w="6350">
            <a:solidFill>
              <a:srgbClr val="DDE4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155448" bIns="91440">
            <a:normAutofit/>
          </a:bodyPr>
          <a:lstStyle/>
          <a:p>
            <a:pPr algn="l">
              <a:lnSpc>
                <a:spcPct val="120000"/>
              </a:lnSpc>
            </a:pPr>
            <a:r>
              <a:rPr sz="1550" b="1">
                <a:solidFill>
                  <a:srgbClr val="1F2937"/>
                </a:solidFill>
                <a:latin typeface="Meiryo UI"/>
              </a:rPr>
              <a:t>After</a:t>
            </a:r>
          </a:p>
          <a:p>
            <a:pPr algn="l">
              <a:lnSpc>
                <a:spcPct val="120000"/>
              </a:lnSpc>
              <a:spcBef>
                <a:spcPts val="300"/>
              </a:spcBef>
            </a:pPr>
            <a:r>
              <a:rPr sz="1300" b="1">
                <a:solidFill>
                  <a:srgbClr val="1F2937"/>
                </a:solidFill>
                <a:latin typeface="Meiryo UI"/>
              </a:rPr>
              <a:t>• </a:t>
            </a:r>
            <a:r>
              <a:rPr sz="1300" b="0">
                <a:solidFill>
                  <a:srgbClr val="1F2937"/>
                </a:solidFill>
                <a:latin typeface="Meiryo UI"/>
              </a:rPr>
              <a:t>This makes identity governance a real operational responsibility, not a checkbox</a:t>
            </a:r>
          </a:p>
        </p:txBody>
      </p:sp>
      <p:pic>
        <p:nvPicPr>
          <p:cNvPr id="6" name="design_icon_Picture 5" descr="warning-24-regular_t_DCFEE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0992" y="3267516"/>
            <a:ext cx="237744" cy="237744"/>
          </a:xfrm>
          <a:prstGeom prst="rect">
            <a:avLst/>
          </a:prstGeom>
        </p:spPr>
      </p:pic>
      <p:pic>
        <p:nvPicPr>
          <p:cNvPr id="7" name="design_icon_Picture 6" descr="checkmark-24-regular_t_DDE4F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2568" y="3267516"/>
            <a:ext cx="237744" cy="237744"/>
          </a:xfrm>
          <a:prstGeom prst="rect">
            <a:avLst/>
          </a:prstGeom>
        </p:spPr>
      </p:pic>
      <p:pic>
        <p:nvPicPr>
          <p:cNvPr id="8" name="icon_Picture 7" descr="alert-24-regular_t_DCFEE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85832" y="68580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85800" y="457200"/>
            <a:ext cx="8449056" cy="90425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937"/>
                </a:solidFill>
                <a:latin typeface="Meiryo UI"/>
              </a:rPr>
              <a:t>Git integration turns Fabric workspaces into an operational delivery workflow</a:t>
            </a:r>
          </a:p>
        </p:txBody>
      </p:sp>
      <p:sp>
        <p:nvSpPr>
          <p:cNvPr id="3" name="key_message"/>
          <p:cNvSpPr txBox="1"/>
          <p:nvPr/>
        </p:nvSpPr>
        <p:spPr>
          <a:xfrm>
            <a:off x="685800" y="1526042"/>
            <a:ext cx="8449056" cy="853409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32000"/>
              </a:lnSpc>
            </a:pPr>
            <a:r>
              <a:rPr sz="1550" b="0">
                <a:solidFill>
                  <a:srgbClr val="1F2937"/>
                </a:solidFill>
                <a:latin typeface="Meiryo UI"/>
              </a:rPr>
              <a:t>Fabric becomes more production-friendly when workspace changes can participate in source control and deployment practices rather than staying trapped in the UI.</a:t>
            </a:r>
          </a:p>
        </p:txBody>
      </p:sp>
      <p:sp>
        <p:nvSpPr>
          <p:cNvPr id="4" name="bullet_0"/>
          <p:cNvSpPr/>
          <p:nvPr/>
        </p:nvSpPr>
        <p:spPr>
          <a:xfrm>
            <a:off x="457200" y="2745211"/>
            <a:ext cx="11274552" cy="912106"/>
          </a:xfrm>
          <a:prstGeom prst="roundRect">
            <a:avLst/>
          </a:prstGeom>
          <a:solidFill>
            <a:srgbClr val="DDE4FE">
              <a:alpha val="90000"/>
            </a:srgbClr>
          </a:solidFill>
          <a:ln w="6350">
            <a:solidFill>
              <a:srgbClr val="DDE4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28016" tIns="164592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00" b="1">
                <a:solidFill>
                  <a:srgbClr val="1F2937"/>
                </a:solidFill>
                <a:latin typeface="Meiryo UI"/>
              </a:rPr>
              <a:t>The documentation covers connecting workspaces to Git repos for operational workflows</a:t>
            </a:r>
          </a:p>
        </p:txBody>
      </p:sp>
      <p:sp>
        <p:nvSpPr>
          <p:cNvPr id="5" name="design_stripe_0"/>
          <p:cNvSpPr/>
          <p:nvPr/>
        </p:nvSpPr>
        <p:spPr>
          <a:xfrm>
            <a:off x="457200" y="2745211"/>
            <a:ext cx="73152" cy="912106"/>
          </a:xfrm>
          <a:prstGeom prst="rect">
            <a:avLst/>
          </a:prstGeom>
          <a:solidFill>
            <a:srgbClr val="DDE4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design_icon_Picture 5" descr="checkmark-24-regular_t_DDE4F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20856" y="2836651"/>
            <a:ext cx="219456" cy="219456"/>
          </a:xfrm>
          <a:prstGeom prst="rect">
            <a:avLst/>
          </a:prstGeom>
        </p:spPr>
      </p:pic>
      <p:sp>
        <p:nvSpPr>
          <p:cNvPr id="7" name="bullet_1"/>
          <p:cNvSpPr/>
          <p:nvPr/>
        </p:nvSpPr>
        <p:spPr>
          <a:xfrm>
            <a:off x="457200" y="3705472"/>
            <a:ext cx="11274552" cy="912106"/>
          </a:xfrm>
          <a:prstGeom prst="roundRect">
            <a:avLst/>
          </a:prstGeom>
          <a:solidFill>
            <a:srgbClr val="D3DAFD">
              <a:alpha val="90000"/>
            </a:srgbClr>
          </a:solidFill>
          <a:ln w="6350">
            <a:solidFill>
              <a:srgbClr val="D3DA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28016" tIns="164592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00" b="1">
                <a:solidFill>
                  <a:srgbClr val="1F2937"/>
                </a:solidFill>
                <a:latin typeface="Meiryo UI"/>
              </a:rPr>
              <a:t>Permissions depend on rights in both the workspace and the Git repository</a:t>
            </a:r>
          </a:p>
        </p:txBody>
      </p:sp>
      <p:sp>
        <p:nvSpPr>
          <p:cNvPr id="8" name="design_stripe_1"/>
          <p:cNvSpPr/>
          <p:nvPr/>
        </p:nvSpPr>
        <p:spPr>
          <a:xfrm>
            <a:off x="457200" y="3705472"/>
            <a:ext cx="73152" cy="912106"/>
          </a:xfrm>
          <a:prstGeom prst="rect">
            <a:avLst/>
          </a:prstGeom>
          <a:solidFill>
            <a:srgbClr val="D3DA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design_icon_Picture 8" descr="checkmark-24-regular_t_D3DAF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0856" y="3796912"/>
            <a:ext cx="219456" cy="219456"/>
          </a:xfrm>
          <a:prstGeom prst="rect">
            <a:avLst/>
          </a:prstGeom>
        </p:spPr>
      </p:pic>
      <p:sp>
        <p:nvSpPr>
          <p:cNvPr id="10" name="bullet_2"/>
          <p:cNvSpPr/>
          <p:nvPr/>
        </p:nvSpPr>
        <p:spPr>
          <a:xfrm>
            <a:off x="457200" y="4665733"/>
            <a:ext cx="11274552" cy="912106"/>
          </a:xfrm>
          <a:prstGeom prst="roundRect">
            <a:avLst/>
          </a:prstGeom>
          <a:solidFill>
            <a:srgbClr val="FFE4F6">
              <a:alpha val="90000"/>
            </a:srgbClr>
          </a:solidFill>
          <a:ln w="6350">
            <a:solidFill>
              <a:srgbClr val="FFE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28016" tIns="164592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00" b="1">
                <a:solidFill>
                  <a:srgbClr val="1F2937"/>
                </a:solidFill>
                <a:latin typeface="Meiryo UI"/>
              </a:rPr>
              <a:t>This supports CI/CD-style movement of analytics assets into controlled environments</a:t>
            </a:r>
          </a:p>
        </p:txBody>
      </p:sp>
      <p:sp>
        <p:nvSpPr>
          <p:cNvPr id="11" name="design_stripe_2"/>
          <p:cNvSpPr/>
          <p:nvPr/>
        </p:nvSpPr>
        <p:spPr>
          <a:xfrm>
            <a:off x="457200" y="4665733"/>
            <a:ext cx="73152" cy="912106"/>
          </a:xfrm>
          <a:prstGeom prst="rect">
            <a:avLst/>
          </a:prstGeom>
          <a:solidFill>
            <a:srgbClr val="FFE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design_icon_Picture 11" descr="checkmark-24-regular_t_FFE4F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20856" y="4757173"/>
            <a:ext cx="219456" cy="219456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85800" y="457200"/>
            <a:ext cx="8449056" cy="90425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937"/>
                </a:solidFill>
                <a:latin typeface="Meiryo UI"/>
              </a:rPr>
              <a:t>Authentication parity across Fabric and Git keeps the deployment path secure</a:t>
            </a:r>
          </a:p>
        </p:txBody>
      </p:sp>
      <p:sp>
        <p:nvSpPr>
          <p:cNvPr id="3" name="key_message"/>
          <p:cNvSpPr txBox="1"/>
          <p:nvPr/>
        </p:nvSpPr>
        <p:spPr>
          <a:xfrm>
            <a:off x="685800" y="1526042"/>
            <a:ext cx="8449056" cy="80266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32000"/>
              </a:lnSpc>
            </a:pPr>
            <a:r>
              <a:rPr sz="1550" b="0">
                <a:solidFill>
                  <a:srgbClr val="1F2937"/>
                </a:solidFill>
                <a:latin typeface="Meiryo UI"/>
              </a:rPr>
              <a:t>Fabric explicitly requires authentication methods that are at least as strong as the connected Git system, which protects the weakest link in the workflow.</a:t>
            </a:r>
          </a:p>
        </p:txBody>
      </p:sp>
      <p:sp>
        <p:nvSpPr>
          <p:cNvPr id="4" name="bullet_0"/>
          <p:cNvSpPr/>
          <p:nvPr/>
        </p:nvSpPr>
        <p:spPr>
          <a:xfrm>
            <a:off x="457200" y="2694462"/>
            <a:ext cx="11274552" cy="928447"/>
          </a:xfrm>
          <a:prstGeom prst="roundRect">
            <a:avLst/>
          </a:prstGeom>
          <a:solidFill>
            <a:srgbClr val="D3DAFD">
              <a:alpha val="90000"/>
            </a:srgbClr>
          </a:solidFill>
          <a:ln w="6350">
            <a:solidFill>
              <a:srgbClr val="D3DA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28016" tIns="164592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00" b="1">
                <a:solidFill>
                  <a:srgbClr val="1F2937"/>
                </a:solidFill>
                <a:latin typeface="Meiryo UI"/>
              </a:rPr>
              <a:t>Fabric authentication must be at least as strong as the authentication method for Git</a:t>
            </a:r>
          </a:p>
        </p:txBody>
      </p:sp>
      <p:sp>
        <p:nvSpPr>
          <p:cNvPr id="5" name="design_stripe_0"/>
          <p:cNvSpPr/>
          <p:nvPr/>
        </p:nvSpPr>
        <p:spPr>
          <a:xfrm>
            <a:off x="457200" y="2694462"/>
            <a:ext cx="73152" cy="928447"/>
          </a:xfrm>
          <a:prstGeom prst="rect">
            <a:avLst/>
          </a:prstGeom>
          <a:solidFill>
            <a:srgbClr val="D3DA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design_icon_Picture 5" descr="lock-24-regular_t_D3DA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20856" y="2785902"/>
            <a:ext cx="219456" cy="219456"/>
          </a:xfrm>
          <a:prstGeom prst="rect">
            <a:avLst/>
          </a:prstGeom>
        </p:spPr>
      </p:pic>
      <p:sp>
        <p:nvSpPr>
          <p:cNvPr id="7" name="bullet_1"/>
          <p:cNvSpPr/>
          <p:nvPr/>
        </p:nvSpPr>
        <p:spPr>
          <a:xfrm>
            <a:off x="457200" y="3671927"/>
            <a:ext cx="11274552" cy="928447"/>
          </a:xfrm>
          <a:prstGeom prst="roundRect">
            <a:avLst/>
          </a:prstGeom>
          <a:solidFill>
            <a:srgbClr val="FFE4F6">
              <a:alpha val="90000"/>
            </a:srgbClr>
          </a:solidFill>
          <a:ln w="6350">
            <a:solidFill>
              <a:srgbClr val="FFE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28016" tIns="164592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00" b="1">
                <a:solidFill>
                  <a:srgbClr val="1F2937"/>
                </a:solidFill>
                <a:latin typeface="Meiryo UI"/>
              </a:rPr>
              <a:t>If Git requires multifactor authentication, Fabric must require multifactor authentication as well</a:t>
            </a:r>
          </a:p>
        </p:txBody>
      </p:sp>
      <p:sp>
        <p:nvSpPr>
          <p:cNvPr id="8" name="design_stripe_1"/>
          <p:cNvSpPr/>
          <p:nvPr/>
        </p:nvSpPr>
        <p:spPr>
          <a:xfrm>
            <a:off x="457200" y="3671927"/>
            <a:ext cx="73152" cy="928447"/>
          </a:xfrm>
          <a:prstGeom prst="rect">
            <a:avLst/>
          </a:prstGeom>
          <a:solidFill>
            <a:srgbClr val="FFE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design_icon_Picture 8" descr="lock-24-regular_t_FFE4F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0856" y="3763367"/>
            <a:ext cx="219456" cy="219456"/>
          </a:xfrm>
          <a:prstGeom prst="rect">
            <a:avLst/>
          </a:prstGeom>
        </p:spPr>
      </p:pic>
      <p:sp>
        <p:nvSpPr>
          <p:cNvPr id="10" name="bullet_2"/>
          <p:cNvSpPr/>
          <p:nvPr/>
        </p:nvSpPr>
        <p:spPr>
          <a:xfrm>
            <a:off x="457200" y="4649392"/>
            <a:ext cx="11274552" cy="928447"/>
          </a:xfrm>
          <a:prstGeom prst="roundRect">
            <a:avLst/>
          </a:prstGeom>
          <a:solidFill>
            <a:srgbClr val="FFF3FA">
              <a:alpha val="90000"/>
            </a:srgbClr>
          </a:solidFill>
          <a:ln w="6350">
            <a:solidFill>
              <a:srgbClr val="FFF3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28016" tIns="164592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00" b="1">
                <a:solidFill>
                  <a:srgbClr val="1F2937"/>
                </a:solidFill>
                <a:latin typeface="Meiryo UI"/>
              </a:rPr>
              <a:t>The rule prevents teams from creating a weaker operational backdoor through integration</a:t>
            </a:r>
          </a:p>
        </p:txBody>
      </p:sp>
      <p:sp>
        <p:nvSpPr>
          <p:cNvPr id="11" name="design_stripe_2"/>
          <p:cNvSpPr/>
          <p:nvPr/>
        </p:nvSpPr>
        <p:spPr>
          <a:xfrm>
            <a:off x="457200" y="4649392"/>
            <a:ext cx="73152" cy="928447"/>
          </a:xfrm>
          <a:prstGeom prst="rect">
            <a:avLst/>
          </a:prstGeom>
          <a:solidFill>
            <a:srgbClr val="FF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design_icon_Picture 11" descr="lock-24-regular_t_FFF3F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20856" y="4740832"/>
            <a:ext cx="219456" cy="219456"/>
          </a:xfrm>
          <a:prstGeom prst="rect">
            <a:avLst/>
          </a:prstGeom>
        </p:spPr>
      </p:pic>
      <p:pic>
        <p:nvPicPr>
          <p:cNvPr id="13" name="icon_Picture 12" descr="lock-24-regular_t_D3DA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85832" y="68580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85800" y="457200"/>
            <a:ext cx="8449056" cy="90425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937"/>
                </a:solidFill>
                <a:latin typeface="Meiryo UI"/>
              </a:rPr>
              <a:t>Schedules can be managed through UI, API, and CI/CD rather than only by hand</a:t>
            </a:r>
          </a:p>
        </p:txBody>
      </p:sp>
      <p:sp>
        <p:nvSpPr>
          <p:cNvPr id="3" name="key_message"/>
          <p:cNvSpPr txBox="1"/>
          <p:nvPr/>
        </p:nvSpPr>
        <p:spPr>
          <a:xfrm>
            <a:off x="685800" y="1434602"/>
            <a:ext cx="8449056" cy="853409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32000"/>
              </a:lnSpc>
            </a:pPr>
            <a:r>
              <a:rPr sz="1490" b="0">
                <a:solidFill>
                  <a:srgbClr val="1F2937"/>
                </a:solidFill>
                <a:latin typeface="Meiryo UI"/>
              </a:rPr>
              <a:t>Fabric reduces operational fragility by letting teams manage recurring refresh and run schedules through multiple control surfaces instead of relying solely on manual UI edits.</a:t>
            </a:r>
          </a:p>
        </p:txBody>
      </p:sp>
      <p:sp>
        <p:nvSpPr>
          <p:cNvPr id="4" name="card_0"/>
          <p:cNvSpPr/>
          <p:nvPr/>
        </p:nvSpPr>
        <p:spPr>
          <a:xfrm>
            <a:off x="457200" y="2562331"/>
            <a:ext cx="5486400" cy="1536192"/>
          </a:xfrm>
          <a:prstGeom prst="roundRect">
            <a:avLst/>
          </a:prstGeom>
          <a:solidFill>
            <a:srgbClr val="FFF5FC">
              <a:alpha val="90000"/>
            </a:srgbClr>
          </a:solidFill>
          <a:ln w="6350">
            <a:solidFill>
              <a:srgbClr val="FFF5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520842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50" b="1">
                <a:solidFill>
                  <a:srgbClr val="1F2937"/>
                </a:solidFill>
                <a:latin typeface="Meiryo UI"/>
              </a:rPr>
              <a:t>The source states schedulers can be managed through the UI, API, and CI/CD workflows</a:t>
            </a:r>
          </a:p>
        </p:txBody>
      </p:sp>
      <p:pic>
        <p:nvPicPr>
          <p:cNvPr id="5" name="design_icon_Picture 4" descr="calendar-24-regular_t_FFF5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" y="2653771"/>
            <a:ext cx="337962" cy="337962"/>
          </a:xfrm>
          <a:prstGeom prst="rect">
            <a:avLst/>
          </a:prstGeom>
        </p:spPr>
      </p:pic>
      <p:sp>
        <p:nvSpPr>
          <p:cNvPr id="6" name="card_1"/>
          <p:cNvSpPr/>
          <p:nvPr/>
        </p:nvSpPr>
        <p:spPr>
          <a:xfrm>
            <a:off x="6236208" y="2562331"/>
            <a:ext cx="5486400" cy="1536192"/>
          </a:xfrm>
          <a:prstGeom prst="roundRect">
            <a:avLst/>
          </a:prstGeom>
          <a:solidFill>
            <a:srgbClr val="FFFBFE">
              <a:alpha val="90000"/>
            </a:srgbClr>
          </a:solidFill>
          <a:ln w="6350">
            <a:solidFill>
              <a:srgbClr val="FFF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520842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50" b="1">
                <a:solidFill>
                  <a:srgbClr val="1F2937"/>
                </a:solidFill>
                <a:latin typeface="Meiryo UI"/>
              </a:rPr>
              <a:t>This matters because recurring operations are often where platforms drift from dev into manual admin</a:t>
            </a:r>
          </a:p>
        </p:txBody>
      </p:sp>
      <p:pic>
        <p:nvPicPr>
          <p:cNvPr id="7" name="design_icon_Picture 6" descr="calendar-24-regular_t_FFFBF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4224" y="2653771"/>
            <a:ext cx="337962" cy="337962"/>
          </a:xfrm>
          <a:prstGeom prst="rect">
            <a:avLst/>
          </a:prstGeom>
        </p:spPr>
      </p:pic>
      <p:sp>
        <p:nvSpPr>
          <p:cNvPr id="8" name="card_2"/>
          <p:cNvSpPr/>
          <p:nvPr/>
        </p:nvSpPr>
        <p:spPr>
          <a:xfrm>
            <a:off x="457200" y="4354555"/>
            <a:ext cx="5486400" cy="1536192"/>
          </a:xfrm>
          <a:prstGeom prst="roundRect">
            <a:avLst/>
          </a:prstGeom>
          <a:solidFill>
            <a:srgbClr val="FFF5FC">
              <a:alpha val="90000"/>
            </a:srgbClr>
          </a:solidFill>
          <a:ln w="6350">
            <a:solidFill>
              <a:srgbClr val="FFF5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520842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50" b="1">
                <a:solidFill>
                  <a:srgbClr val="1F2937"/>
                </a:solidFill>
                <a:latin typeface="Meiryo UI"/>
              </a:rPr>
              <a:t>Multiple control surfaces allow teams to choose the right governance model for each environment</a:t>
            </a:r>
          </a:p>
        </p:txBody>
      </p:sp>
      <p:pic>
        <p:nvPicPr>
          <p:cNvPr id="9" name="design_icon_Picture 8" descr="calendar-24-regular_t_FFF5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" y="4445995"/>
            <a:ext cx="337962" cy="337962"/>
          </a:xfrm>
          <a:prstGeom prst="rect">
            <a:avLst/>
          </a:prstGeom>
        </p:spPr>
      </p:pic>
      <p:pic>
        <p:nvPicPr>
          <p:cNvPr id="10" name="icon_Picture 9" descr="calendar-24-regular_t_FFE4F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85832" y="68580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85800" y="457200"/>
            <a:ext cx="8449056" cy="90425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937"/>
                </a:solidFill>
                <a:latin typeface="Meiryo UI"/>
              </a:rPr>
              <a:t>Git-backed .schedules files make recurring operations portable across environments</a:t>
            </a:r>
          </a:p>
        </p:txBody>
      </p:sp>
      <p:sp>
        <p:nvSpPr>
          <p:cNvPr id="3" name="key_message"/>
          <p:cNvSpPr txBox="1"/>
          <p:nvPr/>
        </p:nvSpPr>
        <p:spPr>
          <a:xfrm>
            <a:off x="685800" y="1434602"/>
            <a:ext cx="8449056" cy="853409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32000"/>
              </a:lnSpc>
            </a:pPr>
            <a:r>
              <a:rPr sz="1490" b="0">
                <a:solidFill>
                  <a:srgbClr val="1F2937"/>
                </a:solidFill>
                <a:latin typeface="Meiryo UI"/>
              </a:rPr>
              <a:t>Storing schedules in a .schedules file gives Fabric teams a source-controlled artifact for operational timing, which improves traceability and deployment consistency.</a:t>
            </a:r>
          </a:p>
        </p:txBody>
      </p:sp>
      <p:sp>
        <p:nvSpPr>
          <p:cNvPr id="4" name="card_0"/>
          <p:cNvSpPr/>
          <p:nvPr/>
        </p:nvSpPr>
        <p:spPr>
          <a:xfrm>
            <a:off x="457200" y="2562331"/>
            <a:ext cx="5486400" cy="1581912"/>
          </a:xfrm>
          <a:prstGeom prst="roundRect">
            <a:avLst/>
          </a:prstGeom>
          <a:solidFill>
            <a:srgbClr val="FFFAFD">
              <a:alpha val="90000"/>
            </a:srgbClr>
          </a:solidFill>
          <a:ln w="6350">
            <a:solidFill>
              <a:srgbClr val="FFFA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530900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50" b="1">
                <a:solidFill>
                  <a:srgbClr val="1F2937"/>
                </a:solidFill>
                <a:latin typeface="Meiryo UI"/>
              </a:rPr>
              <a:t>Schedule definitions are stored in a .schedules file for Git-based workflows</a:t>
            </a:r>
          </a:p>
        </p:txBody>
      </p:sp>
      <p:pic>
        <p:nvPicPr>
          <p:cNvPr id="5" name="design_icon_Picture 4" descr="clock-24-regular_t_FFFA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" y="2653771"/>
            <a:ext cx="348020" cy="348020"/>
          </a:xfrm>
          <a:prstGeom prst="rect">
            <a:avLst/>
          </a:prstGeom>
        </p:spPr>
      </p:pic>
      <p:sp>
        <p:nvSpPr>
          <p:cNvPr id="6" name="card_1"/>
          <p:cNvSpPr/>
          <p:nvPr/>
        </p:nvSpPr>
        <p:spPr>
          <a:xfrm>
            <a:off x="6236208" y="2562331"/>
            <a:ext cx="5486400" cy="1581912"/>
          </a:xfrm>
          <a:prstGeom prst="roundRect">
            <a:avLst/>
          </a:prstGeom>
          <a:solidFill>
            <a:srgbClr val="F7FFFA">
              <a:alpha val="90000"/>
            </a:srgbClr>
          </a:solidFill>
          <a:ln w="6350">
            <a:solidFill>
              <a:srgbClr val="F7FF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530900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50" b="1">
                <a:solidFill>
                  <a:srgbClr val="1F2937"/>
                </a:solidFill>
                <a:latin typeface="Meiryo UI"/>
              </a:rPr>
              <a:t>This allows schedule changes to travel with version-controlled analytics assets</a:t>
            </a:r>
          </a:p>
        </p:txBody>
      </p:sp>
      <p:pic>
        <p:nvPicPr>
          <p:cNvPr id="7" name="design_icon_Picture 6" descr="clock-24-regular_t_F7FFF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4224" y="2653771"/>
            <a:ext cx="348020" cy="348020"/>
          </a:xfrm>
          <a:prstGeom prst="rect">
            <a:avLst/>
          </a:prstGeom>
        </p:spPr>
      </p:pic>
      <p:sp>
        <p:nvSpPr>
          <p:cNvPr id="8" name="card_2"/>
          <p:cNvSpPr/>
          <p:nvPr/>
        </p:nvSpPr>
        <p:spPr>
          <a:xfrm>
            <a:off x="457200" y="4400275"/>
            <a:ext cx="5486400" cy="1581912"/>
          </a:xfrm>
          <a:prstGeom prst="roundRect">
            <a:avLst/>
          </a:prstGeom>
          <a:solidFill>
            <a:srgbClr val="FFFAFD">
              <a:alpha val="90000"/>
            </a:srgbClr>
          </a:solidFill>
          <a:ln w="6350">
            <a:solidFill>
              <a:srgbClr val="FFFA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530900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50" b="1">
                <a:solidFill>
                  <a:srgbClr val="1F2937"/>
                </a:solidFill>
                <a:latin typeface="Meiryo UI"/>
              </a:rPr>
              <a:t>Operational timing therefore becomes reviewable and deployable instead of hidden configuration</a:t>
            </a:r>
          </a:p>
        </p:txBody>
      </p:sp>
      <p:pic>
        <p:nvPicPr>
          <p:cNvPr id="9" name="design_icon_Picture 8" descr="clock-24-regular_t_FFFA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" y="4491715"/>
            <a:ext cx="348020" cy="348020"/>
          </a:xfrm>
          <a:prstGeom prst="rect">
            <a:avLst/>
          </a:prstGeom>
        </p:spPr>
      </p:pic>
      <p:pic>
        <p:nvPicPr>
          <p:cNvPr id="10" name="icon_Picture 9" descr="clock-24-regular_t_FFF3F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85832" y="68580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ig_number"/>
          <p:cNvSpPr txBox="1"/>
          <p:nvPr/>
        </p:nvSpPr>
        <p:spPr>
          <a:xfrm>
            <a:off x="1371600" y="1307592"/>
            <a:ext cx="9445752" cy="196596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047936"/>
                </a:solidFill>
                <a:latin typeface="Meiryo UI"/>
              </a:rPr>
              <a:t>Auto-disabling failing schedulers after about 10 consecutive failures protects platform stability</a:t>
            </a:r>
          </a:p>
        </p:txBody>
      </p:sp>
      <p:sp>
        <p:nvSpPr>
          <p:cNvPr id="3" name="key_message"/>
          <p:cNvSpPr txBox="1"/>
          <p:nvPr/>
        </p:nvSpPr>
        <p:spPr>
          <a:xfrm>
            <a:off x="1371600" y="3383280"/>
            <a:ext cx="9445752" cy="62298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lnSpc>
                <a:spcPct val="132000"/>
              </a:lnSpc>
            </a:pPr>
            <a:r>
              <a:rPr sz="1680" b="0">
                <a:solidFill>
                  <a:srgbClr val="1F2937"/>
                </a:solidFill>
                <a:latin typeface="Meiryo UI"/>
              </a:rPr>
              <a:t>Fabric bakes in an operational safety valve by disabling repeatedly failing schedulers after roughly 10 failed runs instead of letting broken jobs fail forever.</a:t>
            </a:r>
          </a:p>
        </p:txBody>
      </p:sp>
      <p:sp>
        <p:nvSpPr>
          <p:cNvPr id="4" name="body_0"/>
          <p:cNvSpPr/>
          <p:nvPr/>
        </p:nvSpPr>
        <p:spPr>
          <a:xfrm>
            <a:off x="1371600" y="4170852"/>
            <a:ext cx="4652924" cy="646591"/>
          </a:xfrm>
          <a:prstGeom prst="roundRect">
            <a:avLst/>
          </a:prstGeom>
          <a:solidFill>
            <a:srgbClr val="E4FEEF">
              <a:alpha val="90000"/>
            </a:srgbClr>
          </a:solidFill>
          <a:ln w="6350">
            <a:solidFill>
              <a:srgbClr val="E4FE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28016" tIns="109728" bIns="91440">
            <a:normAutofit/>
          </a:bodyPr>
          <a:lstStyle/>
          <a:p>
            <a:pPr algn="l">
              <a:lnSpc>
                <a:spcPct val="118000"/>
              </a:lnSpc>
            </a:pPr>
            <a:r>
              <a:rPr sz="1320" b="1">
                <a:solidFill>
                  <a:srgbClr val="1F2937"/>
                </a:solidFill>
                <a:latin typeface="Meiryo UI"/>
              </a:rPr>
              <a:t>Approximately 10 consecutive failed runs trigger automatic schedule disablement</a:t>
            </a:r>
          </a:p>
        </p:txBody>
      </p:sp>
      <p:sp>
        <p:nvSpPr>
          <p:cNvPr id="5" name="design_stripe_0"/>
          <p:cNvSpPr/>
          <p:nvPr/>
        </p:nvSpPr>
        <p:spPr>
          <a:xfrm>
            <a:off x="1371600" y="4170852"/>
            <a:ext cx="73152" cy="646591"/>
          </a:xfrm>
          <a:prstGeom prst="rect">
            <a:avLst/>
          </a:prstGeom>
          <a:solidFill>
            <a:srgbClr val="E4F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dy_1"/>
          <p:cNvSpPr/>
          <p:nvPr/>
        </p:nvSpPr>
        <p:spPr>
          <a:xfrm>
            <a:off x="6164427" y="4170852"/>
            <a:ext cx="4652924" cy="646591"/>
          </a:xfrm>
          <a:prstGeom prst="roundRect">
            <a:avLst/>
          </a:prstGeom>
          <a:solidFill>
            <a:srgbClr val="DCFEE9">
              <a:alpha val="90000"/>
            </a:srgbClr>
          </a:solidFill>
          <a:ln w="6350">
            <a:solidFill>
              <a:srgbClr val="DCF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28016" tIns="109728" bIns="91440">
            <a:normAutofit/>
          </a:bodyPr>
          <a:lstStyle/>
          <a:p>
            <a:pPr algn="l">
              <a:lnSpc>
                <a:spcPct val="118000"/>
              </a:lnSpc>
            </a:pPr>
            <a:r>
              <a:rPr sz="1320" b="1">
                <a:solidFill>
                  <a:srgbClr val="1F2937"/>
                </a:solidFill>
                <a:latin typeface="Meiryo UI"/>
              </a:rPr>
              <a:t>The behavior protects the estate from endless predictable failure loops</a:t>
            </a:r>
          </a:p>
        </p:txBody>
      </p:sp>
      <p:sp>
        <p:nvSpPr>
          <p:cNvPr id="7" name="design_stripe_1"/>
          <p:cNvSpPr/>
          <p:nvPr/>
        </p:nvSpPr>
        <p:spPr>
          <a:xfrm>
            <a:off x="6164427" y="4170852"/>
            <a:ext cx="73152" cy="646591"/>
          </a:xfrm>
          <a:prstGeom prst="rect">
            <a:avLst/>
          </a:prstGeom>
          <a:solidFill>
            <a:srgbClr val="DCFE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body_2"/>
          <p:cNvSpPr/>
          <p:nvPr/>
        </p:nvSpPr>
        <p:spPr>
          <a:xfrm>
            <a:off x="1371600" y="4839808"/>
            <a:ext cx="4652924" cy="646591"/>
          </a:xfrm>
          <a:prstGeom prst="roundRect">
            <a:avLst/>
          </a:prstGeom>
          <a:solidFill>
            <a:srgbClr val="DDE4FE">
              <a:alpha val="90000"/>
            </a:srgbClr>
          </a:solidFill>
          <a:ln w="6350">
            <a:solidFill>
              <a:srgbClr val="DDE4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28016" tIns="109728" bIns="91440">
            <a:normAutofit/>
          </a:bodyPr>
          <a:lstStyle/>
          <a:p>
            <a:pPr algn="l">
              <a:lnSpc>
                <a:spcPct val="118000"/>
              </a:lnSpc>
            </a:pPr>
            <a:r>
              <a:rPr sz="1320" b="1">
                <a:solidFill>
                  <a:srgbClr val="1F2937"/>
                </a:solidFill>
                <a:latin typeface="Meiryo UI"/>
              </a:rPr>
              <a:t>Built-in safeguards reduce the need for constant manual babysitting of bad schedules</a:t>
            </a:r>
          </a:p>
        </p:txBody>
      </p:sp>
      <p:sp>
        <p:nvSpPr>
          <p:cNvPr id="9" name="design_stripe_2"/>
          <p:cNvSpPr/>
          <p:nvPr/>
        </p:nvSpPr>
        <p:spPr>
          <a:xfrm>
            <a:off x="1371600" y="4839808"/>
            <a:ext cx="73152" cy="646591"/>
          </a:xfrm>
          <a:prstGeom prst="rect">
            <a:avLst/>
          </a:prstGeom>
          <a:solidFill>
            <a:srgbClr val="DDE4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icon_Picture 9" descr="counter-24-regular_t_E4FE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58984" y="1274673"/>
            <a:ext cx="658368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85800" y="457200"/>
            <a:ext cx="8449056" cy="125986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937"/>
                </a:solidFill>
                <a:latin typeface="Meiryo UI"/>
              </a:rPr>
              <a:t>Conditional access, cross-geo rules, and Git limitations shape how enterprises should structure rollout</a:t>
            </a:r>
          </a:p>
        </p:txBody>
      </p:sp>
      <p:sp>
        <p:nvSpPr>
          <p:cNvPr id="3" name="key_message"/>
          <p:cNvSpPr txBox="1"/>
          <p:nvPr/>
        </p:nvSpPr>
        <p:spPr>
          <a:xfrm>
            <a:off x="685800" y="1881652"/>
            <a:ext cx="8449056" cy="80266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32000"/>
              </a:lnSpc>
            </a:pPr>
            <a:r>
              <a:rPr sz="1550" b="0">
                <a:solidFill>
                  <a:srgbClr val="1F2937"/>
                </a:solidFill>
                <a:latin typeface="Meiryo UI"/>
              </a:rPr>
              <a:t>Fabric’s governance model is strong, but the documented limitations mean rollout design still needs deliberate workspace, branch, and geography choices.</a:t>
            </a:r>
          </a:p>
        </p:txBody>
      </p:sp>
      <p:sp>
        <p:nvSpPr>
          <p:cNvPr id="4" name="comparison_left"/>
          <p:cNvSpPr/>
          <p:nvPr/>
        </p:nvSpPr>
        <p:spPr>
          <a:xfrm>
            <a:off x="457200" y="3050072"/>
            <a:ext cx="5522976" cy="2527767"/>
          </a:xfrm>
          <a:prstGeom prst="roundRect">
            <a:avLst/>
          </a:prstGeom>
          <a:solidFill>
            <a:srgbClr val="DCFEE9">
              <a:alpha val="90000"/>
            </a:srgbClr>
          </a:solidFill>
          <a:ln w="6350">
            <a:solidFill>
              <a:srgbClr val="DCF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155448" bIns="91440">
            <a:normAutofit/>
          </a:bodyPr>
          <a:lstStyle/>
          <a:p>
            <a:pPr algn="l">
              <a:lnSpc>
                <a:spcPct val="120000"/>
              </a:lnSpc>
            </a:pPr>
            <a:r>
              <a:rPr sz="1550" b="1">
                <a:solidFill>
                  <a:srgbClr val="1F2937"/>
                </a:solidFill>
                <a:latin typeface="Meiryo UI"/>
              </a:rPr>
              <a:t>Before</a:t>
            </a:r>
          </a:p>
          <a:p>
            <a:pPr algn="l">
              <a:lnSpc>
                <a:spcPct val="120000"/>
              </a:lnSpc>
              <a:spcBef>
                <a:spcPts val="300"/>
              </a:spcBef>
            </a:pPr>
            <a:r>
              <a:rPr sz="1300" b="1">
                <a:solidFill>
                  <a:srgbClr val="1F2937"/>
                </a:solidFill>
                <a:latin typeface="Meiryo UI"/>
              </a:rPr>
              <a:t>• </a:t>
            </a:r>
            <a:r>
              <a:rPr sz="1300" b="0">
                <a:solidFill>
                  <a:srgbClr val="1F2937"/>
                </a:solidFill>
                <a:latin typeface="Meiryo UI"/>
              </a:rPr>
              <a:t>Submodules are not supported, and sovereign clouds are not supported in the documented Git limitations</a:t>
            </a:r>
          </a:p>
          <a:p>
            <a:pPr algn="l">
              <a:lnSpc>
                <a:spcPct val="120000"/>
              </a:lnSpc>
              <a:spcBef>
                <a:spcPts val="300"/>
              </a:spcBef>
            </a:pPr>
            <a:r>
              <a:rPr sz="1300" b="1">
                <a:solidFill>
                  <a:srgbClr val="1F2937"/>
                </a:solidFill>
                <a:latin typeface="Meiryo UI"/>
              </a:rPr>
              <a:t>• </a:t>
            </a:r>
            <a:r>
              <a:rPr sz="1300" b="0">
                <a:solidFill>
                  <a:srgbClr val="1F2937"/>
                </a:solidFill>
                <a:latin typeface="Meiryo UI"/>
              </a:rPr>
              <a:t>Cross-geo exports may require tenant admin enablement when workspace and Git repo are in different regions</a:t>
            </a:r>
          </a:p>
        </p:txBody>
      </p:sp>
      <p:sp>
        <p:nvSpPr>
          <p:cNvPr id="5" name="comparison_right"/>
          <p:cNvSpPr/>
          <p:nvPr/>
        </p:nvSpPr>
        <p:spPr>
          <a:xfrm>
            <a:off x="6208776" y="3050072"/>
            <a:ext cx="5522976" cy="2527767"/>
          </a:xfrm>
          <a:prstGeom prst="roundRect">
            <a:avLst/>
          </a:prstGeom>
          <a:solidFill>
            <a:srgbClr val="DDE4FE">
              <a:alpha val="90000"/>
            </a:srgbClr>
          </a:solidFill>
          <a:ln w="6350">
            <a:solidFill>
              <a:srgbClr val="DDE4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155448" bIns="91440">
            <a:normAutofit/>
          </a:bodyPr>
          <a:lstStyle/>
          <a:p>
            <a:pPr algn="l">
              <a:lnSpc>
                <a:spcPct val="120000"/>
              </a:lnSpc>
            </a:pPr>
            <a:r>
              <a:rPr sz="1550" b="1">
                <a:solidFill>
                  <a:srgbClr val="1F2937"/>
                </a:solidFill>
                <a:latin typeface="Meiryo UI"/>
              </a:rPr>
              <a:t>After</a:t>
            </a:r>
          </a:p>
          <a:p>
            <a:pPr algn="l">
              <a:lnSpc>
                <a:spcPct val="120000"/>
              </a:lnSpc>
              <a:spcBef>
                <a:spcPts val="300"/>
              </a:spcBef>
            </a:pPr>
            <a:r>
              <a:rPr sz="1300" b="1">
                <a:solidFill>
                  <a:srgbClr val="1F2937"/>
                </a:solidFill>
                <a:latin typeface="Meiryo UI"/>
              </a:rPr>
              <a:t>• </a:t>
            </a:r>
            <a:r>
              <a:rPr sz="1300" b="0">
                <a:solidFill>
                  <a:srgbClr val="1F2937"/>
                </a:solidFill>
                <a:latin typeface="Meiryo UI"/>
              </a:rPr>
              <a:t>Conditional access configuration can also affect supported operational patterns</a:t>
            </a:r>
          </a:p>
        </p:txBody>
      </p:sp>
      <p:pic>
        <p:nvPicPr>
          <p:cNvPr id="6" name="design_icon_Picture 5" descr="warning-24-regular_t_DCFEE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0992" y="3141512"/>
            <a:ext cx="237744" cy="237744"/>
          </a:xfrm>
          <a:prstGeom prst="rect">
            <a:avLst/>
          </a:prstGeom>
        </p:spPr>
      </p:pic>
      <p:pic>
        <p:nvPicPr>
          <p:cNvPr id="7" name="design_icon_Picture 6" descr="checkmark-24-regular_t_DDE4F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2568" y="3141512"/>
            <a:ext cx="237744" cy="237744"/>
          </a:xfrm>
          <a:prstGeom prst="rect">
            <a:avLst/>
          </a:prstGeom>
        </p:spPr>
      </p:pic>
      <p:pic>
        <p:nvPicPr>
          <p:cNvPr id="8" name="icon_Picture 7" descr="map-24-regular_t_DCFEE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85832" y="68580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85800" y="457200"/>
            <a:ext cx="8449056" cy="1336029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937"/>
                </a:solidFill>
                <a:latin typeface="Meiryo UI"/>
              </a:rPr>
              <a:t>Managed private endpoints secure Eventstream connectivity for sensitive streaming environments</a:t>
            </a:r>
          </a:p>
        </p:txBody>
      </p:sp>
      <p:sp>
        <p:nvSpPr>
          <p:cNvPr id="3" name="key_message"/>
          <p:cNvSpPr txBox="1"/>
          <p:nvPr/>
        </p:nvSpPr>
        <p:spPr>
          <a:xfrm>
            <a:off x="685800" y="1866381"/>
            <a:ext cx="8449056" cy="347472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32000"/>
              </a:lnSpc>
            </a:pPr>
            <a:r>
              <a:rPr sz="1430" b="0">
                <a:solidFill>
                  <a:srgbClr val="1F2937"/>
                </a:solidFill>
                <a:latin typeface="Meiryo UI"/>
              </a:rPr>
              <a:t>The June 2025 Eventstream GA with managed private endpoints extends Fabric governance into streaming by supporting private network and firewall-constrained connectivity.</a:t>
            </a:r>
          </a:p>
        </p:txBody>
      </p:sp>
      <p:sp>
        <p:nvSpPr>
          <p:cNvPr id="4" name="card_0"/>
          <p:cNvSpPr/>
          <p:nvPr/>
        </p:nvSpPr>
        <p:spPr>
          <a:xfrm>
            <a:off x="457200" y="2488173"/>
            <a:ext cx="5486400" cy="1581912"/>
          </a:xfrm>
          <a:prstGeom prst="roundRect">
            <a:avLst/>
          </a:prstGeom>
          <a:solidFill>
            <a:srgbClr val="F2F5FF">
              <a:alpha val="90000"/>
            </a:srgbClr>
          </a:solidFill>
          <a:ln w="6350">
            <a:solidFill>
              <a:srgbClr val="F2F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530900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50" b="1">
                <a:solidFill>
                  <a:srgbClr val="1F2937"/>
                </a:solidFill>
                <a:latin typeface="Meiryo UI"/>
              </a:rPr>
              <a:t>Secure data streaming with managed private endpoints in Fabric Eventstream reached GA in June 2025</a:t>
            </a:r>
          </a:p>
        </p:txBody>
      </p:sp>
      <p:pic>
        <p:nvPicPr>
          <p:cNvPr id="5" name="design_icon_Picture 4" descr="sparkle-24-regular_t_F2F5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" y="2579613"/>
            <a:ext cx="348020" cy="348020"/>
          </a:xfrm>
          <a:prstGeom prst="rect">
            <a:avLst/>
          </a:prstGeom>
        </p:spPr>
      </p:pic>
      <p:sp>
        <p:nvSpPr>
          <p:cNvPr id="6" name="card_1"/>
          <p:cNvSpPr/>
          <p:nvPr/>
        </p:nvSpPr>
        <p:spPr>
          <a:xfrm>
            <a:off x="6236208" y="2488173"/>
            <a:ext cx="5486400" cy="1581912"/>
          </a:xfrm>
          <a:prstGeom prst="roundRect">
            <a:avLst/>
          </a:prstGeom>
          <a:solidFill>
            <a:srgbClr val="F2F4FE">
              <a:alpha val="90000"/>
            </a:srgbClr>
          </a:solidFill>
          <a:ln w="6350">
            <a:solidFill>
              <a:srgbClr val="F2F4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530900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50" b="1">
                <a:solidFill>
                  <a:srgbClr val="1F2937"/>
                </a:solidFill>
                <a:latin typeface="Meiryo UI"/>
              </a:rPr>
              <a:t>The feature supports secure connection to Azure services such as Event Hubs or IoT Hub within private networks</a:t>
            </a:r>
          </a:p>
        </p:txBody>
      </p:sp>
      <p:pic>
        <p:nvPicPr>
          <p:cNvPr id="7" name="design_icon_Picture 6" descr="sparkle-24-regular_t_F2F4F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4224" y="2579613"/>
            <a:ext cx="348020" cy="348020"/>
          </a:xfrm>
          <a:prstGeom prst="rect">
            <a:avLst/>
          </a:prstGeom>
        </p:spPr>
      </p:pic>
      <p:sp>
        <p:nvSpPr>
          <p:cNvPr id="8" name="card_2"/>
          <p:cNvSpPr/>
          <p:nvPr/>
        </p:nvSpPr>
        <p:spPr>
          <a:xfrm>
            <a:off x="457200" y="4326117"/>
            <a:ext cx="5486400" cy="1581912"/>
          </a:xfrm>
          <a:prstGeom prst="roundRect">
            <a:avLst/>
          </a:prstGeom>
          <a:solidFill>
            <a:srgbClr val="F2F5FF">
              <a:alpha val="90000"/>
            </a:srgbClr>
          </a:solidFill>
          <a:ln w="6350">
            <a:solidFill>
              <a:srgbClr val="F2F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530900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50" b="1">
                <a:solidFill>
                  <a:srgbClr val="1F2937"/>
                </a:solidFill>
                <a:latin typeface="Meiryo UI"/>
              </a:rPr>
              <a:t>This strengthens the enterprise case for real-time scenarios that cannot rely on open public connectivity</a:t>
            </a:r>
          </a:p>
        </p:txBody>
      </p:sp>
      <p:pic>
        <p:nvPicPr>
          <p:cNvPr id="9" name="design_icon_Picture 8" descr="sparkle-24-regular_t_F2F5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" y="4417557"/>
            <a:ext cx="348020" cy="34802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85800" y="457200"/>
            <a:ext cx="8449056" cy="1336029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937"/>
                </a:solidFill>
                <a:latin typeface="Meiryo UI"/>
              </a:rPr>
              <a:t>Dynamic Data Masking and SQL auditing deepen the platform’s production governance posture</a:t>
            </a:r>
          </a:p>
        </p:txBody>
      </p:sp>
      <p:sp>
        <p:nvSpPr>
          <p:cNvPr id="3" name="key_message"/>
          <p:cNvSpPr txBox="1"/>
          <p:nvPr/>
        </p:nvSpPr>
        <p:spPr>
          <a:xfrm>
            <a:off x="685800" y="1956450"/>
            <a:ext cx="8449056" cy="853409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32000"/>
              </a:lnSpc>
            </a:pPr>
            <a:r>
              <a:rPr sz="1550" b="0">
                <a:solidFill>
                  <a:srgbClr val="1F2937"/>
                </a:solidFill>
                <a:latin typeface="Meiryo UI"/>
              </a:rPr>
              <a:t>March 2026 GA for Dynamic Data Masking and SQL database auditing shows Fabric is continuing to harden its security and compliance controls in the SQL layer.</a:t>
            </a:r>
          </a:p>
        </p:txBody>
      </p:sp>
      <p:sp>
        <p:nvSpPr>
          <p:cNvPr id="4" name="summary_0"/>
          <p:cNvSpPr/>
          <p:nvPr/>
        </p:nvSpPr>
        <p:spPr>
          <a:xfrm>
            <a:off x="457200" y="4206240"/>
            <a:ext cx="5567324" cy="674141"/>
          </a:xfrm>
          <a:prstGeom prst="roundRect">
            <a:avLst/>
          </a:prstGeom>
          <a:solidFill>
            <a:srgbClr val="D3DAFD">
              <a:alpha val="90000"/>
            </a:srgbClr>
          </a:solidFill>
          <a:ln w="6350">
            <a:solidFill>
              <a:srgbClr val="D3DA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155448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00" b="1">
                <a:solidFill>
                  <a:srgbClr val="1F2937"/>
                </a:solidFill>
                <a:latin typeface="Meiryo UI"/>
              </a:rPr>
              <a:t>Dynamic Data Masking reached GA in March 2026</a:t>
            </a:r>
          </a:p>
        </p:txBody>
      </p:sp>
      <p:pic>
        <p:nvPicPr>
          <p:cNvPr id="5" name="design_icon_Picture 4" descr="task-list-24-regular_t_D3DA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8492" y="4297679"/>
            <a:ext cx="164592" cy="164592"/>
          </a:xfrm>
          <a:prstGeom prst="rect">
            <a:avLst/>
          </a:prstGeom>
        </p:spPr>
      </p:pic>
      <p:sp>
        <p:nvSpPr>
          <p:cNvPr id="6" name="summary_1"/>
          <p:cNvSpPr/>
          <p:nvPr/>
        </p:nvSpPr>
        <p:spPr>
          <a:xfrm>
            <a:off x="6164427" y="4206240"/>
            <a:ext cx="5567324" cy="674141"/>
          </a:xfrm>
          <a:prstGeom prst="roundRect">
            <a:avLst/>
          </a:prstGeom>
          <a:solidFill>
            <a:srgbClr val="FFE4F6">
              <a:alpha val="90000"/>
            </a:srgbClr>
          </a:solidFill>
          <a:ln w="6350">
            <a:solidFill>
              <a:srgbClr val="FFE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155448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00" b="1">
                <a:solidFill>
                  <a:srgbClr val="1F2937"/>
                </a:solidFill>
                <a:latin typeface="Meiryo UI"/>
              </a:rPr>
              <a:t>SQL database auditing also reached GA in March 2026</a:t>
            </a:r>
          </a:p>
        </p:txBody>
      </p:sp>
      <p:pic>
        <p:nvPicPr>
          <p:cNvPr id="7" name="design_icon_Picture 6" descr="task-list-24-regular_t_FFE4F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5719" y="4297679"/>
            <a:ext cx="164592" cy="164592"/>
          </a:xfrm>
          <a:prstGeom prst="rect">
            <a:avLst/>
          </a:prstGeom>
        </p:spPr>
      </p:pic>
      <p:sp>
        <p:nvSpPr>
          <p:cNvPr id="8" name="summary_2"/>
          <p:cNvSpPr/>
          <p:nvPr/>
        </p:nvSpPr>
        <p:spPr>
          <a:xfrm>
            <a:off x="457200" y="4903698"/>
            <a:ext cx="5567324" cy="674141"/>
          </a:xfrm>
          <a:prstGeom prst="roundRect">
            <a:avLst/>
          </a:prstGeom>
          <a:solidFill>
            <a:srgbClr val="FFF3FA">
              <a:alpha val="90000"/>
            </a:srgbClr>
          </a:solidFill>
          <a:ln w="6350">
            <a:solidFill>
              <a:srgbClr val="FFF3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155448" bIns="91440">
            <a:normAutofit/>
          </a:bodyPr>
          <a:lstStyle/>
          <a:p>
            <a:pPr algn="l">
              <a:lnSpc>
                <a:spcPct val="116000"/>
              </a:lnSpc>
            </a:pPr>
            <a:r>
              <a:rPr sz="1240" b="1">
                <a:solidFill>
                  <a:srgbClr val="1F2937"/>
                </a:solidFill>
                <a:latin typeface="Meiryo UI"/>
              </a:rPr>
              <a:t>These controls strengthen Fabric’s fit for governed analytical and database workloads</a:t>
            </a:r>
          </a:p>
        </p:txBody>
      </p:sp>
      <p:pic>
        <p:nvPicPr>
          <p:cNvPr id="9" name="design_icon_Picture 8" descr="task-list-24-regular_t_FFF3F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8492" y="4995138"/>
            <a:ext cx="164592" cy="164592"/>
          </a:xfrm>
          <a:prstGeom prst="rect">
            <a:avLst/>
          </a:prstGeom>
        </p:spPr>
      </p:pic>
      <p:pic>
        <p:nvPicPr>
          <p:cNvPr id="10" name="icon_Picture 9" descr="shield-24-regular_t_D3DAF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85832" y="68580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1033271" y="2224735"/>
            <a:ext cx="8193024" cy="160276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12000"/>
              </a:lnSpc>
            </a:pPr>
            <a:r>
              <a:rPr sz="3300" b="1">
                <a:solidFill>
                  <a:srgbClr val="1F2937"/>
                </a:solidFill>
                <a:latin typeface="Meiryo UI"/>
              </a:rPr>
              <a:t>Recent releases show Fabric is still accelerating across SQL, streaming, and governance</a:t>
            </a:r>
          </a:p>
        </p:txBody>
      </p:sp>
      <p:sp>
        <p:nvSpPr>
          <p:cNvPr id="3" name="key_message"/>
          <p:cNvSpPr txBox="1"/>
          <p:nvPr/>
        </p:nvSpPr>
        <p:spPr>
          <a:xfrm>
            <a:off x="1033271" y="4470410"/>
            <a:ext cx="8193024" cy="1107429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32000"/>
              </a:lnSpc>
            </a:pPr>
            <a:r>
              <a:rPr sz="1800" b="0">
                <a:solidFill>
                  <a:srgbClr val="1F2937"/>
                </a:solidFill>
                <a:latin typeface="Meiryo UI"/>
              </a:rPr>
              <a:t>The cadence of new capabilities matters because it shows Fabric is not a static platform but an actively expanding operating environment.</a:t>
            </a:r>
          </a:p>
        </p:txBody>
      </p:sp>
      <p:pic>
        <p:nvPicPr>
          <p:cNvPr id="4" name="icon_Picture 3" descr="rocket-24-regular_t_FFE4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4432" y="45720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85800" y="457200"/>
            <a:ext cx="8449056" cy="1336029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937"/>
                </a:solidFill>
                <a:latin typeface="Meiryo UI"/>
              </a:rPr>
              <a:t>The April 2025 to March 2026 release cadence signals sustained investment rather than isolated feature drops</a:t>
            </a:r>
          </a:p>
        </p:txBody>
      </p:sp>
      <p:sp>
        <p:nvSpPr>
          <p:cNvPr id="3" name="key_message"/>
          <p:cNvSpPr txBox="1"/>
          <p:nvPr/>
        </p:nvSpPr>
        <p:spPr>
          <a:xfrm>
            <a:off x="685800" y="1957821"/>
            <a:ext cx="8449056" cy="853409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32000"/>
              </a:lnSpc>
            </a:pPr>
            <a:r>
              <a:rPr sz="1550" b="0">
                <a:solidFill>
                  <a:srgbClr val="1F2937"/>
                </a:solidFill>
                <a:latin typeface="Meiryo UI"/>
              </a:rPr>
              <a:t>A steady stream of updates across 12 months suggests Microsoft is strengthening Fabric across multiple layers at once, which lowers the risk of platform stagnation.</a:t>
            </a:r>
          </a:p>
        </p:txBody>
      </p:sp>
      <p:sp>
        <p:nvSpPr>
          <p:cNvPr id="4" name="design_timeline_spine"/>
          <p:cNvSpPr/>
          <p:nvPr/>
        </p:nvSpPr>
        <p:spPr>
          <a:xfrm>
            <a:off x="1005840" y="3176991"/>
            <a:ext cx="36576" cy="2404872"/>
          </a:xfrm>
          <a:prstGeom prst="rect">
            <a:avLst/>
          </a:prstGeom>
          <a:solidFill>
            <a:srgbClr val="FF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sign_dot_0"/>
          <p:cNvSpPr/>
          <p:nvPr/>
        </p:nvSpPr>
        <p:spPr>
          <a:xfrm>
            <a:off x="896112" y="3344487"/>
            <a:ext cx="219456" cy="219456"/>
          </a:xfrm>
          <a:prstGeom prst="ellipse">
            <a:avLst/>
          </a:prstGeom>
          <a:solidFill>
            <a:srgbClr val="FF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imeline_0"/>
          <p:cNvSpPr/>
          <p:nvPr/>
        </p:nvSpPr>
        <p:spPr>
          <a:xfrm>
            <a:off x="1325880" y="3140415"/>
            <a:ext cx="10405872" cy="680240"/>
          </a:xfrm>
          <a:prstGeom prst="roundRect">
            <a:avLst/>
          </a:prstGeom>
          <a:solidFill>
            <a:srgbClr val="FFF3FA">
              <a:alpha val="90000"/>
            </a:srgbClr>
          </a:solidFill>
          <a:ln w="6350">
            <a:solidFill>
              <a:srgbClr val="FFF3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109728" bIns="91440">
            <a:normAutofit/>
          </a:bodyPr>
          <a:lstStyle/>
          <a:p>
            <a:pPr algn="l">
              <a:lnSpc>
                <a:spcPct val="116000"/>
              </a:lnSpc>
            </a:pPr>
            <a:r>
              <a:rPr sz="1240" b="1">
                <a:solidFill>
                  <a:srgbClr val="1F2937"/>
                </a:solidFill>
                <a:latin typeface="Meiryo UI"/>
              </a:rPr>
              <a:t>April 2025</a:t>
            </a:r>
          </a:p>
          <a:p>
            <a:pPr algn="l">
              <a:lnSpc>
                <a:spcPct val="116000"/>
              </a:lnSpc>
              <a:spcBef>
                <a:spcPts val="400"/>
              </a:spcBef>
            </a:pPr>
            <a:r>
              <a:rPr sz="1100" b="0">
                <a:solidFill>
                  <a:srgbClr val="1F2937"/>
                </a:solidFill>
                <a:latin typeface="Meiryo UI"/>
              </a:rPr>
              <a:t>Spark connector for Warehouse runtime and session-scoped distributed #temp tables</a:t>
            </a:r>
          </a:p>
        </p:txBody>
      </p:sp>
      <p:sp>
        <p:nvSpPr>
          <p:cNvPr id="7" name="design_dot_1"/>
          <p:cNvSpPr/>
          <p:nvPr/>
        </p:nvSpPr>
        <p:spPr>
          <a:xfrm>
            <a:off x="896112" y="4144770"/>
            <a:ext cx="219456" cy="219456"/>
          </a:xfrm>
          <a:prstGeom prst="ellipse">
            <a:avLst/>
          </a:prstGeom>
          <a:solidFill>
            <a:srgbClr val="E4F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imeline_1"/>
          <p:cNvSpPr/>
          <p:nvPr/>
        </p:nvSpPr>
        <p:spPr>
          <a:xfrm>
            <a:off x="1325880" y="3940698"/>
            <a:ext cx="10405872" cy="680240"/>
          </a:xfrm>
          <a:prstGeom prst="roundRect">
            <a:avLst/>
          </a:prstGeom>
          <a:solidFill>
            <a:srgbClr val="E4FEEF">
              <a:alpha val="90000"/>
            </a:srgbClr>
          </a:solidFill>
          <a:ln w="6350">
            <a:solidFill>
              <a:srgbClr val="E4FE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109728" bIns="91440">
            <a:normAutofit/>
          </a:bodyPr>
          <a:lstStyle/>
          <a:p>
            <a:pPr algn="l">
              <a:lnSpc>
                <a:spcPct val="116000"/>
              </a:lnSpc>
            </a:pPr>
            <a:r>
              <a:rPr sz="1240" b="1">
                <a:solidFill>
                  <a:srgbClr val="1F2937"/>
                </a:solidFill>
                <a:latin typeface="Meiryo UI"/>
              </a:rPr>
              <a:t>May to July 2025</a:t>
            </a:r>
          </a:p>
          <a:p>
            <a:pPr algn="l">
              <a:lnSpc>
                <a:spcPct val="116000"/>
              </a:lnSpc>
              <a:spcBef>
                <a:spcPts val="400"/>
              </a:spcBef>
            </a:pPr>
            <a:r>
              <a:rPr sz="1100" b="0">
                <a:solidFill>
                  <a:srgbClr val="1F2937"/>
                </a:solidFill>
                <a:latin typeface="Meiryo UI"/>
              </a:rPr>
              <a:t>JSON aggregates, metadata API GA, notebook history GA, T-SQL notebooks GA, DOP feedback GA</a:t>
            </a:r>
          </a:p>
        </p:txBody>
      </p:sp>
      <p:sp>
        <p:nvSpPr>
          <p:cNvPr id="9" name="design_dot_2"/>
          <p:cNvSpPr/>
          <p:nvPr/>
        </p:nvSpPr>
        <p:spPr>
          <a:xfrm>
            <a:off x="896112" y="4945053"/>
            <a:ext cx="219456" cy="219456"/>
          </a:xfrm>
          <a:prstGeom prst="ellipse">
            <a:avLst/>
          </a:prstGeom>
          <a:solidFill>
            <a:srgbClr val="DCFE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imeline_2"/>
          <p:cNvSpPr/>
          <p:nvPr/>
        </p:nvSpPr>
        <p:spPr>
          <a:xfrm>
            <a:off x="1325880" y="4740981"/>
            <a:ext cx="10405872" cy="680240"/>
          </a:xfrm>
          <a:prstGeom prst="roundRect">
            <a:avLst/>
          </a:prstGeom>
          <a:solidFill>
            <a:srgbClr val="DCFEE9">
              <a:alpha val="90000"/>
            </a:srgbClr>
          </a:solidFill>
          <a:ln w="6350">
            <a:solidFill>
              <a:srgbClr val="DCF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109728" bIns="91440">
            <a:normAutofit/>
          </a:bodyPr>
          <a:lstStyle/>
          <a:p>
            <a:pPr algn="l">
              <a:lnSpc>
                <a:spcPct val="116000"/>
              </a:lnSpc>
            </a:pPr>
            <a:r>
              <a:rPr sz="1240" b="1">
                <a:solidFill>
                  <a:srgbClr val="1F2937"/>
                </a:solidFill>
                <a:latin typeface="Meiryo UI"/>
              </a:rPr>
              <a:t>March 2026</a:t>
            </a:r>
          </a:p>
          <a:p>
            <a:pPr algn="l">
              <a:lnSpc>
                <a:spcPct val="116000"/>
              </a:lnSpc>
              <a:spcBef>
                <a:spcPts val="400"/>
              </a:spcBef>
            </a:pPr>
            <a:r>
              <a:rPr sz="1100" b="0">
                <a:solidFill>
                  <a:srgbClr val="1F2937"/>
                </a:solidFill>
                <a:latin typeface="Meiryo UI"/>
              </a:rPr>
              <a:t>Dynamic Data Masking GA and SQL database auditing GA</a:t>
            </a:r>
          </a:p>
        </p:txBody>
      </p:sp>
      <p:pic>
        <p:nvPicPr>
          <p:cNvPr id="11" name="icon_Picture 10" descr="timeline-24-regular_t_FFF3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85832" y="68580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85800" y="457200"/>
            <a:ext cx="8449056" cy="125986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937"/>
                </a:solidFill>
                <a:latin typeface="Meiryo UI"/>
              </a:rPr>
              <a:t>The mix of GA releases reduces migration and production risk for standardizing on Fabric</a:t>
            </a:r>
          </a:p>
        </p:txBody>
      </p:sp>
      <p:sp>
        <p:nvSpPr>
          <p:cNvPr id="3" name="key_message"/>
          <p:cNvSpPr txBox="1"/>
          <p:nvPr/>
        </p:nvSpPr>
        <p:spPr>
          <a:xfrm>
            <a:off x="685800" y="1790212"/>
            <a:ext cx="8449056" cy="347472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32000"/>
              </a:lnSpc>
            </a:pPr>
            <a:r>
              <a:rPr sz="1430" b="0">
                <a:solidFill>
                  <a:srgbClr val="1F2937"/>
                </a:solidFill>
                <a:latin typeface="Meiryo UI"/>
              </a:rPr>
              <a:t>General availability matters because it signals which parts of the platform are crossing from promising capability into more dependable production posture.</a:t>
            </a:r>
          </a:p>
        </p:txBody>
      </p:sp>
      <p:sp>
        <p:nvSpPr>
          <p:cNvPr id="4" name="card_0"/>
          <p:cNvSpPr/>
          <p:nvPr/>
        </p:nvSpPr>
        <p:spPr>
          <a:xfrm>
            <a:off x="457200" y="2441448"/>
            <a:ext cx="5486400" cy="1847088"/>
          </a:xfrm>
          <a:prstGeom prst="roundRect">
            <a:avLst/>
          </a:prstGeom>
          <a:solidFill>
            <a:srgbClr val="F5FFF9">
              <a:alpha val="90000"/>
            </a:srgbClr>
          </a:solidFill>
          <a:ln w="6350">
            <a:solidFill>
              <a:srgbClr val="F5FF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589239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50" b="1">
                <a:solidFill>
                  <a:srgbClr val="1F2937"/>
                </a:solidFill>
                <a:latin typeface="Meiryo UI"/>
              </a:rPr>
              <a:t>GA examples include mirrored Databricks catalogs, notebook history, T-SQL notebooks, DOP feedback, and Eventstream managed private endpoints</a:t>
            </a:r>
          </a:p>
        </p:txBody>
      </p:sp>
      <p:pic>
        <p:nvPicPr>
          <p:cNvPr id="5" name="design_icon_Picture 4" descr="check-24-regular_t_F5FF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" y="2532888"/>
            <a:ext cx="406359" cy="406359"/>
          </a:xfrm>
          <a:prstGeom prst="rect">
            <a:avLst/>
          </a:prstGeom>
        </p:spPr>
      </p:pic>
      <p:sp>
        <p:nvSpPr>
          <p:cNvPr id="6" name="card_1"/>
          <p:cNvSpPr/>
          <p:nvPr/>
        </p:nvSpPr>
        <p:spPr>
          <a:xfrm>
            <a:off x="6236208" y="2441448"/>
            <a:ext cx="5486400" cy="1847088"/>
          </a:xfrm>
          <a:prstGeom prst="roundRect">
            <a:avLst/>
          </a:prstGeom>
          <a:solidFill>
            <a:srgbClr val="F4FFF8">
              <a:alpha val="90000"/>
            </a:srgbClr>
          </a:solidFill>
          <a:ln w="6350">
            <a:solidFill>
              <a:srgbClr val="F4F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589239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50" b="1">
                <a:solidFill>
                  <a:srgbClr val="1F2937"/>
                </a:solidFill>
                <a:latin typeface="Meiryo UI"/>
              </a:rPr>
              <a:t>GA security controls continue into 2026 with masking and auditing in the SQL layer</a:t>
            </a:r>
          </a:p>
        </p:txBody>
      </p:sp>
      <p:pic>
        <p:nvPicPr>
          <p:cNvPr id="7" name="design_icon_Picture 6" descr="check-24-regular_t_F4FFF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4224" y="2532888"/>
            <a:ext cx="406359" cy="406359"/>
          </a:xfrm>
          <a:prstGeom prst="rect">
            <a:avLst/>
          </a:prstGeom>
        </p:spPr>
      </p:pic>
      <p:sp>
        <p:nvSpPr>
          <p:cNvPr id="8" name="card_2"/>
          <p:cNvSpPr/>
          <p:nvPr/>
        </p:nvSpPr>
        <p:spPr>
          <a:xfrm>
            <a:off x="457200" y="4544568"/>
            <a:ext cx="5486400" cy="1847088"/>
          </a:xfrm>
          <a:prstGeom prst="roundRect">
            <a:avLst/>
          </a:prstGeom>
          <a:solidFill>
            <a:srgbClr val="F5FFF9">
              <a:alpha val="90000"/>
            </a:srgbClr>
          </a:solidFill>
          <a:ln w="6350">
            <a:solidFill>
              <a:srgbClr val="F5FF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589239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50" b="1">
                <a:solidFill>
                  <a:srgbClr val="1F2937"/>
                </a:solidFill>
                <a:latin typeface="Meiryo UI"/>
              </a:rPr>
              <a:t>This mix of GA capabilities strengthens Fabric’s credibility across both innovation and control</a:t>
            </a:r>
          </a:p>
        </p:txBody>
      </p:sp>
      <p:pic>
        <p:nvPicPr>
          <p:cNvPr id="9" name="design_icon_Picture 8" descr="check-24-regular_t_F5FF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" y="4636007"/>
            <a:ext cx="406359" cy="406359"/>
          </a:xfrm>
          <a:prstGeom prst="rect">
            <a:avLst/>
          </a:prstGeom>
        </p:spPr>
      </p:pic>
      <p:pic>
        <p:nvPicPr>
          <p:cNvPr id="10" name="icon_Picture 9" descr="check-24-regular_t_E4FEE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85832" y="68580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85800" y="457200"/>
            <a:ext cx="8449056" cy="90425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937"/>
                </a:solidFill>
                <a:latin typeface="Meiryo UI"/>
              </a:rPr>
              <a:t>Preview features should be ring-fenced so innovation does not outrun governance</a:t>
            </a:r>
          </a:p>
        </p:txBody>
      </p:sp>
      <p:sp>
        <p:nvSpPr>
          <p:cNvPr id="3" name="key_message"/>
          <p:cNvSpPr txBox="1"/>
          <p:nvPr/>
        </p:nvSpPr>
        <p:spPr>
          <a:xfrm>
            <a:off x="685800" y="1526042"/>
            <a:ext cx="8449056" cy="853409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32000"/>
              </a:lnSpc>
            </a:pPr>
            <a:r>
              <a:rPr sz="1490" b="0">
                <a:solidFill>
                  <a:srgbClr val="1F2937"/>
                </a:solidFill>
                <a:latin typeface="Meiryo UI"/>
              </a:rPr>
              <a:t>Fabric’s preview policy is explicit that preview features are not for production use, so disciplined adoption requires separating experimentation from standard operations.</a:t>
            </a:r>
          </a:p>
        </p:txBody>
      </p:sp>
      <p:sp>
        <p:nvSpPr>
          <p:cNvPr id="4" name="summary_0"/>
          <p:cNvSpPr/>
          <p:nvPr/>
        </p:nvSpPr>
        <p:spPr>
          <a:xfrm>
            <a:off x="457200" y="3778483"/>
            <a:ext cx="5567324" cy="884383"/>
          </a:xfrm>
          <a:prstGeom prst="roundRect">
            <a:avLst/>
          </a:prstGeom>
          <a:solidFill>
            <a:srgbClr val="DCFEE9">
              <a:alpha val="90000"/>
            </a:srgbClr>
          </a:solidFill>
          <a:ln w="6350">
            <a:solidFill>
              <a:srgbClr val="DCF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155448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00" b="1">
                <a:solidFill>
                  <a:srgbClr val="1F2937"/>
                </a:solidFill>
                <a:latin typeface="Meiryo UI"/>
              </a:rPr>
              <a:t>The documentation states preview experiences are not meant for production use</a:t>
            </a:r>
          </a:p>
        </p:txBody>
      </p:sp>
      <p:pic>
        <p:nvPicPr>
          <p:cNvPr id="5" name="design_icon_Picture 4" descr="task-list-24-regular_t_DCFEE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8492" y="3869923"/>
            <a:ext cx="164592" cy="164592"/>
          </a:xfrm>
          <a:prstGeom prst="rect">
            <a:avLst/>
          </a:prstGeom>
        </p:spPr>
      </p:pic>
      <p:sp>
        <p:nvSpPr>
          <p:cNvPr id="6" name="summary_1"/>
          <p:cNvSpPr/>
          <p:nvPr/>
        </p:nvSpPr>
        <p:spPr>
          <a:xfrm>
            <a:off x="6164427" y="3778483"/>
            <a:ext cx="5567324" cy="884383"/>
          </a:xfrm>
          <a:prstGeom prst="roundRect">
            <a:avLst/>
          </a:prstGeom>
          <a:solidFill>
            <a:srgbClr val="DDE4FE">
              <a:alpha val="90000"/>
            </a:srgbClr>
          </a:solidFill>
          <a:ln w="6350">
            <a:solidFill>
              <a:srgbClr val="DDE4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155448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00" b="1">
                <a:solidFill>
                  <a:srgbClr val="1F2937"/>
                </a:solidFill>
                <a:latin typeface="Meiryo UI"/>
              </a:rPr>
              <a:t>Preview features are not subject to SLAs and can have limited or restricted functionality</a:t>
            </a:r>
          </a:p>
        </p:txBody>
      </p:sp>
      <p:pic>
        <p:nvPicPr>
          <p:cNvPr id="7" name="design_icon_Picture 6" descr="task-list-24-regular_t_DDE4F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5719" y="3869923"/>
            <a:ext cx="164592" cy="164592"/>
          </a:xfrm>
          <a:prstGeom prst="rect">
            <a:avLst/>
          </a:prstGeom>
        </p:spPr>
      </p:pic>
      <p:sp>
        <p:nvSpPr>
          <p:cNvPr id="8" name="summary_2"/>
          <p:cNvSpPr/>
          <p:nvPr/>
        </p:nvSpPr>
        <p:spPr>
          <a:xfrm>
            <a:off x="457200" y="4693456"/>
            <a:ext cx="5567324" cy="884383"/>
          </a:xfrm>
          <a:prstGeom prst="roundRect">
            <a:avLst/>
          </a:prstGeom>
          <a:solidFill>
            <a:srgbClr val="D3DAFD">
              <a:alpha val="90000"/>
            </a:srgbClr>
          </a:solidFill>
          <a:ln w="6350">
            <a:solidFill>
              <a:srgbClr val="D3DA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155448" bIns="91440">
            <a:normAutofit/>
          </a:bodyPr>
          <a:lstStyle/>
          <a:p>
            <a:pPr algn="l">
              <a:lnSpc>
                <a:spcPct val="122000"/>
              </a:lnSpc>
            </a:pPr>
            <a:r>
              <a:rPr sz="1400" b="1">
                <a:solidFill>
                  <a:srgbClr val="1F2937"/>
                </a:solidFill>
                <a:latin typeface="Meiryo UI"/>
              </a:rPr>
              <a:t>A ring-fenced rollout model lets teams learn quickly without weakening production governance</a:t>
            </a:r>
          </a:p>
        </p:txBody>
      </p:sp>
      <p:pic>
        <p:nvPicPr>
          <p:cNvPr id="9" name="design_icon_Picture 8" descr="task-list-24-regular_t_D3DAF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8492" y="4784896"/>
            <a:ext cx="164592" cy="164592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1033271" y="2107326"/>
            <a:ext cx="8193024" cy="160276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12000"/>
              </a:lnSpc>
            </a:pPr>
            <a:r>
              <a:rPr sz="3300" b="1">
                <a:solidFill>
                  <a:srgbClr val="1F2937"/>
                </a:solidFill>
                <a:latin typeface="Meiryo UI"/>
              </a:rPr>
              <a:t>Fabric is strongest when standardization and governance move forward together</a:t>
            </a:r>
          </a:p>
        </p:txBody>
      </p:sp>
      <p:sp>
        <p:nvSpPr>
          <p:cNvPr id="3" name="key_message"/>
          <p:cNvSpPr txBox="1"/>
          <p:nvPr/>
        </p:nvSpPr>
        <p:spPr>
          <a:xfrm>
            <a:off x="1033271" y="3942984"/>
            <a:ext cx="8193024" cy="853409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lnSpc>
                <a:spcPct val="132000"/>
              </a:lnSpc>
            </a:pPr>
            <a:r>
              <a:rPr sz="1680" b="0">
                <a:solidFill>
                  <a:srgbClr val="1F2937"/>
                </a:solidFill>
                <a:latin typeface="Meiryo UI"/>
              </a:rPr>
              <a:t>The deck’s conclusion is that Fabric’s value comes from combining a shared technical core, broad integrated workloads, and enterprise-grade controls into one operating model.</a:t>
            </a:r>
          </a:p>
        </p:txBody>
      </p:sp>
      <p:pic>
        <p:nvPicPr>
          <p:cNvPr id="4" name="icon_Picture 3" descr="flag-24-regular_t_DDE4F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4432" y="45720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Microsoft Fabric turns fragmented analytics into one governed SaaS platform</dc:title>
  <dc:subject/>
  <dc:creator/>
  <cp:keywords/>
  <dc:description>generated using python-pptx</dc:description>
  <cp:lastModifiedBy>Steve Canny</cp:lastModifiedBy>
  <cp:revision>1</cp:revision>
  <dcterms:created xsi:type="dcterms:W3CDTF">2026-04-17T10:53:17Z</dcterms:created>
  <dcterms:modified xsi:type="dcterms:W3CDTF">2026-04-17T10:53:17Z</dcterms:modified>
  <cp:category/>
</cp:coreProperties>
</file>