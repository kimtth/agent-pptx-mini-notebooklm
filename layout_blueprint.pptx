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shows one slide per registered blueprint layout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layout — large centred title with subtitle.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slide with sidebar.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Standard bullet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Cards layout — 2-column grid with icon/header variants.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Stats layout — three metric boxes with footer.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 layout — left/right panels with sub-headers.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Timeline layout — vertical spine with milestone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layout — summary box + supporting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 layout — content area with sidebar.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layout — large content zone for chart rendering.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layout — native PowerPoint table with zebra stripes.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layout — centred thank-you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Multi-column layout — equal-width content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Content-caption layout — left ~35% narration, right ~65%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Two-content layout — equal side-by-side panels.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Title-only layout — title bar + open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Quote layout — centred quotation with attribution.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Big-number layout — dominant KPI with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Process layout — horizontal step flow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Pyramid layout — tiered vertical spine.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40664" y="2907792"/>
            <a:ext cx="10707624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333333"/>
                </a:solidFill>
                <a:latin typeface="Calibri"/>
              </a:rPr>
              <a:t>Layout Blueprint Catalogue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740664" y="5230368"/>
            <a:ext cx="1070762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1639" b="0">
                <a:solidFill>
                  <a:srgbClr val="333333"/>
                </a:solidFill>
                <a:latin typeface="Calibri"/>
              </a:rPr>
              <a:t>Every supported layout type rendered in a single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88136" y="3177540"/>
            <a:ext cx="100126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333333"/>
                </a:solidFill>
                <a:latin typeface="Calibri"/>
              </a:rPr>
              <a:t>Section Divider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1088136" y="5212080"/>
            <a:ext cx="100126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1739" b="0">
                <a:solidFill>
                  <a:srgbClr val="333333"/>
                </a:solidFill>
                <a:latin typeface="Calibri"/>
              </a:rPr>
              <a:t>Visual separator between presentation chapters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40664" y="457200"/>
            <a:ext cx="10707624" cy="408919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2200" b="1">
                <a:solidFill>
                  <a:srgbClr val="333333"/>
                </a:solidFill>
                <a:latin typeface="Calibri"/>
              </a:rPr>
              <a:t>Agenda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740664" y="1030711"/>
            <a:ext cx="1070762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1550" b="0">
                <a:solidFill>
                  <a:srgbClr val="333333"/>
                </a:solidFill>
                <a:latin typeface="Calibri"/>
              </a:rPr>
              <a:t>Topics we will cover today</a:t>
            </a:r>
          </a:p>
        </p:txBody>
      </p:sp>
      <p:sp>
        <p:nvSpPr>
          <p:cNvPr id="4" name="body_0"/>
          <p:cNvSpPr/>
          <p:nvPr/>
        </p:nvSpPr>
        <p:spPr>
          <a:xfrm>
            <a:off x="457200" y="1743943"/>
            <a:ext cx="7882127" cy="843457"/>
          </a:xfrm>
          <a:prstGeom prst="rect">
            <a:avLst/>
          </a:prstGeom>
          <a:noFill/>
          <a:ln w="12700">
            <a:solidFill>
              <a:srgbClr val="E97F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333333"/>
                </a:solidFill>
                <a:latin typeface="Calibri"/>
              </a:rPr>
              <a:t>Market Analysis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  <a:latin typeface="Calibri"/>
              </a:rPr>
              <a:t>Current landscape review</a:t>
            </a:r>
          </a:p>
        </p:txBody>
      </p:sp>
      <p:sp>
        <p:nvSpPr>
          <p:cNvPr id="5" name="body_1"/>
          <p:cNvSpPr/>
          <p:nvPr/>
        </p:nvSpPr>
        <p:spPr>
          <a:xfrm>
            <a:off x="457200" y="2740756"/>
            <a:ext cx="7882127" cy="843457"/>
          </a:xfrm>
          <a:prstGeom prst="rect">
            <a:avLst/>
          </a:prstGeom>
          <a:noFill/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333333"/>
                </a:solidFill>
                <a:latin typeface="Calibri"/>
              </a:rPr>
              <a:t>Product Strategy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  <a:latin typeface="Calibri"/>
              </a:rPr>
              <a:t>Roadmap for FY26</a:t>
            </a:r>
          </a:p>
        </p:txBody>
      </p:sp>
      <p:sp>
        <p:nvSpPr>
          <p:cNvPr id="6" name="body_2"/>
          <p:cNvSpPr/>
          <p:nvPr/>
        </p:nvSpPr>
        <p:spPr>
          <a:xfrm>
            <a:off x="457200" y="3737569"/>
            <a:ext cx="7882127" cy="843457"/>
          </a:xfrm>
          <a:prstGeom prst="rect">
            <a:avLst/>
          </a:prstGeom>
          <a:noFill/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333333"/>
                </a:solidFill>
                <a:latin typeface="Calibri"/>
              </a:rPr>
              <a:t>Financial Outlook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  <a:latin typeface="Calibri"/>
              </a:rPr>
              <a:t>Revenue projections</a:t>
            </a:r>
          </a:p>
        </p:txBody>
      </p:sp>
      <p:sp>
        <p:nvSpPr>
          <p:cNvPr id="7" name="body_3"/>
          <p:cNvSpPr/>
          <p:nvPr/>
        </p:nvSpPr>
        <p:spPr>
          <a:xfrm>
            <a:off x="457200" y="4734382"/>
            <a:ext cx="7882127" cy="843457"/>
          </a:xfrm>
          <a:prstGeom prst="rect">
            <a:avLst/>
          </a:prstGeom>
          <a:noFill/>
          <a:ln w="12700">
            <a:solidFill>
              <a:srgbClr val="217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333333"/>
                </a:solidFill>
                <a:latin typeface="Calibri"/>
              </a:rPr>
              <a:t>Q&amp;A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  <a:latin typeface="Calibri"/>
              </a:rPr>
              <a:t>Open discussion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40664" y="457200"/>
            <a:ext cx="10707624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2200" b="1">
                <a:solidFill>
                  <a:srgbClr val="333333"/>
                </a:solidFill>
                <a:latin typeface="Calibri"/>
              </a:rPr>
              <a:t>Bullet Points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740664" y="987552"/>
            <a:ext cx="1070762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1550" b="0">
                <a:solidFill>
                  <a:srgbClr val="333333"/>
                </a:solidFill>
                <a:latin typeface="Calibri"/>
              </a:rPr>
              <a:t>The most common slide layout for body content</a:t>
            </a:r>
          </a:p>
        </p:txBody>
      </p:sp>
      <p:sp>
        <p:nvSpPr>
          <p:cNvPr id="4" name="bullet_0"/>
          <p:cNvSpPr/>
          <p:nvPr/>
        </p:nvSpPr>
        <p:spPr>
          <a:xfrm>
            <a:off x="457200" y="1700784"/>
            <a:ext cx="11274552" cy="1188963"/>
          </a:xfrm>
          <a:prstGeom prst="rect">
            <a:avLst/>
          </a:prstGeom>
          <a:noFill/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333333"/>
                </a:solidFill>
                <a:latin typeface="Calibri"/>
              </a:rPr>
              <a:t>Clear hierarchy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Title, key message, and supporting points</a:t>
            </a:r>
          </a:p>
        </p:txBody>
      </p:sp>
      <p:sp>
        <p:nvSpPr>
          <p:cNvPr id="5" name="bullet_1"/>
          <p:cNvSpPr/>
          <p:nvPr/>
        </p:nvSpPr>
        <p:spPr>
          <a:xfrm>
            <a:off x="457200" y="3044830"/>
            <a:ext cx="11274552" cy="1188963"/>
          </a:xfrm>
          <a:prstGeom prst="rect">
            <a:avLst/>
          </a:prstGeom>
          <a:noFill/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333333"/>
                </a:solidFill>
                <a:latin typeface="Calibri"/>
              </a:rPr>
              <a:t>Adaptive sizing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Font scales to available space</a:t>
            </a:r>
          </a:p>
        </p:txBody>
      </p:sp>
      <p:sp>
        <p:nvSpPr>
          <p:cNvPr id="6" name="bullet_2"/>
          <p:cNvSpPr/>
          <p:nvPr/>
        </p:nvSpPr>
        <p:spPr>
          <a:xfrm>
            <a:off x="457200" y="4388876"/>
            <a:ext cx="11274552" cy="1188963"/>
          </a:xfrm>
          <a:prstGeom prst="rect">
            <a:avLst/>
          </a:prstGeom>
          <a:noFill/>
          <a:ln w="12700">
            <a:solidFill>
              <a:srgbClr val="217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333333"/>
                </a:solidFill>
                <a:latin typeface="Calibri"/>
              </a:rPr>
              <a:t>Image support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Auto-splits content when images attached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40664" y="457200"/>
            <a:ext cx="10707624" cy="408919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2200" b="1">
                <a:solidFill>
                  <a:srgbClr val="333333"/>
                </a:solidFill>
                <a:latin typeface="Calibri"/>
              </a:rPr>
              <a:t>Cards Layout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740664" y="1030711"/>
            <a:ext cx="1070762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1550" b="0">
                <a:solidFill>
                  <a:srgbClr val="333333"/>
                </a:solidFill>
                <a:latin typeface="Calibri"/>
              </a:rPr>
              <a:t>Two-column card grid for parallel concepts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1743943"/>
            <a:ext cx="5486400" cy="1014984"/>
          </a:xfrm>
          <a:prstGeom prst="rect">
            <a:avLst/>
          </a:prstGeom>
          <a:noFill/>
          <a:ln w="12700">
            <a:solidFill>
              <a:srgbClr val="217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475488" bIns="91440">
            <a:normAutofit/>
          </a:bodyPr>
          <a:lstStyle/>
          <a:p>
            <a:pPr algn="l">
              <a:lnSpc>
                <a:spcPct val="116000"/>
              </a:lnSpc>
              <a:defRPr/>
            </a:pPr>
            <a:r>
              <a:rPr sz="1250" b="1">
                <a:solidFill>
                  <a:srgbClr val="333333"/>
                </a:solidFill>
                <a:latin typeface="Calibri"/>
              </a:rPr>
              <a:t>Speed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defRPr/>
            </a:pPr>
            <a:r>
              <a:rPr sz="1060" b="0">
                <a:solidFill>
                  <a:srgbClr val="333333"/>
                </a:solidFill>
                <a:latin typeface="Calibri"/>
              </a:rPr>
              <a:t>Reduce cycle time by 40%</a:t>
            </a:r>
          </a:p>
        </p:txBody>
      </p:sp>
      <p:pic>
        <p:nvPicPr>
          <p:cNvPr id="5" name="icon_Picture 4" descr="sparkles_t_2173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835383"/>
            <a:ext cx="310896" cy="310896"/>
          </a:xfrm>
          <a:prstGeom prst="rect">
            <a:avLst/>
          </a:prstGeom>
        </p:spPr>
      </p:pic>
      <p:sp>
        <p:nvSpPr>
          <p:cNvPr id="6" name="card_1"/>
          <p:cNvSpPr/>
          <p:nvPr/>
        </p:nvSpPr>
        <p:spPr>
          <a:xfrm>
            <a:off x="6236208" y="1743943"/>
            <a:ext cx="5486400" cy="1014984"/>
          </a:xfrm>
          <a:prstGeom prst="rect">
            <a:avLst/>
          </a:prstGeom>
          <a:noFill/>
          <a:ln w="12700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475488" bIns="91440">
            <a:normAutofit/>
          </a:bodyPr>
          <a:lstStyle/>
          <a:p>
            <a:pPr algn="l">
              <a:lnSpc>
                <a:spcPct val="116000"/>
              </a:lnSpc>
              <a:defRPr/>
            </a:pPr>
            <a:r>
              <a:rPr sz="1250" b="1">
                <a:solidFill>
                  <a:srgbClr val="333333"/>
                </a:solidFill>
                <a:latin typeface="Calibri"/>
              </a:rPr>
              <a:t>Quality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defRPr/>
            </a:pPr>
            <a:r>
              <a:rPr sz="1060" b="0">
                <a:solidFill>
                  <a:srgbClr val="333333"/>
                </a:solidFill>
                <a:latin typeface="Calibri"/>
              </a:rPr>
              <a:t>Zero critical defects in production</a:t>
            </a:r>
          </a:p>
        </p:txBody>
      </p:sp>
      <p:pic>
        <p:nvPicPr>
          <p:cNvPr id="7" name="icon_Picture 6" descr="sparkles_t_2B57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835383"/>
            <a:ext cx="310896" cy="310896"/>
          </a:xfrm>
          <a:prstGeom prst="rect">
            <a:avLst/>
          </a:prstGeom>
        </p:spPr>
      </p:pic>
      <p:sp>
        <p:nvSpPr>
          <p:cNvPr id="8" name="card_2"/>
          <p:cNvSpPr/>
          <p:nvPr/>
        </p:nvSpPr>
        <p:spPr>
          <a:xfrm>
            <a:off x="457200" y="3014959"/>
            <a:ext cx="5486400" cy="1014984"/>
          </a:xfrm>
          <a:prstGeom prst="rect">
            <a:avLst/>
          </a:prstGeom>
          <a:noFill/>
          <a:ln w="12700">
            <a:solidFill>
              <a:srgbClr val="B74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475488" bIns="91440">
            <a:normAutofit/>
          </a:bodyPr>
          <a:lstStyle/>
          <a:p>
            <a:pPr algn="l">
              <a:lnSpc>
                <a:spcPct val="116000"/>
              </a:lnSpc>
              <a:defRPr/>
            </a:pPr>
            <a:r>
              <a:rPr sz="1250" b="1">
                <a:solidFill>
                  <a:srgbClr val="333333"/>
                </a:solidFill>
                <a:latin typeface="Calibri"/>
              </a:rPr>
              <a:t>Scale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defRPr/>
            </a:pPr>
            <a:r>
              <a:rPr sz="1060" b="0">
                <a:solidFill>
                  <a:srgbClr val="333333"/>
                </a:solidFill>
                <a:latin typeface="Calibri"/>
              </a:rPr>
              <a:t>Handle 10x traffic growth</a:t>
            </a:r>
          </a:p>
        </p:txBody>
      </p:sp>
      <p:pic>
        <p:nvPicPr>
          <p:cNvPr id="9" name="icon_Picture 8" descr="sparkles_t_B747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3106399"/>
            <a:ext cx="310896" cy="310896"/>
          </a:xfrm>
          <a:prstGeom prst="rect">
            <a:avLst/>
          </a:prstGeom>
        </p:spPr>
      </p:pic>
      <p:sp>
        <p:nvSpPr>
          <p:cNvPr id="10" name="card_3"/>
          <p:cNvSpPr/>
          <p:nvPr/>
        </p:nvSpPr>
        <p:spPr>
          <a:xfrm>
            <a:off x="6236208" y="3014959"/>
            <a:ext cx="5486400" cy="1014984"/>
          </a:xfrm>
          <a:prstGeom prst="rect">
            <a:avLst/>
          </a:prstGeom>
          <a:noFill/>
          <a:ln w="12700">
            <a:solidFill>
              <a:srgbClr val="E97F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475488" bIns="91440">
            <a:normAutofit/>
          </a:bodyPr>
          <a:lstStyle/>
          <a:p>
            <a:pPr algn="l">
              <a:lnSpc>
                <a:spcPct val="116000"/>
              </a:lnSpc>
            </a:pPr>
            <a:r>
              <a:rPr sz="1390" b="1">
                <a:solidFill>
                  <a:srgbClr val="333333"/>
                </a:solidFill>
                <a:latin typeface="Calibri"/>
              </a:rPr>
              <a:t>Cost</a:t>
            </a:r>
          </a:p>
          <a:p>
            <a:pPr algn="l">
              <a:lnSpc>
                <a:spcPct val="116000"/>
              </a:lnSpc>
              <a:spcBef>
                <a:spcPts val="400"/>
              </a:spcBef>
            </a:pPr>
            <a:r>
              <a:rPr sz="1180" b="0">
                <a:solidFill>
                  <a:srgbClr val="333333"/>
                </a:solidFill>
                <a:latin typeface="Calibri"/>
              </a:rPr>
              <a:t>Achieve 25% infrastructure savings</a:t>
            </a:r>
          </a:p>
        </p:txBody>
      </p:sp>
      <p:pic>
        <p:nvPicPr>
          <p:cNvPr id="11" name="icon_Picture 10" descr="sparkles_t_E97F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3106399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40664" y="457200"/>
            <a:ext cx="10707624" cy="408919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2200" b="1">
                <a:solidFill>
                  <a:srgbClr val="333333"/>
                </a:solidFill>
                <a:latin typeface="Calibri"/>
              </a:rPr>
              <a:t>Key Metrics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740664" y="1030711"/>
            <a:ext cx="1070762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1550" b="0">
                <a:solidFill>
                  <a:srgbClr val="333333"/>
                </a:solidFill>
                <a:latin typeface="Calibri"/>
              </a:rPr>
              <a:t>Performance dashboard for Q1 2026</a:t>
            </a:r>
          </a:p>
        </p:txBody>
      </p:sp>
      <p:sp>
        <p:nvSpPr>
          <p:cNvPr id="4" name="stat_0"/>
          <p:cNvSpPr/>
          <p:nvPr/>
        </p:nvSpPr>
        <p:spPr>
          <a:xfrm>
            <a:off x="457200" y="1743943"/>
            <a:ext cx="3538728" cy="3300984"/>
          </a:xfrm>
          <a:prstGeom prst="rect">
            <a:avLst/>
          </a:prstGeom>
          <a:noFill/>
          <a:ln w="12700">
            <a:solidFill>
              <a:srgbClr val="217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ctr">
              <a:lnSpc>
                <a:spcPct val="122000"/>
              </a:lnSpc>
            </a:pPr>
            <a:r>
              <a:rPr sz="2800" b="1">
                <a:solidFill>
                  <a:srgbClr val="333333"/>
                </a:solidFill>
                <a:latin typeface="Calibri"/>
              </a:rPr>
              <a:t>$42M</a:t>
            </a:r>
          </a:p>
          <a:p>
            <a:pPr algn="ctr">
              <a:lnSpc>
                <a:spcPct val="122000"/>
              </a:lnSpc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Annual Recurring Revenue</a:t>
            </a:r>
          </a:p>
        </p:txBody>
      </p:sp>
      <p:sp>
        <p:nvSpPr>
          <p:cNvPr id="5" name="stat_1"/>
          <p:cNvSpPr/>
          <p:nvPr/>
        </p:nvSpPr>
        <p:spPr>
          <a:xfrm>
            <a:off x="4315968" y="1743943"/>
            <a:ext cx="3538728" cy="3300984"/>
          </a:xfrm>
          <a:prstGeom prst="rect">
            <a:avLst/>
          </a:prstGeom>
          <a:noFill/>
          <a:ln w="12700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ctr">
              <a:lnSpc>
                <a:spcPct val="122000"/>
              </a:lnSpc>
            </a:pPr>
            <a:r>
              <a:rPr sz="2800" b="1">
                <a:solidFill>
                  <a:srgbClr val="333333"/>
                </a:solidFill>
                <a:latin typeface="Calibri"/>
              </a:rPr>
              <a:t>98.7%</a:t>
            </a:r>
          </a:p>
          <a:p>
            <a:pPr algn="ctr">
              <a:lnSpc>
                <a:spcPct val="122000"/>
              </a:lnSpc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Platform Uptime SLA</a:t>
            </a:r>
          </a:p>
        </p:txBody>
      </p:sp>
      <p:sp>
        <p:nvSpPr>
          <p:cNvPr id="6" name="stat_2"/>
          <p:cNvSpPr/>
          <p:nvPr/>
        </p:nvSpPr>
        <p:spPr>
          <a:xfrm>
            <a:off x="8174736" y="1743943"/>
            <a:ext cx="3538728" cy="3300984"/>
          </a:xfrm>
          <a:prstGeom prst="rect">
            <a:avLst/>
          </a:prstGeom>
          <a:noFill/>
          <a:ln w="12700">
            <a:solidFill>
              <a:srgbClr val="B74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ctr">
              <a:lnSpc>
                <a:spcPct val="122000"/>
              </a:lnSpc>
            </a:pPr>
            <a:r>
              <a:rPr sz="2800" b="1">
                <a:solidFill>
                  <a:srgbClr val="333333"/>
                </a:solidFill>
                <a:latin typeface="Calibri"/>
              </a:rPr>
              <a:t>4.8★</a:t>
            </a:r>
          </a:p>
          <a:p>
            <a:pPr algn="ctr">
              <a:lnSpc>
                <a:spcPct val="122000"/>
              </a:lnSpc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Customer Satisfaction Score</a:t>
            </a:r>
          </a:p>
        </p:txBody>
      </p:sp>
      <p:sp>
        <p:nvSpPr>
          <p:cNvPr id="7" name="footer_citation"/>
          <p:cNvSpPr txBox="1"/>
          <p:nvPr/>
        </p:nvSpPr>
        <p:spPr>
          <a:xfrm>
            <a:off x="457200" y="5120640"/>
            <a:ext cx="11274552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850" b="0">
                <a:solidFill>
                  <a:srgbClr val="333333"/>
                </a:solidFill>
                <a:latin typeface="Calibri"/>
              </a:rPr>
              <a:t>Source: Internal KPI Dashboard, March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40664" y="457200"/>
            <a:ext cx="10707624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2200" b="1">
                <a:solidFill>
                  <a:srgbClr val="333333"/>
                </a:solidFill>
                <a:latin typeface="Calibri"/>
              </a:rPr>
              <a:t>Before vs. After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740664" y="987552"/>
            <a:ext cx="1070762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1550" b="0">
                <a:solidFill>
                  <a:srgbClr val="333333"/>
                </a:solidFill>
                <a:latin typeface="Calibri"/>
              </a:rPr>
              <a:t>Measurable improvements after platform migration</a:t>
            </a:r>
          </a:p>
        </p:txBody>
      </p:sp>
      <p:sp>
        <p:nvSpPr>
          <p:cNvPr id="4" name="comparison_left"/>
          <p:cNvSpPr/>
          <p:nvPr/>
        </p:nvSpPr>
        <p:spPr>
          <a:xfrm>
            <a:off x="457200" y="1700784"/>
            <a:ext cx="5522976" cy="3877056"/>
          </a:xfrm>
          <a:prstGeom prst="rect">
            <a:avLst/>
          </a:prstGeom>
          <a:noFill/>
          <a:ln w="12700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333333"/>
                </a:solidFill>
                <a:latin typeface="Calibri"/>
              </a:rPr>
              <a:t>Before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333333"/>
                </a:solidFill>
                <a:latin typeface="Calibri"/>
              </a:rPr>
              <a:t>• </a:t>
            </a:r>
            <a:r>
              <a:rPr sz="1300" b="0">
                <a:solidFill>
                  <a:srgbClr val="333333"/>
                </a:solidFill>
                <a:latin typeface="Calibri"/>
              </a:rPr>
              <a:t>Manual deployment — 4-hour release cycle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333333"/>
                </a:solidFill>
                <a:latin typeface="Calibri"/>
              </a:rPr>
              <a:t>• </a:t>
            </a:r>
            <a:r>
              <a:rPr sz="1300" b="0">
                <a:solidFill>
                  <a:srgbClr val="333333"/>
                </a:solidFill>
                <a:latin typeface="Calibri"/>
              </a:rPr>
              <a:t>Monolithic architecture — Single point of failure</a:t>
            </a:r>
          </a:p>
        </p:txBody>
      </p:sp>
      <p:sp>
        <p:nvSpPr>
          <p:cNvPr id="5" name="comparison_right"/>
          <p:cNvSpPr/>
          <p:nvPr/>
        </p:nvSpPr>
        <p:spPr>
          <a:xfrm>
            <a:off x="6208776" y="1700784"/>
            <a:ext cx="5522976" cy="3877056"/>
          </a:xfrm>
          <a:prstGeom prst="rect">
            <a:avLst/>
          </a:prstGeom>
          <a:noFill/>
          <a:ln w="12700">
            <a:solidFill>
              <a:srgbClr val="B74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333333"/>
                </a:solidFill>
                <a:latin typeface="Calibri"/>
              </a:rPr>
              <a:t>After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333333"/>
                </a:solidFill>
                <a:latin typeface="Calibri"/>
              </a:rPr>
              <a:t>• </a:t>
            </a:r>
            <a:r>
              <a:rPr sz="1300" b="0">
                <a:solidFill>
                  <a:srgbClr val="333333"/>
                </a:solidFill>
                <a:latin typeface="Calibri"/>
              </a:rPr>
              <a:t>CI/CD pipeline — 15-minute deploy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333333"/>
                </a:solidFill>
                <a:latin typeface="Calibri"/>
              </a:rPr>
              <a:t>• </a:t>
            </a:r>
            <a:r>
              <a:rPr sz="1300" b="0">
                <a:solidFill>
                  <a:srgbClr val="333333"/>
                </a:solidFill>
                <a:latin typeface="Calibri"/>
              </a:rPr>
              <a:t>Microservices — Independent scaling per service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40664" y="457200"/>
            <a:ext cx="10707624" cy="408919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2200" b="1">
                <a:solidFill>
                  <a:srgbClr val="333333"/>
                </a:solidFill>
                <a:latin typeface="Calibri"/>
              </a:rPr>
              <a:t>Project Timeline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740664" y="1030711"/>
            <a:ext cx="1070762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1550" b="0">
                <a:solidFill>
                  <a:srgbClr val="333333"/>
                </a:solidFill>
                <a:latin typeface="Calibri"/>
              </a:rPr>
              <a:t>Key milestones from planning to launch</a:t>
            </a:r>
          </a:p>
        </p:txBody>
      </p:sp>
      <p:sp>
        <p:nvSpPr>
          <p:cNvPr id="4" name="design_timeline_spine"/>
          <p:cNvSpPr/>
          <p:nvPr/>
        </p:nvSpPr>
        <p:spPr>
          <a:xfrm>
            <a:off x="1005840" y="1743943"/>
            <a:ext cx="36576" cy="3831336"/>
          </a:xfrm>
          <a:prstGeom prst="rect">
            <a:avLst/>
          </a:prstGeom>
          <a:solidFill>
            <a:srgbClr val="B7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sign_dot_0"/>
          <p:cNvSpPr/>
          <p:nvPr/>
        </p:nvSpPr>
        <p:spPr>
          <a:xfrm>
            <a:off x="896112" y="1951778"/>
            <a:ext cx="219456" cy="219456"/>
          </a:xfrm>
          <a:prstGeom prst="ellipse">
            <a:avLst/>
          </a:prstGeom>
          <a:solidFill>
            <a:srgbClr val="B7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meline_0"/>
          <p:cNvSpPr/>
          <p:nvPr/>
        </p:nvSpPr>
        <p:spPr>
          <a:xfrm>
            <a:off x="1325880" y="1707367"/>
            <a:ext cx="10405872" cy="814702"/>
          </a:xfrm>
          <a:prstGeom prst="rect">
            <a:avLst/>
          </a:prstGeom>
          <a:noFill/>
          <a:ln w="12700">
            <a:solidFill>
              <a:srgbClr val="B74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18000"/>
              </a:lnSpc>
            </a:pPr>
            <a:r>
              <a:rPr sz="1320" b="1">
                <a:solidFill>
                  <a:srgbClr val="333333"/>
                </a:solidFill>
                <a:latin typeface="Calibri"/>
              </a:rPr>
              <a:t>Q1 2026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Calibri"/>
              </a:rPr>
              <a:t>Requirements gathering and architecture</a:t>
            </a:r>
          </a:p>
        </p:txBody>
      </p:sp>
      <p:sp>
        <p:nvSpPr>
          <p:cNvPr id="7" name="design_dot_1"/>
          <p:cNvSpPr/>
          <p:nvPr/>
        </p:nvSpPr>
        <p:spPr>
          <a:xfrm>
            <a:off x="896112" y="2910252"/>
            <a:ext cx="219456" cy="219456"/>
          </a:xfrm>
          <a:prstGeom prst="ellipse">
            <a:avLst/>
          </a:prstGeom>
          <a:solidFill>
            <a:srgbClr val="E97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meline_1"/>
          <p:cNvSpPr/>
          <p:nvPr/>
        </p:nvSpPr>
        <p:spPr>
          <a:xfrm>
            <a:off x="1325880" y="2665841"/>
            <a:ext cx="10405872" cy="814702"/>
          </a:xfrm>
          <a:prstGeom prst="rect">
            <a:avLst/>
          </a:prstGeom>
          <a:noFill/>
          <a:ln w="12700">
            <a:solidFill>
              <a:srgbClr val="E97F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18000"/>
              </a:lnSpc>
            </a:pPr>
            <a:r>
              <a:rPr sz="1320" b="1">
                <a:solidFill>
                  <a:srgbClr val="333333"/>
                </a:solidFill>
                <a:latin typeface="Calibri"/>
              </a:rPr>
              <a:t>Q2 2026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Calibri"/>
              </a:rPr>
              <a:t>Core platform development sprint</a:t>
            </a:r>
          </a:p>
        </p:txBody>
      </p:sp>
      <p:sp>
        <p:nvSpPr>
          <p:cNvPr id="9" name="design_dot_2"/>
          <p:cNvSpPr/>
          <p:nvPr/>
        </p:nvSpPr>
        <p:spPr>
          <a:xfrm>
            <a:off x="896112" y="3868726"/>
            <a:ext cx="219456" cy="21945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imeline_2"/>
          <p:cNvSpPr/>
          <p:nvPr/>
        </p:nvSpPr>
        <p:spPr>
          <a:xfrm>
            <a:off x="1325880" y="3624315"/>
            <a:ext cx="10405872" cy="814702"/>
          </a:xfrm>
          <a:prstGeom prst="rect">
            <a:avLst/>
          </a:prstGeom>
          <a:noFill/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18000"/>
              </a:lnSpc>
            </a:pPr>
            <a:r>
              <a:rPr sz="1320" b="1">
                <a:solidFill>
                  <a:srgbClr val="333333"/>
                </a:solidFill>
                <a:latin typeface="Calibri"/>
              </a:rPr>
              <a:t>Q3 2026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Calibri"/>
              </a:rPr>
              <a:t>Beta testing with pilot customers</a:t>
            </a:r>
          </a:p>
        </p:txBody>
      </p:sp>
      <p:sp>
        <p:nvSpPr>
          <p:cNvPr id="11" name="design_dot_3"/>
          <p:cNvSpPr/>
          <p:nvPr/>
        </p:nvSpPr>
        <p:spPr>
          <a:xfrm>
            <a:off x="896112" y="4827200"/>
            <a:ext cx="219456" cy="219456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imeline_3"/>
          <p:cNvSpPr/>
          <p:nvPr/>
        </p:nvSpPr>
        <p:spPr>
          <a:xfrm>
            <a:off x="1325880" y="4582789"/>
            <a:ext cx="10405872" cy="814702"/>
          </a:xfrm>
          <a:prstGeom prst="rect">
            <a:avLst/>
          </a:prstGeom>
          <a:noFill/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18000"/>
              </a:lnSpc>
            </a:pPr>
            <a:r>
              <a:rPr sz="1320" b="1">
                <a:solidFill>
                  <a:srgbClr val="333333"/>
                </a:solidFill>
                <a:latin typeface="Calibri"/>
              </a:rPr>
              <a:t>Q4 2026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Calibri"/>
              </a:rPr>
              <a:t>General availability launch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40664" y="457200"/>
            <a:ext cx="10707624" cy="408919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2200" b="1">
                <a:solidFill>
                  <a:srgbClr val="333333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740664" y="1030711"/>
            <a:ext cx="1070762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1550" b="0">
                <a:solidFill>
                  <a:srgbClr val="333333"/>
                </a:solidFill>
                <a:latin typeface="Calibri"/>
              </a:rPr>
              <a:t>Three strategic priorities drive our FY26 plan</a:t>
            </a:r>
          </a:p>
        </p:txBody>
      </p:sp>
      <p:sp>
        <p:nvSpPr>
          <p:cNvPr id="4" name="summary_0"/>
          <p:cNvSpPr/>
          <p:nvPr/>
        </p:nvSpPr>
        <p:spPr>
          <a:xfrm>
            <a:off x="457200" y="2777215"/>
            <a:ext cx="11274552" cy="858858"/>
          </a:xfrm>
          <a:prstGeom prst="rect">
            <a:avLst/>
          </a:prstGeom>
          <a:noFill/>
          <a:ln w="12700">
            <a:solidFill>
              <a:srgbClr val="E97F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333333"/>
                </a:solidFill>
                <a:latin typeface="Calibri"/>
              </a:rPr>
              <a:t>Expand into APAC markets with localised offerings</a:t>
            </a:r>
          </a:p>
        </p:txBody>
      </p:sp>
      <p:sp>
        <p:nvSpPr>
          <p:cNvPr id="5" name="summary_1"/>
          <p:cNvSpPr/>
          <p:nvPr/>
        </p:nvSpPr>
        <p:spPr>
          <a:xfrm>
            <a:off x="457200" y="3748098"/>
            <a:ext cx="11274552" cy="858858"/>
          </a:xfrm>
          <a:prstGeom prst="rect">
            <a:avLst/>
          </a:prstGeom>
          <a:noFill/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333333"/>
                </a:solidFill>
                <a:latin typeface="Calibri"/>
              </a:rPr>
              <a:t>Launch enterprise tier with SSO and compliance features</a:t>
            </a:r>
          </a:p>
        </p:txBody>
      </p:sp>
      <p:sp>
        <p:nvSpPr>
          <p:cNvPr id="6" name="summary_2"/>
          <p:cNvSpPr/>
          <p:nvPr/>
        </p:nvSpPr>
        <p:spPr>
          <a:xfrm>
            <a:off x="457200" y="4718981"/>
            <a:ext cx="11274552" cy="858858"/>
          </a:xfrm>
          <a:prstGeom prst="rect">
            <a:avLst/>
          </a:prstGeom>
          <a:noFill/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333333"/>
                </a:solidFill>
                <a:latin typeface="Calibri"/>
              </a:rPr>
              <a:t>Achieve carbon-neutral operations by December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40664" y="457200"/>
            <a:ext cx="10707624" cy="408919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2200" b="1">
                <a:solidFill>
                  <a:srgbClr val="333333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740664" y="1030711"/>
            <a:ext cx="1070762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1550" b="0">
                <a:solidFill>
                  <a:srgbClr val="333333"/>
                </a:solidFill>
                <a:latin typeface="Calibri"/>
              </a:rPr>
              <a:t>High-level component overview with integration points</a:t>
            </a:r>
          </a:p>
        </p:txBody>
      </p:sp>
      <p:sp>
        <p:nvSpPr>
          <p:cNvPr id="4" name="body_0"/>
          <p:cNvSpPr/>
          <p:nvPr/>
        </p:nvSpPr>
        <p:spPr>
          <a:xfrm>
            <a:off x="457200" y="1743943"/>
            <a:ext cx="7882127" cy="1175728"/>
          </a:xfrm>
          <a:prstGeom prst="rect">
            <a:avLst/>
          </a:prstGeom>
          <a:noFill/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333333"/>
                </a:solidFill>
                <a:latin typeface="Calibri"/>
              </a:rPr>
              <a:t>API Gateway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  <a:latin typeface="Calibri"/>
              </a:rPr>
              <a:t>Rate limiting, auth, routing</a:t>
            </a:r>
          </a:p>
        </p:txBody>
      </p:sp>
      <p:sp>
        <p:nvSpPr>
          <p:cNvPr id="5" name="body_1"/>
          <p:cNvSpPr/>
          <p:nvPr/>
        </p:nvSpPr>
        <p:spPr>
          <a:xfrm>
            <a:off x="457200" y="3073027"/>
            <a:ext cx="7882127" cy="1175728"/>
          </a:xfrm>
          <a:prstGeom prst="rect">
            <a:avLst/>
          </a:prstGeom>
          <a:noFill/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333333"/>
                </a:solidFill>
                <a:latin typeface="Calibri"/>
              </a:rPr>
              <a:t>Core Services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  <a:latin typeface="Calibri"/>
              </a:rPr>
              <a:t>Business logic microservices</a:t>
            </a:r>
          </a:p>
        </p:txBody>
      </p:sp>
      <p:sp>
        <p:nvSpPr>
          <p:cNvPr id="6" name="body_2"/>
          <p:cNvSpPr/>
          <p:nvPr/>
        </p:nvSpPr>
        <p:spPr>
          <a:xfrm>
            <a:off x="457200" y="4402111"/>
            <a:ext cx="7882127" cy="1175728"/>
          </a:xfrm>
          <a:prstGeom prst="rect">
            <a:avLst/>
          </a:prstGeom>
          <a:noFill/>
          <a:ln w="12700">
            <a:solidFill>
              <a:srgbClr val="217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333333"/>
                </a:solidFill>
                <a:latin typeface="Calibri"/>
              </a:rPr>
              <a:t>Data Layer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  <a:latin typeface="Calibri"/>
              </a:rPr>
              <a:t>PostgreSQL, Redis, S3 storage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40664" y="457200"/>
            <a:ext cx="10707624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2200" b="1">
                <a:solidFill>
                  <a:srgbClr val="333333"/>
                </a:solidFill>
                <a:latin typeface="Calibri"/>
              </a:rPr>
              <a:t>Revenue Trend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740664" y="987552"/>
            <a:ext cx="1070762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1550" b="0">
                <a:solidFill>
                  <a:srgbClr val="333333"/>
                </a:solidFill>
                <a:latin typeface="Calibri"/>
              </a:rPr>
              <a:t>Consistent quarter-over-quarter growth since FY24</a:t>
            </a:r>
          </a:p>
        </p:txBody>
      </p:sp>
      <p:sp>
        <p:nvSpPr>
          <p:cNvPr id="4" name="chart_area"/>
          <p:cNvSpPr/>
          <p:nvPr/>
        </p:nvSpPr>
        <p:spPr>
          <a:xfrm>
            <a:off x="457200" y="1700784"/>
            <a:ext cx="11274552" cy="3547872"/>
          </a:xfrm>
          <a:prstGeom prst="rect">
            <a:avLst/>
          </a:prstGeom>
          <a:noFill/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_citation"/>
          <p:cNvSpPr txBox="1"/>
          <p:nvPr/>
        </p:nvSpPr>
        <p:spPr>
          <a:xfrm>
            <a:off x="457200" y="5321808"/>
            <a:ext cx="1127455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  <a:defRPr/>
            </a:pPr>
            <a:r>
              <a:rPr sz="800" b="0">
                <a:solidFill>
                  <a:srgbClr val="333333"/>
                </a:solidFill>
                <a:latin typeface="Calibri"/>
              </a:rPr>
              <a:t>Source: Finance, Q1 FY26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40664" y="457200"/>
            <a:ext cx="10707624" cy="408919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2200" b="1">
                <a:solidFill>
                  <a:srgbClr val="333333"/>
                </a:solidFill>
                <a:latin typeface="Calibri"/>
              </a:rPr>
              <a:t>Regional Performance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740664" y="1030711"/>
            <a:ext cx="1070762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1550" b="0">
                <a:solidFill>
                  <a:srgbClr val="333333"/>
                </a:solidFill>
                <a:latin typeface="Calibri"/>
              </a:rPr>
              <a:t>APAC leads with 18% year-over-year growth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0352" y="1798807"/>
          <a:ext cx="11128246" cy="3394982"/>
        </p:xfrm>
        <a:graphic>
          <a:graphicData uri="http://schemas.openxmlformats.org/drawingml/2006/table">
            <a:tbl>
              <a:tblPr firstRow="1" bandRow="1" bandCol="0" lastRow="0" lastCol="0" firstCol="0">
                <a:tableStyleId>{5C22544A-7EE6-4342-B048-85BDC9FD1C3A}</a:tableStyleId>
              </a:tblPr>
              <a:tblGrid>
                <a:gridCol w="2649582"/>
                <a:gridCol w="2119666"/>
                <a:gridCol w="2119666"/>
                <a:gridCol w="2119666"/>
                <a:gridCol w="2119666"/>
              </a:tblGrid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 marL="91440" marR="91440" marT="36576" marB="36576" anchor="ctr">
                    <a:solidFill>
                      <a:srgbClr val="21734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Revenue ($M)</a:t>
                      </a:r>
                    </a:p>
                  </a:txBody>
                  <a:tcPr marL="91440" marR="91440" marT="36576" marB="36576" anchor="ctr">
                    <a:solidFill>
                      <a:srgbClr val="21734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Growth (%)</a:t>
                      </a:r>
                    </a:p>
                  </a:txBody>
                  <a:tcPr marL="91440" marR="91440" marT="36576" marB="36576" anchor="ctr">
                    <a:solidFill>
                      <a:srgbClr val="21734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Headcount</a:t>
                      </a:r>
                    </a:p>
                  </a:txBody>
                  <a:tcPr marL="91440" marR="91440" marT="36576" marB="36576" anchor="ctr">
                    <a:solidFill>
                      <a:srgbClr val="21734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Margin (%)</a:t>
                      </a:r>
                    </a:p>
                  </a:txBody>
                  <a:tcPr marL="91440" marR="91440" marT="36576" marB="36576" anchor="ctr">
                    <a:solidFill>
                      <a:srgbClr val="217346"/>
                    </a:solidFill>
                  </a:tcPr>
                </a:tc>
              </a:tr>
              <a:tr h="57292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North America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142.5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8.2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1,240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34.5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7292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91440" marR="91440" marT="36576" marB="36576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98.3</a:t>
                      </a:r>
                    </a:p>
                  </a:txBody>
                  <a:tcPr marL="91440" marR="91440" marT="36576" marB="36576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12.1</a:t>
                      </a:r>
                    </a:p>
                  </a:txBody>
                  <a:tcPr marL="91440" marR="91440" marT="36576" marB="36576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890</a:t>
                      </a:r>
                    </a:p>
                  </a:txBody>
                  <a:tcPr marL="91440" marR="91440" marT="36576" marB="36576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28.7</a:t>
                      </a:r>
                    </a:p>
                  </a:txBody>
                  <a:tcPr marL="91440" marR="91440" marT="36576" marB="36576" anchor="ctr">
                    <a:solidFill>
                      <a:srgbClr val="EDF3F0"/>
                    </a:solidFill>
                  </a:tcPr>
                </a:tc>
              </a:tr>
              <a:tr h="57292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APAC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76.8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18.4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620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31.2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7292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Latin America</a:t>
                      </a:r>
                    </a:p>
                  </a:txBody>
                  <a:tcPr marL="91440" marR="91440" marT="36576" marB="36576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34.2</a:t>
                      </a:r>
                    </a:p>
                  </a:txBody>
                  <a:tcPr marL="91440" marR="91440" marT="36576" marB="36576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marL="91440" marR="91440" marT="36576" marB="36576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310</a:t>
                      </a:r>
                    </a:p>
                  </a:txBody>
                  <a:tcPr marL="91440" marR="91440" marT="36576" marB="36576" anchor="ctr">
                    <a:solidFill>
                      <a:srgbClr val="EDF3F0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22.8</a:t>
                      </a:r>
                    </a:p>
                  </a:txBody>
                  <a:tcPr marL="91440" marR="91440" marT="36576" marB="36576" anchor="ctr">
                    <a:solidFill>
                      <a:srgbClr val="EDF3F0"/>
                    </a:solidFill>
                  </a:tcPr>
                </a:tc>
              </a:tr>
              <a:tr h="57292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Middle East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21.7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14.9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26.3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er_citation"/>
          <p:cNvSpPr txBox="1"/>
          <p:nvPr/>
        </p:nvSpPr>
        <p:spPr>
          <a:xfrm>
            <a:off x="457200" y="5321808"/>
            <a:ext cx="1127455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  <a:defRPr/>
            </a:pPr>
            <a:r>
              <a:rPr sz="800" b="0">
                <a:solidFill>
                  <a:srgbClr val="333333"/>
                </a:solidFill>
                <a:latin typeface="Calibri"/>
              </a:rPr>
              <a:t>Source: Finance Dashboard, March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88136" y="2657886"/>
            <a:ext cx="1001268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333333"/>
                </a:solidFill>
                <a:latin typeface="Calibri"/>
              </a:rPr>
              <a:t>Thank You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1088136" y="3898361"/>
            <a:ext cx="10012680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1739" b="0">
                <a:solidFill>
                  <a:srgbClr val="333333"/>
                </a:solidFill>
                <a:latin typeface="Calibri"/>
              </a:rPr>
              <a:t>Questions and open discussion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40664" y="457200"/>
            <a:ext cx="10707624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2200" b="1">
                <a:solidFill>
                  <a:srgbClr val="333333"/>
                </a:solidFill>
                <a:latin typeface="Calibri"/>
              </a:rPr>
              <a:t>Three Pillars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740664" y="987552"/>
            <a:ext cx="1070762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1550" b="0">
                <a:solidFill>
                  <a:srgbClr val="333333"/>
                </a:solidFill>
                <a:latin typeface="Calibri"/>
              </a:rPr>
              <a:t>Our strategy rests on three foundational pillars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1700784"/>
            <a:ext cx="3575304" cy="859536"/>
          </a:xfrm>
          <a:prstGeom prst="rect">
            <a:avLst/>
          </a:prstGeom>
          <a:noFill/>
          <a:ln w="12700">
            <a:solidFill>
              <a:srgbClr val="E97F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317113" bIns="91440">
            <a:normAutofit/>
          </a:bodyPr>
          <a:lstStyle/>
          <a:p>
            <a:pPr algn="l">
              <a:lnSpc>
                <a:spcPct val="116000"/>
              </a:lnSpc>
            </a:pPr>
            <a:r>
              <a:rPr sz="1390" b="1">
                <a:solidFill>
                  <a:srgbClr val="333333"/>
                </a:solidFill>
                <a:latin typeface="Calibri"/>
              </a:rPr>
              <a:t>Innovation</a:t>
            </a:r>
          </a:p>
          <a:p>
            <a:pPr algn="l">
              <a:lnSpc>
                <a:spcPct val="116000"/>
              </a:lnSpc>
              <a:spcBef>
                <a:spcPts val="400"/>
              </a:spcBef>
            </a:pPr>
            <a:r>
              <a:rPr sz="1180" b="0">
                <a:solidFill>
                  <a:srgbClr val="333333"/>
                </a:solidFill>
                <a:latin typeface="Calibri"/>
              </a:rPr>
              <a:t>Invest 20% of revenue in R&amp;D</a:t>
            </a:r>
          </a:p>
        </p:txBody>
      </p:sp>
      <p:sp>
        <p:nvSpPr>
          <p:cNvPr id="5" name="design_card_header_0"/>
          <p:cNvSpPr/>
          <p:nvPr/>
        </p:nvSpPr>
        <p:spPr>
          <a:xfrm>
            <a:off x="457200" y="1700784"/>
            <a:ext cx="3575304" cy="189097"/>
          </a:xfrm>
          <a:prstGeom prst="rect">
            <a:avLst/>
          </a:prstGeom>
          <a:solidFill>
            <a:srgbClr val="E97F02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_Picture 5" descr="sparkles_t_333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189" y="1722180"/>
            <a:ext cx="146304" cy="146304"/>
          </a:xfrm>
          <a:prstGeom prst="rect">
            <a:avLst/>
          </a:prstGeom>
        </p:spPr>
      </p:pic>
      <p:pic>
        <p:nvPicPr>
          <p:cNvPr id="7" name="icon_Picture 6" descr="sparkles_t_333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1722180"/>
            <a:ext cx="146304" cy="146304"/>
          </a:xfrm>
          <a:prstGeom prst="rect">
            <a:avLst/>
          </a:prstGeom>
        </p:spPr>
      </p:pic>
      <p:pic>
        <p:nvPicPr>
          <p:cNvPr id="8" name="icon_Picture 7" descr="sparkles_t_333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210" y="1722180"/>
            <a:ext cx="146304" cy="146304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4306824" y="1700784"/>
            <a:ext cx="3575304" cy="859536"/>
          </a:xfrm>
          <a:prstGeom prst="rect">
            <a:avLst/>
          </a:prstGeom>
          <a:noFill/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317113" bIns="91440">
            <a:normAutofit/>
          </a:bodyPr>
          <a:lstStyle/>
          <a:p>
            <a:pPr algn="l">
              <a:lnSpc>
                <a:spcPct val="116000"/>
              </a:lnSpc>
            </a:pPr>
            <a:r>
              <a:rPr sz="1390" b="1">
                <a:solidFill>
                  <a:srgbClr val="333333"/>
                </a:solidFill>
                <a:latin typeface="Calibri"/>
              </a:rPr>
              <a:t>Customer Focus</a:t>
            </a:r>
          </a:p>
          <a:p>
            <a:pPr algn="l">
              <a:lnSpc>
                <a:spcPct val="116000"/>
              </a:lnSpc>
              <a:spcBef>
                <a:spcPts val="400"/>
              </a:spcBef>
            </a:pPr>
            <a:r>
              <a:rPr sz="1180" b="0">
                <a:solidFill>
                  <a:srgbClr val="333333"/>
                </a:solidFill>
                <a:latin typeface="Calibri"/>
              </a:rPr>
              <a:t>NPS target above 70</a:t>
            </a:r>
          </a:p>
        </p:txBody>
      </p:sp>
      <p:sp>
        <p:nvSpPr>
          <p:cNvPr id="10" name="design_card_header_1"/>
          <p:cNvSpPr/>
          <p:nvPr/>
        </p:nvSpPr>
        <p:spPr>
          <a:xfrm>
            <a:off x="4306824" y="1700784"/>
            <a:ext cx="3575304" cy="189097"/>
          </a:xfrm>
          <a:prstGeom prst="rect">
            <a:avLst/>
          </a:prstGeom>
          <a:solidFill>
            <a:srgbClr val="7C3AED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_Picture 10" descr="sparkles_t_333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813" y="1722180"/>
            <a:ext cx="146304" cy="146304"/>
          </a:xfrm>
          <a:prstGeom prst="rect">
            <a:avLst/>
          </a:prstGeom>
        </p:spPr>
      </p:pic>
      <p:pic>
        <p:nvPicPr>
          <p:cNvPr id="12" name="icon_Picture 11" descr="sparkles_t_333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324" y="1722180"/>
            <a:ext cx="146304" cy="146304"/>
          </a:xfrm>
          <a:prstGeom prst="rect">
            <a:avLst/>
          </a:prstGeom>
        </p:spPr>
      </p:pic>
      <p:pic>
        <p:nvPicPr>
          <p:cNvPr id="13" name="icon_Picture 12" descr="sparkles_t_333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834" y="1722180"/>
            <a:ext cx="146304" cy="146304"/>
          </a:xfrm>
          <a:prstGeom prst="rect">
            <a:avLst/>
          </a:prstGeom>
        </p:spPr>
      </p:pic>
      <p:sp>
        <p:nvSpPr>
          <p:cNvPr id="14" name="card_2"/>
          <p:cNvSpPr/>
          <p:nvPr/>
        </p:nvSpPr>
        <p:spPr>
          <a:xfrm>
            <a:off x="8156448" y="1700784"/>
            <a:ext cx="3575304" cy="859536"/>
          </a:xfrm>
          <a:prstGeom prst="rect">
            <a:avLst/>
          </a:prstGeom>
          <a:noFill/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317113" bIns="91440">
            <a:normAutofit/>
          </a:bodyPr>
          <a:lstStyle/>
          <a:p>
            <a:pPr algn="l">
              <a:lnSpc>
                <a:spcPct val="116000"/>
              </a:lnSpc>
            </a:pPr>
            <a:r>
              <a:rPr sz="1390" b="1">
                <a:solidFill>
                  <a:srgbClr val="333333"/>
                </a:solidFill>
                <a:latin typeface="Calibri"/>
              </a:rPr>
              <a:t>Operational Excellence</a:t>
            </a:r>
          </a:p>
          <a:p>
            <a:pPr algn="l">
              <a:lnSpc>
                <a:spcPct val="116000"/>
              </a:lnSpc>
              <a:spcBef>
                <a:spcPts val="400"/>
              </a:spcBef>
            </a:pPr>
            <a:r>
              <a:rPr sz="1180" b="0">
                <a:solidFill>
                  <a:srgbClr val="333333"/>
                </a:solidFill>
                <a:latin typeface="Calibri"/>
              </a:rPr>
              <a:t>Automate 80% of workflows</a:t>
            </a:r>
          </a:p>
        </p:txBody>
      </p:sp>
      <p:sp>
        <p:nvSpPr>
          <p:cNvPr id="15" name="design_card_header_2"/>
          <p:cNvSpPr/>
          <p:nvPr/>
        </p:nvSpPr>
        <p:spPr>
          <a:xfrm>
            <a:off x="8156448" y="1700784"/>
            <a:ext cx="3575304" cy="189097"/>
          </a:xfrm>
          <a:prstGeom prst="rect">
            <a:avLst/>
          </a:prstGeom>
          <a:solidFill>
            <a:srgbClr val="0891B2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_Picture 15" descr="sparkles_t_333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3437" y="1722180"/>
            <a:ext cx="146304" cy="146304"/>
          </a:xfrm>
          <a:prstGeom prst="rect">
            <a:avLst/>
          </a:prstGeom>
        </p:spPr>
      </p:pic>
      <p:pic>
        <p:nvPicPr>
          <p:cNvPr id="17" name="icon_Picture 16" descr="sparkles_t_333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0948" y="1722180"/>
            <a:ext cx="146304" cy="146304"/>
          </a:xfrm>
          <a:prstGeom prst="rect">
            <a:avLst/>
          </a:prstGeom>
        </p:spPr>
      </p:pic>
      <p:pic>
        <p:nvPicPr>
          <p:cNvPr id="18" name="icon_Picture 17" descr="sparkles_t_333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8458" y="1722180"/>
            <a:ext cx="146304" cy="1463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457200"/>
            <a:ext cx="3950208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333333"/>
                </a:solidFill>
                <a:latin typeface="Calibri"/>
              </a:rPr>
              <a:t>Content with Caption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457200" y="987552"/>
            <a:ext cx="3950208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  <a:defRPr/>
            </a:pPr>
            <a:r>
              <a:rPr sz="910" b="0">
                <a:solidFill>
                  <a:srgbClr val="333333"/>
                </a:solidFill>
                <a:latin typeface="Calibri"/>
              </a:rPr>
              <a:t>Left narration column with right content area — inspired by PowerPoint's built-in layout</a:t>
            </a:r>
          </a:p>
        </p:txBody>
      </p:sp>
      <p:sp>
        <p:nvSpPr>
          <p:cNvPr id="4" name="bullet_0"/>
          <p:cNvSpPr/>
          <p:nvPr/>
        </p:nvSpPr>
        <p:spPr>
          <a:xfrm>
            <a:off x="4636008" y="457200"/>
            <a:ext cx="7095744" cy="1597151"/>
          </a:xfrm>
          <a:prstGeom prst="rect">
            <a:avLst/>
          </a:prstGeom>
          <a:noFill/>
          <a:ln w="12700">
            <a:solidFill>
              <a:srgbClr val="E97F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333333"/>
                </a:solidFill>
                <a:latin typeface="Calibri"/>
              </a:rPr>
              <a:t>Primary content area occupies ~65% width on the right</a:t>
            </a:r>
          </a:p>
        </p:txBody>
      </p:sp>
      <p:sp>
        <p:nvSpPr>
          <p:cNvPr id="5" name="bullet_1"/>
          <p:cNvSpPr/>
          <p:nvPr/>
        </p:nvSpPr>
        <p:spPr>
          <a:xfrm>
            <a:off x="4636008" y="2218943"/>
            <a:ext cx="7095744" cy="1597151"/>
          </a:xfrm>
          <a:prstGeom prst="rect">
            <a:avLst/>
          </a:prstGeom>
          <a:noFill/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333333"/>
                </a:solidFill>
                <a:latin typeface="Calibri"/>
              </a:rPr>
              <a:t>Narration column holds title and descriptive text on the left</a:t>
            </a:r>
          </a:p>
        </p:txBody>
      </p:sp>
      <p:sp>
        <p:nvSpPr>
          <p:cNvPr id="6" name="bullet_2"/>
          <p:cNvSpPr/>
          <p:nvPr/>
        </p:nvSpPr>
        <p:spPr>
          <a:xfrm>
            <a:off x="4636008" y="3980687"/>
            <a:ext cx="7095744" cy="1597151"/>
          </a:xfrm>
          <a:prstGeom prst="rect">
            <a:avLst/>
          </a:prstGeom>
          <a:noFill/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333333"/>
                </a:solidFill>
                <a:latin typeface="Calibri"/>
              </a:rPr>
              <a:t>Ideal for explanatory slides combining text and visuals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40664" y="457200"/>
            <a:ext cx="10707624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2200" b="1">
                <a:solidFill>
                  <a:srgbClr val="333333"/>
                </a:solidFill>
                <a:latin typeface="Calibri"/>
              </a:rPr>
              <a:t>Two Content Areas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740664" y="987552"/>
            <a:ext cx="1070762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1550" b="0">
                <a:solidFill>
                  <a:srgbClr val="333333"/>
                </a:solidFill>
                <a:latin typeface="Calibri"/>
              </a:rPr>
              <a:t>Side-by-side layout without comparison sub-headers</a:t>
            </a:r>
          </a:p>
        </p:txBody>
      </p:sp>
      <p:sp>
        <p:nvSpPr>
          <p:cNvPr id="4" name="comparison_left"/>
          <p:cNvSpPr/>
          <p:nvPr/>
        </p:nvSpPr>
        <p:spPr>
          <a:xfrm>
            <a:off x="457200" y="1700784"/>
            <a:ext cx="5522976" cy="3877056"/>
          </a:xfrm>
          <a:prstGeom prst="rect">
            <a:avLst/>
          </a:prstGeom>
          <a:noFill/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333333"/>
                </a:solidFill>
                <a:latin typeface="Calibri"/>
              </a:rPr>
              <a:t>Before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333333"/>
                </a:solidFill>
                <a:latin typeface="Calibri"/>
              </a:rPr>
              <a:t>• </a:t>
            </a:r>
            <a:r>
              <a:rPr sz="1300" b="0">
                <a:solidFill>
                  <a:srgbClr val="333333"/>
                </a:solidFill>
                <a:latin typeface="Calibri"/>
              </a:rPr>
              <a:t>Cloud Infrastructure — Kubernetes, Terraform, multi-region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333333"/>
                </a:solidFill>
                <a:latin typeface="Calibri"/>
              </a:rPr>
              <a:t>• </a:t>
            </a:r>
            <a:r>
              <a:rPr sz="1300" b="0">
                <a:solidFill>
                  <a:srgbClr val="333333"/>
                </a:solidFill>
                <a:latin typeface="Calibri"/>
              </a:rPr>
              <a:t>On-Premises Support — Docker Compose, air-gapped deployments</a:t>
            </a:r>
          </a:p>
        </p:txBody>
      </p:sp>
      <p:sp>
        <p:nvSpPr>
          <p:cNvPr id="5" name="comparison_right"/>
          <p:cNvSpPr/>
          <p:nvPr/>
        </p:nvSpPr>
        <p:spPr>
          <a:xfrm>
            <a:off x="6208776" y="1700784"/>
            <a:ext cx="5522976" cy="3877056"/>
          </a:xfrm>
          <a:prstGeom prst="rect">
            <a:avLst/>
          </a:prstGeom>
          <a:noFill/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333333"/>
                </a:solidFill>
                <a:latin typeface="Calibri"/>
              </a:rPr>
              <a:t>After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333333"/>
                </a:solidFill>
                <a:latin typeface="Calibri"/>
              </a:rPr>
              <a:t>• </a:t>
            </a:r>
            <a:r>
              <a:rPr sz="1300" b="0">
                <a:solidFill>
                  <a:srgbClr val="333333"/>
                </a:solidFill>
                <a:latin typeface="Calibri"/>
              </a:rPr>
              <a:t>Hybrid Model — Seamless sync between cloud and on-prem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300" b="1">
                <a:solidFill>
                  <a:srgbClr val="333333"/>
                </a:solidFill>
                <a:latin typeface="Calibri"/>
              </a:rPr>
              <a:t>• </a:t>
            </a:r>
            <a:r>
              <a:rPr sz="1300" b="0">
                <a:solidFill>
                  <a:srgbClr val="333333"/>
                </a:solidFill>
                <a:latin typeface="Calibri"/>
              </a:rPr>
              <a:t>Disaster Recovery — RPO &lt; 1 hour across all tiers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40664" y="365760"/>
            <a:ext cx="10707624" cy="408919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2200" b="1">
                <a:solidFill>
                  <a:srgbClr val="333333"/>
                </a:solidFill>
                <a:latin typeface="Calibri"/>
              </a:rPr>
              <a:t>Title Only Canvas</a:t>
            </a:r>
          </a:p>
        </p:txBody>
      </p:sp>
      <p:sp>
        <p:nvSpPr>
          <p:cNvPr id="3" name="bullet_0"/>
          <p:cNvSpPr/>
          <p:nvPr/>
        </p:nvSpPr>
        <p:spPr>
          <a:xfrm>
            <a:off x="457200" y="847831"/>
            <a:ext cx="11274552" cy="4730008"/>
          </a:xfrm>
          <a:prstGeom prst="rect">
            <a:avLst/>
          </a:prstGeom>
          <a:noFill/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333333"/>
                </a:solidFill>
                <a:latin typeface="Calibri"/>
              </a:rPr>
              <a:t>Open canvas below the title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for custom diagrams or annotations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ote"/>
          <p:cNvSpPr txBox="1"/>
          <p:nvPr/>
        </p:nvSpPr>
        <p:spPr>
          <a:xfrm>
            <a:off x="1645920" y="1673352"/>
            <a:ext cx="8897112" cy="355701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50000"/>
              </a:lnSpc>
            </a:pPr>
            <a:r>
              <a:rPr sz="2800" b="0">
                <a:solidFill>
                  <a:srgbClr val="333333"/>
                </a:solidFill>
                <a:latin typeface="Calibri"/>
              </a:rPr>
              <a:t>The best way to predict the future is to invent it.</a:t>
            </a:r>
          </a:p>
        </p:txBody>
      </p:sp>
      <p:sp>
        <p:nvSpPr>
          <p:cNvPr id="3" name="footer_citation"/>
          <p:cNvSpPr txBox="1"/>
          <p:nvPr/>
        </p:nvSpPr>
        <p:spPr>
          <a:xfrm>
            <a:off x="1645920" y="5303520"/>
            <a:ext cx="8897112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  <a:defRPr/>
            </a:pPr>
            <a:r>
              <a:rPr sz="800" b="0">
                <a:solidFill>
                  <a:srgbClr val="333333"/>
                </a:solidFill>
                <a:latin typeface="Calibri"/>
              </a:rPr>
              <a:t>— Alan Kay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ig_number"/>
          <p:cNvSpPr txBox="1"/>
          <p:nvPr/>
        </p:nvSpPr>
        <p:spPr>
          <a:xfrm>
            <a:off x="1371600" y="1307592"/>
            <a:ext cx="9445752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lnSpc>
                <a:spcPct val="112000"/>
              </a:lnSpc>
            </a:pPr>
            <a:r>
              <a:rPr sz="7200" b="1">
                <a:solidFill>
                  <a:srgbClr val="2B579A"/>
                </a:solidFill>
                <a:latin typeface="Calibri"/>
              </a:rPr>
              <a:t>99.97%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1371600" y="2386584"/>
            <a:ext cx="9445752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lnSpc>
                <a:spcPct val="132000"/>
              </a:lnSpc>
            </a:pPr>
            <a:r>
              <a:rPr sz="1800" b="0">
                <a:solidFill>
                  <a:srgbClr val="333333"/>
                </a:solidFill>
                <a:latin typeface="Calibri"/>
              </a:rPr>
              <a:t>Platform Uptime — 12 Month Rolling Average</a:t>
            </a:r>
          </a:p>
        </p:txBody>
      </p:sp>
      <p:sp>
        <p:nvSpPr>
          <p:cNvPr id="4" name="body_0"/>
          <p:cNvSpPr/>
          <p:nvPr/>
        </p:nvSpPr>
        <p:spPr>
          <a:xfrm>
            <a:off x="1371600" y="2916936"/>
            <a:ext cx="9445752" cy="1277233"/>
          </a:xfrm>
          <a:prstGeom prst="rect">
            <a:avLst/>
          </a:prstGeom>
          <a:noFill/>
          <a:ln w="12700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333333"/>
                </a:solidFill>
                <a:latin typeface="Calibri"/>
              </a:rPr>
              <a:t>Only 2.6 hours of unplanned downtime across the entire year</a:t>
            </a:r>
          </a:p>
        </p:txBody>
      </p:sp>
      <p:sp>
        <p:nvSpPr>
          <p:cNvPr id="5" name="body_1"/>
          <p:cNvSpPr/>
          <p:nvPr/>
        </p:nvSpPr>
        <p:spPr>
          <a:xfrm>
            <a:off x="1371600" y="4300606"/>
            <a:ext cx="9445752" cy="1277233"/>
          </a:xfrm>
          <a:prstGeom prst="rect">
            <a:avLst/>
          </a:prstGeom>
          <a:noFill/>
          <a:ln w="12700">
            <a:solidFill>
              <a:srgbClr val="B74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333333"/>
                </a:solidFill>
                <a:latin typeface="Calibri"/>
              </a:rPr>
              <a:t>Exceeds enterprise SLA target of 99.9%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40664" y="457200"/>
            <a:ext cx="10707624" cy="408919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2200" b="1">
                <a:solidFill>
                  <a:srgbClr val="333333"/>
                </a:solidFill>
                <a:latin typeface="Calibri"/>
              </a:rPr>
              <a:t>Development Process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740664" y="1030711"/>
            <a:ext cx="1070762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1550" b="0">
                <a:solidFill>
                  <a:srgbClr val="333333"/>
                </a:solidFill>
                <a:latin typeface="Calibri"/>
              </a:rPr>
              <a:t>Four-stage workflow from idea to deployment</a:t>
            </a:r>
          </a:p>
        </p:txBody>
      </p:sp>
      <p:sp>
        <p:nvSpPr>
          <p:cNvPr id="4" name="card_0"/>
          <p:cNvSpPr/>
          <p:nvPr/>
        </p:nvSpPr>
        <p:spPr>
          <a:xfrm>
            <a:off x="457200" y="1743943"/>
            <a:ext cx="2606040" cy="868680"/>
          </a:xfrm>
          <a:prstGeom prst="rect">
            <a:avLst/>
          </a:prstGeom>
          <a:noFill/>
          <a:ln w="12700">
            <a:solidFill>
              <a:srgbClr val="E97F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319125" bIns="91440">
            <a:normAutofit/>
          </a:bodyPr>
          <a:lstStyle/>
          <a:p>
            <a:pPr algn="l">
              <a:lnSpc>
                <a:spcPct val="116000"/>
              </a:lnSpc>
              <a:defRPr/>
            </a:pPr>
            <a:r>
              <a:rPr sz="800" b="1">
                <a:solidFill>
                  <a:srgbClr val="333333"/>
                </a:solidFill>
                <a:latin typeface="Calibri"/>
              </a:rPr>
              <a:t>Plan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defRPr/>
            </a:pPr>
            <a:r>
              <a:rPr sz="800" b="0">
                <a:solidFill>
                  <a:srgbClr val="333333"/>
                </a:solidFill>
                <a:latin typeface="Calibri"/>
              </a:rPr>
              <a:t>Requirements and sprint planning</a:t>
            </a:r>
          </a:p>
        </p:txBody>
      </p:sp>
      <p:sp>
        <p:nvSpPr>
          <p:cNvPr id="5" name="design_card_header_0"/>
          <p:cNvSpPr/>
          <p:nvPr/>
        </p:nvSpPr>
        <p:spPr>
          <a:xfrm>
            <a:off x="457200" y="1743943"/>
            <a:ext cx="2606040" cy="191109"/>
          </a:xfrm>
          <a:prstGeom prst="rect">
            <a:avLst/>
          </a:prstGeom>
          <a:solidFill>
            <a:srgbClr val="E97F02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_Picture 5" descr="sparkles_t_333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068" y="1766346"/>
            <a:ext cx="146304" cy="146304"/>
          </a:xfrm>
          <a:prstGeom prst="rect">
            <a:avLst/>
          </a:prstGeom>
        </p:spPr>
      </p:pic>
      <p:sp>
        <p:nvSpPr>
          <p:cNvPr id="7" name="card_1"/>
          <p:cNvSpPr/>
          <p:nvPr/>
        </p:nvSpPr>
        <p:spPr>
          <a:xfrm>
            <a:off x="3337560" y="1743943"/>
            <a:ext cx="2606040" cy="868680"/>
          </a:xfrm>
          <a:prstGeom prst="rect">
            <a:avLst/>
          </a:prstGeom>
          <a:noFill/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319125" bIns="91440">
            <a:normAutofit/>
          </a:bodyPr>
          <a:lstStyle/>
          <a:p>
            <a:pPr algn="l">
              <a:lnSpc>
                <a:spcPct val="116000"/>
              </a:lnSpc>
              <a:defRPr/>
            </a:pPr>
            <a:r>
              <a:rPr sz="800" b="1">
                <a:solidFill>
                  <a:srgbClr val="333333"/>
                </a:solidFill>
                <a:latin typeface="Calibri"/>
              </a:rPr>
              <a:t>Build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defRPr/>
            </a:pPr>
            <a:r>
              <a:rPr sz="800" b="0">
                <a:solidFill>
                  <a:srgbClr val="333333"/>
                </a:solidFill>
                <a:latin typeface="Calibri"/>
              </a:rPr>
              <a:t>Development and code review</a:t>
            </a:r>
          </a:p>
        </p:txBody>
      </p:sp>
      <p:sp>
        <p:nvSpPr>
          <p:cNvPr id="8" name="design_card_header_1"/>
          <p:cNvSpPr/>
          <p:nvPr/>
        </p:nvSpPr>
        <p:spPr>
          <a:xfrm>
            <a:off x="3337560" y="1743943"/>
            <a:ext cx="2606040" cy="191109"/>
          </a:xfrm>
          <a:prstGeom prst="rect">
            <a:avLst/>
          </a:prstGeom>
          <a:solidFill>
            <a:srgbClr val="7C3AED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icon_Picture 8" descr="sparkles_t_333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428" y="1766346"/>
            <a:ext cx="146304" cy="146304"/>
          </a:xfrm>
          <a:prstGeom prst="rect">
            <a:avLst/>
          </a:prstGeom>
        </p:spPr>
      </p:pic>
      <p:sp>
        <p:nvSpPr>
          <p:cNvPr id="10" name="card_2"/>
          <p:cNvSpPr/>
          <p:nvPr/>
        </p:nvSpPr>
        <p:spPr>
          <a:xfrm>
            <a:off x="6217920" y="1743943"/>
            <a:ext cx="2606040" cy="868680"/>
          </a:xfrm>
          <a:prstGeom prst="rect">
            <a:avLst/>
          </a:prstGeom>
          <a:noFill/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319125" bIns="91440">
            <a:normAutofit/>
          </a:bodyPr>
          <a:lstStyle/>
          <a:p>
            <a:pPr algn="l">
              <a:lnSpc>
                <a:spcPct val="116000"/>
              </a:lnSpc>
              <a:defRPr/>
            </a:pPr>
            <a:r>
              <a:rPr sz="800" b="1">
                <a:solidFill>
                  <a:srgbClr val="333333"/>
                </a:solidFill>
                <a:latin typeface="Calibri"/>
              </a:rPr>
              <a:t>Test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defRPr/>
            </a:pPr>
            <a:r>
              <a:rPr sz="800" b="0">
                <a:solidFill>
                  <a:srgbClr val="333333"/>
                </a:solidFill>
                <a:latin typeface="Calibri"/>
              </a:rPr>
              <a:t>QA automation and staging validation</a:t>
            </a:r>
          </a:p>
        </p:txBody>
      </p:sp>
      <p:sp>
        <p:nvSpPr>
          <p:cNvPr id="11" name="design_card_header_2"/>
          <p:cNvSpPr/>
          <p:nvPr/>
        </p:nvSpPr>
        <p:spPr>
          <a:xfrm>
            <a:off x="6217920" y="1743943"/>
            <a:ext cx="2606040" cy="191109"/>
          </a:xfrm>
          <a:prstGeom prst="rect">
            <a:avLst/>
          </a:prstGeom>
          <a:solidFill>
            <a:srgbClr val="0891B2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_Picture 11" descr="sparkles_t_333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788" y="1766346"/>
            <a:ext cx="146304" cy="146304"/>
          </a:xfrm>
          <a:prstGeom prst="rect">
            <a:avLst/>
          </a:prstGeom>
        </p:spPr>
      </p:pic>
      <p:sp>
        <p:nvSpPr>
          <p:cNvPr id="13" name="card_3"/>
          <p:cNvSpPr/>
          <p:nvPr/>
        </p:nvSpPr>
        <p:spPr>
          <a:xfrm>
            <a:off x="9098280" y="1743943"/>
            <a:ext cx="2606040" cy="868680"/>
          </a:xfrm>
          <a:prstGeom prst="rect">
            <a:avLst/>
          </a:prstGeom>
          <a:noFill/>
          <a:ln w="12700">
            <a:solidFill>
              <a:srgbClr val="217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319125" bIns="91440">
            <a:normAutofit/>
          </a:bodyPr>
          <a:lstStyle/>
          <a:p>
            <a:pPr algn="l">
              <a:lnSpc>
                <a:spcPct val="116000"/>
              </a:lnSpc>
              <a:defRPr/>
            </a:pPr>
            <a:r>
              <a:rPr sz="800" b="1">
                <a:solidFill>
                  <a:srgbClr val="333333"/>
                </a:solidFill>
                <a:latin typeface="Calibri"/>
              </a:rPr>
              <a:t>Ship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defRPr/>
            </a:pPr>
            <a:r>
              <a:rPr sz="800" b="0">
                <a:solidFill>
                  <a:srgbClr val="333333"/>
                </a:solidFill>
                <a:latin typeface="Calibri"/>
              </a:rPr>
              <a:t>CI/CD pipeline to production</a:t>
            </a:r>
          </a:p>
        </p:txBody>
      </p:sp>
      <p:sp>
        <p:nvSpPr>
          <p:cNvPr id="14" name="design_card_header_3"/>
          <p:cNvSpPr/>
          <p:nvPr/>
        </p:nvSpPr>
        <p:spPr>
          <a:xfrm>
            <a:off x="9098280" y="1743943"/>
            <a:ext cx="2606040" cy="191109"/>
          </a:xfrm>
          <a:prstGeom prst="rect">
            <a:avLst/>
          </a:prstGeom>
          <a:solidFill>
            <a:srgbClr val="217346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con_Picture 14" descr="sparkles_t_333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8148" y="1766346"/>
            <a:ext cx="146304" cy="1463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40664" y="457200"/>
            <a:ext cx="10707624" cy="408919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2200" b="1">
                <a:solidFill>
                  <a:srgbClr val="333333"/>
                </a:solidFill>
                <a:latin typeface="Calibri"/>
              </a:rPr>
              <a:t>Value Pyramid</a:t>
            </a:r>
          </a:p>
        </p:txBody>
      </p:sp>
      <p:sp>
        <p:nvSpPr>
          <p:cNvPr id="3" name="key_message"/>
          <p:cNvSpPr txBox="1"/>
          <p:nvPr/>
        </p:nvSpPr>
        <p:spPr>
          <a:xfrm>
            <a:off x="740664" y="1030711"/>
            <a:ext cx="10707624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lnSpc>
                <a:spcPct val="132000"/>
              </a:lnSpc>
            </a:pPr>
            <a:r>
              <a:rPr sz="1550" b="0">
                <a:solidFill>
                  <a:srgbClr val="333333"/>
                </a:solidFill>
                <a:latin typeface="Calibri"/>
              </a:rPr>
              <a:t>Strategic priorities from foundation to aspiration</a:t>
            </a:r>
          </a:p>
        </p:txBody>
      </p:sp>
      <p:sp>
        <p:nvSpPr>
          <p:cNvPr id="4" name="design_timeline_spine"/>
          <p:cNvSpPr/>
          <p:nvPr/>
        </p:nvSpPr>
        <p:spPr>
          <a:xfrm>
            <a:off x="6099048" y="1743943"/>
            <a:ext cx="36576" cy="3831336"/>
          </a:xfrm>
          <a:prstGeom prst="rect">
            <a:avLst/>
          </a:prstGeom>
          <a:solidFill>
            <a:srgbClr val="E97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sign_dot_0"/>
          <p:cNvSpPr/>
          <p:nvPr/>
        </p:nvSpPr>
        <p:spPr>
          <a:xfrm>
            <a:off x="5989320" y="1951778"/>
            <a:ext cx="0" cy="0"/>
          </a:xfrm>
          <a:prstGeom prst="ellipse">
            <a:avLst/>
          </a:prstGeom>
          <a:solidFill>
            <a:srgbClr val="E97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meline_0"/>
          <p:cNvSpPr/>
          <p:nvPr/>
        </p:nvSpPr>
        <p:spPr>
          <a:xfrm>
            <a:off x="457200" y="1707367"/>
            <a:ext cx="11274552" cy="814702"/>
          </a:xfrm>
          <a:prstGeom prst="rect">
            <a:avLst/>
          </a:prstGeom>
          <a:noFill/>
          <a:ln w="12700">
            <a:solidFill>
              <a:srgbClr val="E97F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18000"/>
              </a:lnSpc>
            </a:pPr>
            <a:r>
              <a:rPr sz="1320" b="1">
                <a:solidFill>
                  <a:srgbClr val="333333"/>
                </a:solidFill>
                <a:latin typeface="Calibri"/>
              </a:rPr>
              <a:t>Vision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Calibri"/>
              </a:rPr>
              <a:t>Be the global leader in enterprise AI</a:t>
            </a:r>
          </a:p>
        </p:txBody>
      </p:sp>
      <p:sp>
        <p:nvSpPr>
          <p:cNvPr id="7" name="design_dot_1"/>
          <p:cNvSpPr/>
          <p:nvPr/>
        </p:nvSpPr>
        <p:spPr>
          <a:xfrm>
            <a:off x="5989320" y="2910252"/>
            <a:ext cx="0" cy="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meline_1"/>
          <p:cNvSpPr/>
          <p:nvPr/>
        </p:nvSpPr>
        <p:spPr>
          <a:xfrm>
            <a:off x="457200" y="2665841"/>
            <a:ext cx="11274552" cy="814702"/>
          </a:xfrm>
          <a:prstGeom prst="rect">
            <a:avLst/>
          </a:prstGeom>
          <a:noFill/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18000"/>
              </a:lnSpc>
            </a:pPr>
            <a:r>
              <a:rPr sz="1320" b="1">
                <a:solidFill>
                  <a:srgbClr val="333333"/>
                </a:solidFill>
                <a:latin typeface="Calibri"/>
              </a:rPr>
              <a:t>Strategy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Calibri"/>
              </a:rPr>
              <a:t>Platform-first with ecosystem partnerships</a:t>
            </a:r>
          </a:p>
        </p:txBody>
      </p:sp>
      <p:sp>
        <p:nvSpPr>
          <p:cNvPr id="9" name="design_dot_2"/>
          <p:cNvSpPr/>
          <p:nvPr/>
        </p:nvSpPr>
        <p:spPr>
          <a:xfrm>
            <a:off x="5989320" y="3868726"/>
            <a:ext cx="0" cy="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imeline_2"/>
          <p:cNvSpPr/>
          <p:nvPr/>
        </p:nvSpPr>
        <p:spPr>
          <a:xfrm>
            <a:off x="457200" y="3624315"/>
            <a:ext cx="11274552" cy="814702"/>
          </a:xfrm>
          <a:prstGeom prst="rect">
            <a:avLst/>
          </a:prstGeom>
          <a:noFill/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18000"/>
              </a:lnSpc>
            </a:pPr>
            <a:r>
              <a:rPr sz="1320" b="1">
                <a:solidFill>
                  <a:srgbClr val="333333"/>
                </a:solidFill>
                <a:latin typeface="Calibri"/>
              </a:rPr>
              <a:t>Execution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Calibri"/>
              </a:rPr>
              <a:t>Quarterly OKRs with measurable outcomes</a:t>
            </a:r>
          </a:p>
        </p:txBody>
      </p:sp>
      <p:sp>
        <p:nvSpPr>
          <p:cNvPr id="11" name="design_dot_3"/>
          <p:cNvSpPr/>
          <p:nvPr/>
        </p:nvSpPr>
        <p:spPr>
          <a:xfrm>
            <a:off x="5989320" y="4827200"/>
            <a:ext cx="0" cy="0"/>
          </a:xfrm>
          <a:prstGeom prst="ellipse">
            <a:avLst/>
          </a:prstGeom>
          <a:solidFill>
            <a:srgbClr val="217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imeline_3"/>
          <p:cNvSpPr/>
          <p:nvPr/>
        </p:nvSpPr>
        <p:spPr>
          <a:xfrm>
            <a:off x="457200" y="4582789"/>
            <a:ext cx="11274552" cy="814702"/>
          </a:xfrm>
          <a:prstGeom prst="rect">
            <a:avLst/>
          </a:prstGeom>
          <a:noFill/>
          <a:ln w="12700">
            <a:solidFill>
              <a:srgbClr val="217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>
            <a:normAutofit/>
          </a:bodyPr>
          <a:lstStyle/>
          <a:p>
            <a:pPr algn="l">
              <a:lnSpc>
                <a:spcPct val="118000"/>
              </a:lnSpc>
            </a:pPr>
            <a:r>
              <a:rPr sz="1320" b="1">
                <a:solidFill>
                  <a:srgbClr val="333333"/>
                </a:solidFill>
                <a:latin typeface="Calibri"/>
              </a:rPr>
              <a:t>Foundation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Calibri"/>
              </a:rPr>
              <a:t>Talent, culture, and operational discipline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 Blueprint Catalogue</dc:title>
  <dc:subject/>
  <dc:creator/>
  <cp:keywords/>
  <dc:description>generated using python-pptx</dc:description>
  <cp:lastModifiedBy>Steve Canny</cp:lastModifiedBy>
  <cp:revision>1</cp:revision>
  <dcterms:created xsi:type="dcterms:W3CDTF">2026-04-14T02:05:24Z</dcterms:created>
  <dcterms:modified xsi:type="dcterms:W3CDTF">2026-04-14T02:05:24Z</dcterms:modified>
  <cp:category/>
</cp:coreProperties>
</file>